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4212a323-a66f-7f75-56c2-95d346a5d4b6}">
          <p14:sldIdLst>
            <p14:sldId id="256"/>
          </p14:sldIdLst>
        </p14:section>
        <p14:section name="Idea" id="{21233f5f-2870-8780-73e6-71a65a075829}">
          <p14:sldIdLst>
            <p14:sldId id="257"/>
            <p14:sldId id="258"/>
          </p14:sldIdLst>
        </p14:section>
        <p14:section name="Robot" id="{f4d6d9ec-db5d-4027-9a07-c3ddd975c175}">
          <p14:sldIdLst>
            <p14:sldId id="259"/>
            <p14:sldId id="260"/>
          </p14:sldIdLst>
        </p14:section>
        <p14:section name="Driving" id="{30c04ae7-4043-a6d3-9c63-c430be22a1b4}">
          <p14:sldIdLst>
            <p14:sldId id="261"/>
            <p14:sldId id="262"/>
          </p14:sldIdLst>
        </p14:section>
        <p14:section name="Calculations" id="{1600b080-8797-1808-1fee-b82750973b13}">
          <p14:sldIdLst>
            <p14:sldId id="263"/>
            <p14:sldId id="264"/>
            <p14:sldId id="265"/>
            <p14:sldId id="266"/>
            <p14:sldId id="267"/>
          </p14:sldIdLst>
        </p14:section>
        <p14:section name="Double IR" id="{a5c3892c-844c-e197-3cd1-54208b78cf0e}">
          <p14:sldIdLst>
            <p14:sldId id="268"/>
          </p14:sldIdLst>
        </p14:section>
        <p14:section name="Results" id="{cbf1e0c8-08bf-28c5-1475-75466b4239b7}">
          <p14:sldIdLst>
            <p14:sldId id="269"/>
          </p14:sldIdLst>
        </p14:section>
        <p14:section name="Simulator" id="{219a240a-c703-2d1e-3825-e14484fdb493}">
          <p14:sldIdLst>
            <p14:sldId id="270"/>
          </p14:sldIdLst>
        </p14:section>
        <p14:section name="Proof" id="{30002ee7-89e4-7c6d-9d31-51c25e6f42e8}">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Racing plan with the map</c:v>
                </c:pt>
              </c:strCache>
            </c:strRef>
          </c:tx>
          <c:spPr>
            <a:solidFill>
              <a:srgbClr val="111111"/>
            </a:solidFill>
            <a:ln w="38100" cap="flat">
              <a:solidFill>
                <a:srgbClr val="1111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11111"/>
              </a:solidFill>
              <a:ln w="9525" cap="flat">
                <a:solidFill>
                  <a:srgbClr val="111111"/>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Sheet1!$B$2:$B$8</c:f>
              <c:numCache>
                <c:formatCode>General</c:formatCode>
                <c:ptCount val="7"/>
                <c:pt idx="0">
                  <c:v>0.27</c:v>
                </c:pt>
                <c:pt idx="1">
                  <c:v>0.39</c:v>
                </c:pt>
                <c:pt idx="2">
                  <c:v>0.47</c:v>
                </c:pt>
                <c:pt idx="3">
                  <c:v>0.61</c:v>
                </c:pt>
                <c:pt idx="4">
                  <c:v>0.77</c:v>
                </c:pt>
                <c:pt idx="5">
                  <c:v>0.95</c:v>
                </c:pt>
                <c:pt idx="6">
                  <c:v>1</c:v>
                </c:pt>
              </c:numCache>
            </c:numRef>
          </c:val>
          <c:smooth val="0"/>
        </c:ser>
        <c:ser>
          <c:idx val="1"/>
          <c:order val="1"/>
          <c:tx>
            <c:strRef>
              <c:f>Sheet1!$C$1</c:f>
              <c:strCache>
                <c:ptCount val="1"/>
                <c:pt idx="0">
                  <c:v>Double IR without a map</c:v>
                </c:pt>
              </c:strCache>
            </c:strRef>
          </c:tx>
          <c:spPr>
            <a:solidFill>
              <a:srgbClr val="9A9A9A"/>
            </a:solidFill>
            <a:ln w="38100" cap="flat">
              <a:solidFill>
                <a:srgbClr val="9A9A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9A9A"/>
              </a:solidFill>
              <a:ln w="9525" cap="flat">
                <a:solidFill>
                  <a:srgbClr val="9A9A9A"/>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Sheet1!$C$2:$C$8</c:f>
              <c:numCache>
                <c:formatCode>General</c:formatCode>
                <c:ptCount val="7"/>
                <c:pt idx="0">
                  <c:v>0.28</c:v>
                </c:pt>
                <c:pt idx="1">
                  <c:v>0.4</c:v>
                </c:pt>
                <c:pt idx="2">
                  <c:v>0.4</c:v>
                </c:pt>
                <c:pt idx="3">
                  <c:v>0.4</c:v>
                </c:pt>
                <c:pt idx="4">
                  <c:v>0.4</c:v>
                </c:pt>
                <c:pt idx="5">
                  <c:v>0.4</c:v>
                </c:pt>
                <c:pt idx="6">
                  <c:v>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444444"/>
                    </a:solidFill>
                    <a:latin typeface="Arial"/>
                  </a:defRPr>
                </a:pPr>
                <a:r>
                  <a:rPr sz="1200" b="0" i="0" u="none" strike="noStrike">
                    <a:solidFill>
                      <a:srgbClr val="444444"/>
                    </a:solidFill>
                    <a:latin typeface="Arial"/>
                  </a:rPr>
                  <a:t>Corner radius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4444"/>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9D9D9"/>
              </a:solidFill>
              <a:prstDash val="solid"/>
              <a:round/>
            </a:ln>
          </c:spPr>
        </c:majorGridlines>
        <c:title>
          <c:tx>
            <c:rich>
              <a:bodyPr/>
              <a:lstStyle/>
              <a:p>
                <a:pPr>
                  <a:defRPr sz="1200" b="0" i="0" u="none" strike="noStrike">
                    <a:solidFill>
                      <a:srgbClr val="444444"/>
                    </a:solidFill>
                    <a:latin typeface="Arial"/>
                  </a:defRPr>
                </a:pPr>
                <a:r>
                  <a:rPr sz="1200" b="0" i="0" u="none" strike="noStrike">
                    <a:solidFill>
                      <a:srgbClr val="444444"/>
                    </a:solidFill>
                    <a:latin typeface="Arial"/>
                  </a:rPr>
                  <a:t>Speed in metres per second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444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444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the whole plan for our line follower robot in simple words. The robot model you see is a practice model. The card on top is a dummy board so we can generate drawings and test the pipeline before the real hardware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write the robot brain once in C plus plus. The same brain runs on the Arduino, in our tests and inside the web simulator. Because it is one program there is no gap between what we see and what the robot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the single source of truth. The config file holds every size and tuning number. The control code reads it. From there the same code is built three ways. For the Arduino for the laptop tests and for the browser through WebAssembly.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drive wheels and two small casters. Five light sensors sit in a row in front of the axle. A second identical row sits behind it for the Double IR mode. The board on top is a dummy line follower card used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three view drawing. Top view shows the sensor rows and the wheelbase. Front and side views show the height and the wheel size. Every size comes from the config file so the drawing can never disagree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PID only looks at the sensors. Full map blind trusts the map completely and drifts. Full map plus IR uses the map and the sensors together and is the fastest. Double IR needs no map. It measures how tight the curve is and slows down or speeds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uses one rule. Speed squared times curvature must stay below the sideways grip. So speed equals the square root of grip times radius. A tight corner of five centimetres allows a quarter of a metre per second. A wide curve allows a full metre per second. Double IR uses a lower grip number and a lower speed cap because it cannot see the corner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Inertia tells us how much the robot resists turning. Heavy parts far from the centre count the most. We list each part with its mass and position. Our assumed parts give about 2.8 times ten to the minus four. The simulator uses 5 times ten to the minus four. So the simulated robot is a bit harder to turn than this build. We assumed the masses and will weigh the real parts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wheel carries half the weight. Friction times that load is the most force the tyre can give. Slip is the difference between wheel speed and ground speed. At a slip of 0.2 the tyre already gives 76 percent of its limit. Drive force and sideways force share one budget which is the friction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counts slots as the wheel turns. Each count is a known distance. Two wheels at different speeds make the robot turn. The turn rate is the speed difference divided by the wheelbase. Double IR combines this with the two sensor rows to find how tight the curve is. The 20 counts per turn is an assumption until we pick the real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tape stops the sensors see white. Normal PID holds the last offset. The map modes keep following the plan. The robot gives up only after 0.6 seconds without tape. The widest gap in our maps is 0.1 metres which takes at most 400 milliseconds at the slowest speed so there is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loop runs every 2 milliseconds. The simulator steps physics at the same rate. An encoder count at 0.4 metres per second arrives every 15.7 milliseconds so speed has to be counted over several loops. The robot gives up after 0.6 seconds without tape and the simulator calls a derail after a quarter second more than 35 millimetres off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two rows see where the line is ahead and behind the axle. Their difference gives the line direction without needing to know exactly where the robot sits. Step two encoders give the robot turn rate. Step three adds them to get the curvature. Step four turns curvature into a safe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same C plus plus code that would run on the robot. Full map blind drifts off every map because small errors are never corrected. Full map plus IR is the fastest. Double IR is slower on purpose because it cannot see the corner coming. Normal PID is the slowest because it never speeds up on straights.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draws a three dimensional view with plain flat polygons and no shaders. There are three cameras. A free orbit view. A top view that is an orthographic projection. And a follow camera that sits behind the robot. The wheels turn at the simulated wheel speed and the dots on the floor show what each sensor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laptop tests check the maths and every map in every mode. Second the hardware in the loop test runs the real Arduino sketch against the simulated robot using a pretend Arduino library. Third we repeat every map with forty different noise seeds so we are not just lucky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what is a guess. Friction motor strength and the grip limit are chosen to look realistic. The part masses and the encoder resolution are assumptions. Double IR needs the rear sensor row and encoders which are not wired on the Arduino yet. The next job is to measure the real robot and replace each guess with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rtlCol="0"/>
          <a:lstStyle>
            <a:lvl1pPr algn="l" indent="0" marL="0">
              <a:buNone/>
              <a:defRPr lang="en-US" sz="1600" dirty="0">
                <a:solidFill>
                  <a:schemeClr val="accent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011680"/>
            <a:ext cx="603504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Line follower robot</a:t>
            </a:r>
            <a:endParaRPr lang="en-US" sz="4800" dirty="0"/>
          </a:p>
        </p:txBody>
      </p:sp>
      <p:sp>
        <p:nvSpPr>
          <p:cNvPr id="3" name="Text 1"/>
          <p:cNvSpPr txBox="1"/>
          <p:nvPr/>
        </p:nvSpPr>
        <p:spPr>
          <a:xfrm>
            <a:off x="731520" y="3017520"/>
            <a:ext cx="6035040" cy="548640"/>
          </a:xfrm>
          <a:prstGeom prst="rect">
            <a:avLst/>
          </a:prstGeom>
          <a:noFill/>
          <a:ln/>
        </p:spPr>
        <p:txBody>
          <a:bodyPr wrap="square" lIns="0" tIns="0" rIns="0" bIns="0" rtlCol="0" anchor="ctr"/>
          <a:lstStyle/>
          <a:p>
            <a:pPr indent="0" marL="0">
              <a:buNone/>
            </a:pPr>
            <a:r>
              <a:rPr lang="en-US" sz="2400" dirty="0">
                <a:solidFill>
                  <a:srgbClr val="D9D9D9"/>
                </a:solidFill>
              </a:rPr>
              <a:t>The blueprint for our idea</a:t>
            </a:r>
            <a:endParaRPr lang="en-US" sz="2400" dirty="0"/>
          </a:p>
        </p:txBody>
      </p:sp>
      <p:sp>
        <p:nvSpPr>
          <p:cNvPr id="4" name="Text 2"/>
          <p:cNvSpPr txBox="1"/>
          <p:nvPr/>
        </p:nvSpPr>
        <p:spPr>
          <a:xfrm>
            <a:off x="731520" y="3840480"/>
            <a:ext cx="5669280" cy="731520"/>
          </a:xfrm>
          <a:prstGeom prst="rect">
            <a:avLst/>
          </a:prstGeom>
          <a:noFill/>
          <a:ln/>
        </p:spPr>
        <p:txBody>
          <a:bodyPr wrap="square" lIns="0" tIns="0" rIns="0" bIns="0" rtlCol="0" anchor="t"/>
          <a:lstStyle/>
          <a:p>
            <a:pPr indent="0" marL="0">
              <a:buNone/>
            </a:pPr>
            <a:r>
              <a:rPr lang="en-US" sz="1600" dirty="0">
                <a:solidFill>
                  <a:srgbClr val="9A9A9A"/>
                </a:solidFill>
              </a:rPr>
              <a:t>Firmware, simulator, 3D model and the maths behind them</a:t>
            </a:r>
            <a:endParaRPr lang="en-US" sz="1600" dirty="0"/>
          </a:p>
        </p:txBody>
      </p:sp>
      <p:pic>
        <p:nvPicPr>
          <p:cNvPr id="5" name="Image 0" descr="3D model of the practice robot">    </p:cNvPr>
          <p:cNvPicPr>
            <a:picLocks noChangeAspect="1"/>
          </p:cNvPicPr>
          <p:nvPr/>
        </p:nvPicPr>
        <p:blipFill>
          <a:blip r:embed="rId1"/>
          <a:stretch>
            <a:fillRect/>
          </a:stretch>
        </p:blipFill>
        <p:spPr>
          <a:xfrm>
            <a:off x="6949440" y="1737360"/>
            <a:ext cx="4572000" cy="3004457"/>
          </a:xfrm>
          <a:prstGeom prst="rect">
            <a:avLst/>
          </a:prstGeom>
        </p:spPr>
      </p:pic>
      <p:sp>
        <p:nvSpPr>
          <p:cNvPr id="6" name="Text 3"/>
          <p:cNvSpPr txBox="1"/>
          <p:nvPr/>
        </p:nvSpPr>
        <p:spPr>
          <a:xfrm>
            <a:off x="6949440" y="5029200"/>
            <a:ext cx="4572000" cy="548640"/>
          </a:xfrm>
          <a:prstGeom prst="rect">
            <a:avLst/>
          </a:prstGeom>
          <a:noFill/>
          <a:ln/>
        </p:spPr>
        <p:txBody>
          <a:bodyPr wrap="square" lIns="0" tIns="0" rIns="0" bIns="0" rtlCol="0" anchor="t"/>
          <a:lstStyle/>
          <a:p>
            <a:pPr indent="0" marL="0">
              <a:buNone/>
            </a:pPr>
            <a:r>
              <a:rPr lang="en-US" sz="1200" dirty="0">
                <a:solidFill>
                  <a:srgbClr val="9A9A9A"/>
                </a:solidFill>
              </a:rPr>
              <a:t>The board on top of the model is a dummy line follower card for practice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What we are building</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robot that follows a painted line, and a simulator that shows exactly how it will behave</a:t>
            </a:r>
            <a:endParaRPr lang="en-US" sz="1600" dirty="0"/>
          </a:p>
        </p:txBody>
      </p:sp>
      <p:sp>
        <p:nvSpPr>
          <p:cNvPr id="5" name="stat card 1"/>
          <p:cNvSpPr/>
          <p:nvPr/>
        </p:nvSpPr>
        <p:spPr>
          <a:xfrm>
            <a:off x="548640" y="1920240"/>
            <a:ext cx="2606040" cy="2926080"/>
          </a:xfrm>
          <a:prstGeom prst="rect">
            <a:avLst/>
          </a:prstGeom>
          <a:solidFill>
            <a:schemeClr val="bg2"/>
          </a:solidFill>
          <a:ln w="9525">
            <a:solidFill>
              <a:schemeClr val="accent5"/>
            </a:solidFill>
            <a:prstDash val="solid"/>
          </a:ln>
        </p:spPr>
      </p:sp>
      <p:sp>
        <p:nvSpPr>
          <p:cNvPr id="6" name="stat number 1"/>
          <p:cNvSpPr txBox="1"/>
          <p:nvPr/>
        </p:nvSpPr>
        <p:spPr>
          <a:xfrm>
            <a:off x="777240"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1</a:t>
            </a:r>
            <a:endParaRPr lang="en-US" sz="6000" dirty="0"/>
          </a:p>
        </p:txBody>
      </p:sp>
      <p:sp>
        <p:nvSpPr>
          <p:cNvPr id="7" name="stat label 1"/>
          <p:cNvSpPr txBox="1"/>
          <p:nvPr/>
        </p:nvSpPr>
        <p:spPr>
          <a:xfrm>
            <a:off x="777240"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C++ program shared by robot, tests and browser</a:t>
            </a:r>
            <a:endParaRPr lang="en-US" sz="1600" dirty="0"/>
          </a:p>
        </p:txBody>
      </p:sp>
      <p:sp>
        <p:nvSpPr>
          <p:cNvPr id="8" name="stat card 2"/>
          <p:cNvSpPr/>
          <p:nvPr/>
        </p:nvSpPr>
        <p:spPr>
          <a:xfrm>
            <a:off x="3364992" y="1920240"/>
            <a:ext cx="2606040" cy="2926080"/>
          </a:xfrm>
          <a:prstGeom prst="rect">
            <a:avLst/>
          </a:prstGeom>
          <a:solidFill>
            <a:schemeClr val="bg2"/>
          </a:solidFill>
          <a:ln w="9525">
            <a:solidFill>
              <a:schemeClr val="accent5"/>
            </a:solidFill>
            <a:prstDash val="solid"/>
          </a:ln>
        </p:spPr>
      </p:sp>
      <p:sp>
        <p:nvSpPr>
          <p:cNvPr id="9" name="stat number 2"/>
          <p:cNvSpPr txBox="1"/>
          <p:nvPr/>
        </p:nvSpPr>
        <p:spPr>
          <a:xfrm>
            <a:off x="3593592"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6</a:t>
            </a:r>
            <a:endParaRPr lang="en-US" sz="6000" dirty="0"/>
          </a:p>
        </p:txBody>
      </p:sp>
      <p:sp>
        <p:nvSpPr>
          <p:cNvPr id="10" name="stat label 2"/>
          <p:cNvSpPr txBox="1"/>
          <p:nvPr/>
        </p:nvSpPr>
        <p:spPr>
          <a:xfrm>
            <a:off x="3593592"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maps from easy ovals to tight hairpins</a:t>
            </a:r>
            <a:endParaRPr lang="en-US" sz="1600" dirty="0"/>
          </a:p>
        </p:txBody>
      </p:sp>
      <p:sp>
        <p:nvSpPr>
          <p:cNvPr id="11" name="stat card 3"/>
          <p:cNvSpPr/>
          <p:nvPr/>
        </p:nvSpPr>
        <p:spPr>
          <a:xfrm>
            <a:off x="6181344" y="1920240"/>
            <a:ext cx="2606040" cy="2926080"/>
          </a:xfrm>
          <a:prstGeom prst="rect">
            <a:avLst/>
          </a:prstGeom>
          <a:solidFill>
            <a:schemeClr val="bg2"/>
          </a:solidFill>
          <a:ln w="9525">
            <a:solidFill>
              <a:schemeClr val="accent5"/>
            </a:solidFill>
            <a:prstDash val="solid"/>
          </a:ln>
        </p:spPr>
      </p:sp>
      <p:sp>
        <p:nvSpPr>
          <p:cNvPr id="12" name="stat number 3"/>
          <p:cNvSpPr txBox="1"/>
          <p:nvPr/>
        </p:nvSpPr>
        <p:spPr>
          <a:xfrm>
            <a:off x="6409944"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4</a:t>
            </a:r>
            <a:endParaRPr lang="en-US" sz="6000" dirty="0"/>
          </a:p>
        </p:txBody>
      </p:sp>
      <p:sp>
        <p:nvSpPr>
          <p:cNvPr id="13" name="stat label 3"/>
          <p:cNvSpPr txBox="1"/>
          <p:nvPr/>
        </p:nvSpPr>
        <p:spPr>
          <a:xfrm>
            <a:off x="6409944"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ways to drive each map</a:t>
            </a:r>
            <a:endParaRPr lang="en-US" sz="1600" dirty="0"/>
          </a:p>
        </p:txBody>
      </p:sp>
      <p:sp>
        <p:nvSpPr>
          <p:cNvPr id="14" name="stat card 4"/>
          <p:cNvSpPr/>
          <p:nvPr/>
        </p:nvSpPr>
        <p:spPr>
          <a:xfrm>
            <a:off x="8997696" y="1920240"/>
            <a:ext cx="2606040" cy="2926080"/>
          </a:xfrm>
          <a:prstGeom prst="rect">
            <a:avLst/>
          </a:prstGeom>
          <a:solidFill>
            <a:schemeClr val="bg2"/>
          </a:solidFill>
          <a:ln w="9525">
            <a:solidFill>
              <a:schemeClr val="accent5"/>
            </a:solidFill>
            <a:prstDash val="solid"/>
          </a:ln>
        </p:spPr>
      </p:sp>
      <p:sp>
        <p:nvSpPr>
          <p:cNvPr id="15" name="stat number 4"/>
          <p:cNvSpPr txBox="1"/>
          <p:nvPr/>
        </p:nvSpPr>
        <p:spPr>
          <a:xfrm>
            <a:off x="9226296" y="2194560"/>
            <a:ext cx="2148840" cy="118872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2436</a:t>
            </a:r>
            <a:endParaRPr lang="en-US" sz="6000" dirty="0"/>
          </a:p>
        </p:txBody>
      </p:sp>
      <p:sp>
        <p:nvSpPr>
          <p:cNvPr id="16" name="stat label 4"/>
          <p:cNvSpPr txBox="1"/>
          <p:nvPr/>
        </p:nvSpPr>
        <p:spPr>
          <a:xfrm>
            <a:off x="9226296" y="3520440"/>
            <a:ext cx="2148840" cy="1097280"/>
          </a:xfrm>
          <a:prstGeom prst="rect">
            <a:avLst/>
          </a:prstGeom>
          <a:noFill/>
          <a:ln/>
        </p:spPr>
        <p:txBody>
          <a:bodyPr wrap="square" lIns="0" tIns="0" rIns="0" bIns="0" rtlCol="0" anchor="t"/>
          <a:lstStyle/>
          <a:p>
            <a:pPr indent="0" marL="0">
              <a:buNone/>
            </a:pPr>
            <a:r>
              <a:rPr lang="en-US" sz="1600" dirty="0">
                <a:solidFill>
                  <a:schemeClr val="tx2"/>
                </a:solidFill>
              </a:rPr>
              <a:t>automatic checks and all of them pass</a:t>
            </a:r>
            <a:endParaRPr lang="en-US" sz="1600" dirty="0"/>
          </a:p>
        </p:txBody>
      </p:sp>
      <p:sp>
        <p:nvSpPr>
          <p:cNvPr id="17" name="Text 14"/>
          <p:cNvSpPr txBox="1"/>
          <p:nvPr/>
        </p:nvSpPr>
        <p:spPr>
          <a:xfrm>
            <a:off x="548640" y="5394960"/>
            <a:ext cx="11064240" cy="548640"/>
          </a:xfrm>
          <a:prstGeom prst="rect">
            <a:avLst/>
          </a:prstGeom>
          <a:noFill/>
          <a:ln/>
        </p:spPr>
        <p:txBody>
          <a:bodyPr wrap="square" lIns="0" tIns="0" rIns="0" bIns="0" rtlCol="0" anchor="ctr"/>
          <a:lstStyle/>
          <a:p>
            <a:pPr indent="0" marL="0">
              <a:buNone/>
            </a:pPr>
            <a:r>
              <a:rPr lang="en-US" sz="1800" dirty="0">
                <a:solidFill>
                  <a:schemeClr val="tx1"/>
                </a:solidFill>
              </a:rPr>
              <a:t>The simulator adds real physics: weight, grip, wheel slip, sideways slide and noisy sensors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One program runs everywhere</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Change a number once and the robot, the tests and the website all follow</a:t>
            </a:r>
            <a:endParaRPr lang="en-US" sz="1600" dirty="0"/>
          </a:p>
        </p:txBody>
      </p:sp>
      <p:sp>
        <p:nvSpPr>
          <p:cNvPr id="5" name="source box"/>
          <p:cNvSpPr/>
          <p:nvPr/>
        </p:nvSpPr>
        <p:spPr>
          <a:xfrm>
            <a:off x="548640" y="2103120"/>
            <a:ext cx="3291840" cy="3108960"/>
          </a:xfrm>
          <a:prstGeom prst="rect">
            <a:avLst/>
          </a:prstGeom>
          <a:solidFill>
            <a:srgbClr val="111111"/>
          </a:solidFill>
          <a:ln w="12700">
            <a:solidFill>
              <a:srgbClr val="111111"/>
            </a:solidFill>
            <a:prstDash val="solid"/>
          </a:ln>
        </p:spPr>
      </p:sp>
      <p:sp>
        <p:nvSpPr>
          <p:cNvPr id="6" name="Text 3"/>
          <p:cNvSpPr txBox="1"/>
          <p:nvPr/>
        </p:nvSpPr>
        <p:spPr>
          <a:xfrm>
            <a:off x="822960" y="2331720"/>
            <a:ext cx="2743200" cy="2651760"/>
          </a:xfrm>
          <a:prstGeom prst="rect">
            <a:avLst/>
          </a:prstGeom>
          <a:noFill/>
          <a:ln/>
        </p:spPr>
        <p:txBody>
          <a:bodyPr wrap="square" lIns="0" tIns="0" rIns="0" bIns="0" rtlCol="0" anchor="t"/>
          <a:lstStyle/>
          <a:p>
            <a:pPr indent="0" marL="0">
              <a:buNone/>
            </a:pPr>
            <a:r>
              <a:rPr lang="en-US" sz="2000" b="1" dirty="0">
                <a:solidFill>
                  <a:srgbClr val="FFFFFF"/>
                </a:solidFill>
              </a:rPr>
              <a:t>Shared C++ code</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rgbClr val="D9D9D9"/>
                </a:solidFill>
              </a:rPr>
              <a:t>config.h sizes and tuning</a:t>
            </a:r>
            <a:endParaRPr lang="en-US" sz="2000" dirty="0"/>
          </a:p>
          <a:p>
            <a:pPr indent="0" marL="0">
              <a:buNone/>
            </a:pPr>
            <a:r>
              <a:rPr lang="en-US" sz="1500" dirty="0">
                <a:solidFill>
                  <a:srgbClr val="D9D9D9"/>
                </a:solidFill>
              </a:rPr>
              <a:t>line controller</a:t>
            </a:r>
            <a:endParaRPr lang="en-US" sz="2000" dirty="0"/>
          </a:p>
          <a:p>
            <a:pPr indent="0" marL="0">
              <a:buNone/>
            </a:pPr>
            <a:r>
              <a:rPr lang="en-US" sz="1500" dirty="0">
                <a:solidFill>
                  <a:srgbClr val="D9D9D9"/>
                </a:solidFill>
              </a:rPr>
              <a:t>racing planner</a:t>
            </a:r>
            <a:endParaRPr lang="en-US" sz="2000" dirty="0"/>
          </a:p>
          <a:p>
            <a:pPr indent="0" marL="0">
              <a:buNone/>
            </a:pPr>
            <a:r>
              <a:rPr lang="en-US" sz="1500" dirty="0">
                <a:solidFill>
                  <a:srgbClr val="D9D9D9"/>
                </a:solidFill>
              </a:rPr>
              <a:t>maps and track</a:t>
            </a:r>
            <a:endParaRPr lang="en-US" sz="2000" dirty="0"/>
          </a:p>
        </p:txBody>
      </p:sp>
      <p:sp>
        <p:nvSpPr>
          <p:cNvPr id="7" name="arrow 1"/>
          <p:cNvSpPr/>
          <p:nvPr/>
        </p:nvSpPr>
        <p:spPr>
          <a:xfrm>
            <a:off x="3840480" y="3657600"/>
            <a:ext cx="1828800" cy="-1371600"/>
          </a:xfrm>
          <a:prstGeom prst="line">
            <a:avLst/>
          </a:prstGeom>
          <a:noFill/>
          <a:ln w="15875">
            <a:solidFill>
              <a:srgbClr val="6B6B6B"/>
            </a:solidFill>
            <a:prstDash val="solid"/>
            <a:tailEnd type="triangle"/>
          </a:ln>
        </p:spPr>
      </p:sp>
      <p:sp>
        <p:nvSpPr>
          <p:cNvPr id="8" name="output 1 card"/>
          <p:cNvSpPr/>
          <p:nvPr/>
        </p:nvSpPr>
        <p:spPr>
          <a:xfrm>
            <a:off x="5669280" y="1783080"/>
            <a:ext cx="5943600" cy="1143000"/>
          </a:xfrm>
          <a:prstGeom prst="rect">
            <a:avLst/>
          </a:prstGeom>
          <a:solidFill>
            <a:schemeClr val="bg2"/>
          </a:solidFill>
          <a:ln w="9525">
            <a:solidFill>
              <a:schemeClr val="accent5"/>
            </a:solidFill>
            <a:prstDash val="solid"/>
          </a:ln>
        </p:spPr>
      </p:sp>
      <p:sp>
        <p:nvSpPr>
          <p:cNvPr id="9" name="output 1 heading"/>
          <p:cNvSpPr txBox="1"/>
          <p:nvPr/>
        </p:nvSpPr>
        <p:spPr>
          <a:xfrm>
            <a:off x="5897880" y="19659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Arduino board</a:t>
            </a:r>
            <a:endParaRPr lang="en-US" sz="1800" dirty="0"/>
          </a:p>
        </p:txBody>
      </p:sp>
      <p:sp>
        <p:nvSpPr>
          <p:cNvPr id="10" name="output 1 text"/>
          <p:cNvSpPr txBox="1"/>
          <p:nvPr/>
        </p:nvSpPr>
        <p:spPr>
          <a:xfrm>
            <a:off x="5897880" y="2468880"/>
            <a:ext cx="5486400" cy="274320"/>
          </a:xfrm>
          <a:prstGeom prst="rect">
            <a:avLst/>
          </a:prstGeom>
          <a:noFill/>
          <a:ln/>
        </p:spPr>
        <p:txBody>
          <a:bodyPr wrap="square" lIns="0" tIns="0" rIns="0" bIns="0" rtlCol="0" anchor="t"/>
          <a:lstStyle/>
          <a:p>
            <a:pPr indent="0" marL="0">
              <a:buNone/>
            </a:pPr>
            <a:r>
              <a:rPr lang="en-US" sz="1400" dirty="0">
                <a:solidFill>
                  <a:schemeClr val="tx2"/>
                </a:solidFill>
              </a:rPr>
              <a:t>Compiled for the real robot</a:t>
            </a:r>
            <a:endParaRPr lang="en-US" sz="1400" dirty="0"/>
          </a:p>
        </p:txBody>
      </p:sp>
      <p:sp>
        <p:nvSpPr>
          <p:cNvPr id="11" name="arrow 2"/>
          <p:cNvSpPr/>
          <p:nvPr/>
        </p:nvSpPr>
        <p:spPr>
          <a:xfrm>
            <a:off x="3840480" y="3657600"/>
            <a:ext cx="1828800" cy="0"/>
          </a:xfrm>
          <a:prstGeom prst="line">
            <a:avLst/>
          </a:prstGeom>
          <a:noFill/>
          <a:ln w="15875">
            <a:solidFill>
              <a:srgbClr val="6B6B6B"/>
            </a:solidFill>
            <a:prstDash val="solid"/>
            <a:tailEnd type="triangle"/>
          </a:ln>
        </p:spPr>
      </p:sp>
      <p:sp>
        <p:nvSpPr>
          <p:cNvPr id="12" name="output 2 card"/>
          <p:cNvSpPr/>
          <p:nvPr/>
        </p:nvSpPr>
        <p:spPr>
          <a:xfrm>
            <a:off x="5669280" y="3154680"/>
            <a:ext cx="5943600" cy="1143000"/>
          </a:xfrm>
          <a:prstGeom prst="rect">
            <a:avLst/>
          </a:prstGeom>
          <a:solidFill>
            <a:schemeClr val="bg2"/>
          </a:solidFill>
          <a:ln w="9525">
            <a:solidFill>
              <a:schemeClr val="accent5"/>
            </a:solidFill>
            <a:prstDash val="solid"/>
          </a:ln>
        </p:spPr>
      </p:sp>
      <p:sp>
        <p:nvSpPr>
          <p:cNvPr id="13" name="output 2 heading"/>
          <p:cNvSpPr txBox="1"/>
          <p:nvPr/>
        </p:nvSpPr>
        <p:spPr>
          <a:xfrm>
            <a:off x="5897880" y="33375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Laptop tests</a:t>
            </a:r>
            <a:endParaRPr lang="en-US" sz="1800" dirty="0"/>
          </a:p>
        </p:txBody>
      </p:sp>
      <p:sp>
        <p:nvSpPr>
          <p:cNvPr id="14" name="output 2 text"/>
          <p:cNvSpPr txBox="1"/>
          <p:nvPr/>
        </p:nvSpPr>
        <p:spPr>
          <a:xfrm>
            <a:off x="5897880" y="3840480"/>
            <a:ext cx="5486400" cy="274320"/>
          </a:xfrm>
          <a:prstGeom prst="rect">
            <a:avLst/>
          </a:prstGeom>
          <a:noFill/>
          <a:ln/>
        </p:spPr>
        <p:txBody>
          <a:bodyPr wrap="square" lIns="0" tIns="0" rIns="0" bIns="0" rtlCol="0" anchor="t"/>
          <a:lstStyle/>
          <a:p>
            <a:pPr indent="0" marL="0">
              <a:buNone/>
            </a:pPr>
            <a:r>
              <a:rPr lang="en-US" sz="1400" dirty="0">
                <a:solidFill>
                  <a:schemeClr val="tx2"/>
                </a:solidFill>
              </a:rPr>
              <a:t>2436 checks plus a hardware loop test</a:t>
            </a:r>
            <a:endParaRPr lang="en-US" sz="1400" dirty="0"/>
          </a:p>
        </p:txBody>
      </p:sp>
      <p:sp>
        <p:nvSpPr>
          <p:cNvPr id="15" name="arrow 3"/>
          <p:cNvSpPr/>
          <p:nvPr/>
        </p:nvSpPr>
        <p:spPr>
          <a:xfrm>
            <a:off x="3840480" y="3657600"/>
            <a:ext cx="1828800" cy="1371600"/>
          </a:xfrm>
          <a:prstGeom prst="line">
            <a:avLst/>
          </a:prstGeom>
          <a:noFill/>
          <a:ln w="15875">
            <a:solidFill>
              <a:srgbClr val="6B6B6B"/>
            </a:solidFill>
            <a:prstDash val="solid"/>
            <a:tailEnd type="triangle"/>
          </a:ln>
        </p:spPr>
      </p:sp>
      <p:sp>
        <p:nvSpPr>
          <p:cNvPr id="16" name="output 3 card"/>
          <p:cNvSpPr/>
          <p:nvPr/>
        </p:nvSpPr>
        <p:spPr>
          <a:xfrm>
            <a:off x="5669280" y="4526280"/>
            <a:ext cx="5943600" cy="1143000"/>
          </a:xfrm>
          <a:prstGeom prst="rect">
            <a:avLst/>
          </a:prstGeom>
          <a:solidFill>
            <a:schemeClr val="bg2"/>
          </a:solidFill>
          <a:ln w="9525">
            <a:solidFill>
              <a:schemeClr val="accent5"/>
            </a:solidFill>
            <a:prstDash val="solid"/>
          </a:ln>
        </p:spPr>
      </p:sp>
      <p:sp>
        <p:nvSpPr>
          <p:cNvPr id="17" name="output 3 heading"/>
          <p:cNvSpPr txBox="1"/>
          <p:nvPr/>
        </p:nvSpPr>
        <p:spPr>
          <a:xfrm>
            <a:off x="5897880" y="4709160"/>
            <a:ext cx="548640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Browser simulator</a:t>
            </a:r>
            <a:endParaRPr lang="en-US" sz="1800" dirty="0"/>
          </a:p>
        </p:txBody>
      </p:sp>
      <p:sp>
        <p:nvSpPr>
          <p:cNvPr id="18" name="output 3 text"/>
          <p:cNvSpPr txBox="1"/>
          <p:nvPr/>
        </p:nvSpPr>
        <p:spPr>
          <a:xfrm>
            <a:off x="5897880" y="5212080"/>
            <a:ext cx="5486400" cy="274320"/>
          </a:xfrm>
          <a:prstGeom prst="rect">
            <a:avLst/>
          </a:prstGeom>
          <a:noFill/>
          <a:ln/>
        </p:spPr>
        <p:txBody>
          <a:bodyPr wrap="square" lIns="0" tIns="0" rIns="0" bIns="0" rtlCol="0" anchor="t"/>
          <a:lstStyle/>
          <a:p>
            <a:pPr indent="0" marL="0">
              <a:buNone/>
            </a:pPr>
            <a:r>
              <a:rPr lang="en-US" sz="1400" dirty="0">
                <a:solidFill>
                  <a:schemeClr val="tx2"/>
                </a:solidFill>
              </a:rPr>
              <a:t>Compiled to WebAssembly with physics</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robot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small two wheel differential drive car with two rows of line sensors</a:t>
            </a:r>
            <a:endParaRPr lang="en-US" sz="1600" dirty="0"/>
          </a:p>
        </p:txBody>
      </p:sp>
      <p:pic>
        <p:nvPicPr>
          <p:cNvPr id="5" name="Image 0" descr="3D model of the robot">    </p:cNvPr>
          <p:cNvPicPr>
            <a:picLocks noChangeAspect="1"/>
          </p:cNvPicPr>
          <p:nvPr/>
        </p:nvPicPr>
        <p:blipFill>
          <a:blip r:embed="rId1"/>
          <a:stretch>
            <a:fillRect/>
          </a:stretch>
        </p:blipFill>
        <p:spPr>
          <a:xfrm>
            <a:off x="548640" y="1645920"/>
            <a:ext cx="5669280" cy="3725527"/>
          </a:xfrm>
          <a:prstGeom prst="rect">
            <a:avLst/>
          </a:prstGeom>
        </p:spPr>
      </p:pic>
      <p:sp>
        <p:nvSpPr>
          <p:cNvPr id="6" name="Text 2"/>
          <p:cNvSpPr txBox="1"/>
          <p:nvPr/>
        </p:nvSpPr>
        <p:spPr>
          <a:xfrm>
            <a:off x="6766560" y="169164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Wheelbase</a:t>
            </a:r>
            <a:endParaRPr lang="en-US" sz="1600" dirty="0"/>
          </a:p>
        </p:txBody>
      </p:sp>
      <p:sp>
        <p:nvSpPr>
          <p:cNvPr id="7" name="Text 3"/>
          <p:cNvSpPr txBox="1"/>
          <p:nvPr/>
        </p:nvSpPr>
        <p:spPr>
          <a:xfrm>
            <a:off x="9052560" y="169164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90 mm</a:t>
            </a:r>
            <a:endParaRPr lang="en-US" sz="1600" dirty="0"/>
          </a:p>
        </p:txBody>
      </p:sp>
      <p:sp>
        <p:nvSpPr>
          <p:cNvPr id="8" name="Text 4"/>
          <p:cNvSpPr txBox="1"/>
          <p:nvPr/>
        </p:nvSpPr>
        <p:spPr>
          <a:xfrm>
            <a:off x="6766560" y="219456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Wheel diameter</a:t>
            </a:r>
            <a:endParaRPr lang="en-US" sz="1600" dirty="0"/>
          </a:p>
        </p:txBody>
      </p:sp>
      <p:sp>
        <p:nvSpPr>
          <p:cNvPr id="9" name="Text 5"/>
          <p:cNvSpPr txBox="1"/>
          <p:nvPr/>
        </p:nvSpPr>
        <p:spPr>
          <a:xfrm>
            <a:off x="9052560" y="219456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a:t>
            </a:r>
            <a:endParaRPr lang="en-US" sz="1600" dirty="0"/>
          </a:p>
        </p:txBody>
      </p:sp>
      <p:sp>
        <p:nvSpPr>
          <p:cNvPr id="10" name="Text 6"/>
          <p:cNvSpPr txBox="1"/>
          <p:nvPr/>
        </p:nvSpPr>
        <p:spPr>
          <a:xfrm>
            <a:off x="6766560" y="269748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Body length</a:t>
            </a:r>
            <a:endParaRPr lang="en-US" sz="1600" dirty="0"/>
          </a:p>
        </p:txBody>
      </p:sp>
      <p:sp>
        <p:nvSpPr>
          <p:cNvPr id="11" name="Text 7"/>
          <p:cNvSpPr txBox="1"/>
          <p:nvPr/>
        </p:nvSpPr>
        <p:spPr>
          <a:xfrm>
            <a:off x="9052560" y="269748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64 mm</a:t>
            </a:r>
            <a:endParaRPr lang="en-US" sz="1600" dirty="0"/>
          </a:p>
        </p:txBody>
      </p:sp>
      <p:sp>
        <p:nvSpPr>
          <p:cNvPr id="12" name="Text 8"/>
          <p:cNvSpPr txBox="1"/>
          <p:nvPr/>
        </p:nvSpPr>
        <p:spPr>
          <a:xfrm>
            <a:off x="6766560" y="320040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Front sensor row</a:t>
            </a:r>
            <a:endParaRPr lang="en-US" sz="1600" dirty="0"/>
          </a:p>
        </p:txBody>
      </p:sp>
      <p:sp>
        <p:nvSpPr>
          <p:cNvPr id="13" name="Text 9"/>
          <p:cNvSpPr txBox="1"/>
          <p:nvPr/>
        </p:nvSpPr>
        <p:spPr>
          <a:xfrm>
            <a:off x="9052560" y="320040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 ahead of axle</a:t>
            </a:r>
            <a:endParaRPr lang="en-US" sz="1600" dirty="0"/>
          </a:p>
        </p:txBody>
      </p:sp>
      <p:sp>
        <p:nvSpPr>
          <p:cNvPr id="14" name="Text 10"/>
          <p:cNvSpPr txBox="1"/>
          <p:nvPr/>
        </p:nvSpPr>
        <p:spPr>
          <a:xfrm>
            <a:off x="6766560" y="370332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Rear sensor row</a:t>
            </a:r>
            <a:endParaRPr lang="en-US" sz="1600" dirty="0"/>
          </a:p>
        </p:txBody>
      </p:sp>
      <p:sp>
        <p:nvSpPr>
          <p:cNvPr id="15" name="Text 11"/>
          <p:cNvSpPr txBox="1"/>
          <p:nvPr/>
        </p:nvSpPr>
        <p:spPr>
          <a:xfrm>
            <a:off x="9052560" y="370332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40 mm behind axle</a:t>
            </a:r>
            <a:endParaRPr lang="en-US" sz="1600" dirty="0"/>
          </a:p>
        </p:txBody>
      </p:sp>
      <p:sp>
        <p:nvSpPr>
          <p:cNvPr id="16" name="Text 12"/>
          <p:cNvSpPr txBox="1"/>
          <p:nvPr/>
        </p:nvSpPr>
        <p:spPr>
          <a:xfrm>
            <a:off x="6766560" y="420624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Sensors per row</a:t>
            </a:r>
            <a:endParaRPr lang="en-US" sz="1600" dirty="0"/>
          </a:p>
        </p:txBody>
      </p:sp>
      <p:sp>
        <p:nvSpPr>
          <p:cNvPr id="17" name="Text 13"/>
          <p:cNvSpPr txBox="1"/>
          <p:nvPr/>
        </p:nvSpPr>
        <p:spPr>
          <a:xfrm>
            <a:off x="9052560" y="420624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5 at 12 mm spacing</a:t>
            </a:r>
            <a:endParaRPr lang="en-US" sz="1600" dirty="0"/>
          </a:p>
        </p:txBody>
      </p:sp>
      <p:sp>
        <p:nvSpPr>
          <p:cNvPr id="18" name="Text 14"/>
          <p:cNvSpPr txBox="1"/>
          <p:nvPr/>
        </p:nvSpPr>
        <p:spPr>
          <a:xfrm>
            <a:off x="6766560" y="4709160"/>
            <a:ext cx="2194560" cy="365760"/>
          </a:xfrm>
          <a:prstGeom prst="rect">
            <a:avLst/>
          </a:prstGeom>
          <a:noFill/>
          <a:ln/>
        </p:spPr>
        <p:txBody>
          <a:bodyPr wrap="square" lIns="0" tIns="0" rIns="0" bIns="0" rtlCol="0" anchor="ctr"/>
          <a:lstStyle/>
          <a:p>
            <a:pPr indent="0" marL="0">
              <a:buNone/>
            </a:pPr>
            <a:r>
              <a:rPr lang="en-US" sz="1600" dirty="0">
                <a:solidFill>
                  <a:schemeClr val="accent2"/>
                </a:solidFill>
              </a:rPr>
              <a:t>Mass</a:t>
            </a:r>
            <a:endParaRPr lang="en-US" sz="1600" dirty="0"/>
          </a:p>
        </p:txBody>
      </p:sp>
      <p:sp>
        <p:nvSpPr>
          <p:cNvPr id="19" name="Text 15"/>
          <p:cNvSpPr txBox="1"/>
          <p:nvPr/>
        </p:nvSpPr>
        <p:spPr>
          <a:xfrm>
            <a:off x="9052560" y="4709160"/>
            <a:ext cx="2651760" cy="365760"/>
          </a:xfrm>
          <a:prstGeom prst="rect">
            <a:avLst/>
          </a:prstGeom>
          <a:noFill/>
          <a:ln/>
        </p:spPr>
        <p:txBody>
          <a:bodyPr wrap="square" lIns="0" tIns="0" rIns="0" bIns="0" rtlCol="0" anchor="ctr"/>
          <a:lstStyle/>
          <a:p>
            <a:pPr indent="0" marL="0">
              <a:buNone/>
            </a:pPr>
            <a:r>
              <a:rPr lang="en-US" sz="1600" b="1" dirty="0">
                <a:solidFill>
                  <a:schemeClr val="tx1"/>
                </a:solidFill>
              </a:rPr>
              <a:t>300 g</a:t>
            </a:r>
            <a:endParaRPr lang="en-US" sz="1600" dirty="0"/>
          </a:p>
        </p:txBody>
      </p:sp>
      <p:sp>
        <p:nvSpPr>
          <p:cNvPr id="20" name="Text 16"/>
          <p:cNvSpPr txBox="1"/>
          <p:nvPr/>
        </p:nvSpPr>
        <p:spPr>
          <a:xfrm>
            <a:off x="6766560" y="5349240"/>
            <a:ext cx="4846320" cy="640080"/>
          </a:xfrm>
          <a:prstGeom prst="rect">
            <a:avLst/>
          </a:prstGeom>
          <a:noFill/>
          <a:ln/>
        </p:spPr>
        <p:txBody>
          <a:bodyPr wrap="square" lIns="0" tIns="0" rIns="0" bIns="0" rtlCol="0" anchor="t"/>
          <a:lstStyle/>
          <a:p>
            <a:pPr indent="0" marL="0">
              <a:buNone/>
            </a:pPr>
            <a:r>
              <a:rPr lang="en-US" sz="1400" dirty="0">
                <a:solidFill>
                  <a:schemeClr val="tx2"/>
                </a:solidFill>
              </a:rPr>
              <a:t>Dummy line follower card on top, for practice only</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Engineering drawing of the robot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Top, front and side views with the sizes the firmware uses</a:t>
            </a:r>
            <a:endParaRPr lang="en-US" sz="1600" dirty="0"/>
          </a:p>
        </p:txBody>
      </p:sp>
      <p:pic>
        <p:nvPicPr>
          <p:cNvPr id="5" name="Image 0" descr="Engineering drawing of the robot">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Four ways to drive a map</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From simple to smart</a:t>
            </a:r>
            <a:endParaRPr lang="en-US" sz="1600" dirty="0"/>
          </a:p>
        </p:txBody>
      </p:sp>
      <p:sp>
        <p:nvSpPr>
          <p:cNvPr id="5" name="mode 1 card"/>
          <p:cNvSpPr/>
          <p:nvPr/>
        </p:nvSpPr>
        <p:spPr>
          <a:xfrm>
            <a:off x="548640" y="1645920"/>
            <a:ext cx="5440680" cy="2286000"/>
          </a:xfrm>
          <a:prstGeom prst="rect">
            <a:avLst/>
          </a:prstGeom>
          <a:solidFill>
            <a:schemeClr val="bg2"/>
          </a:solidFill>
          <a:ln w="9525">
            <a:solidFill>
              <a:schemeClr val="accent5"/>
            </a:solidFill>
            <a:prstDash val="solid"/>
          </a:ln>
        </p:spPr>
      </p:sp>
      <p:sp>
        <p:nvSpPr>
          <p:cNvPr id="6" name="mode 1 heading"/>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Normal PID</a:t>
            </a:r>
            <a:endParaRPr lang="en-US" sz="1800" dirty="0"/>
          </a:p>
        </p:txBody>
      </p:sp>
      <p:sp>
        <p:nvSpPr>
          <p:cNvPr id="7" name="mode 1 text"/>
          <p:cNvSpPr txBox="1"/>
          <p:nvPr/>
        </p:nvSpPr>
        <p:spPr>
          <a:xfrm>
            <a:off x="777240" y="2331720"/>
            <a:ext cx="4983480" cy="1417320"/>
          </a:xfrm>
          <a:prstGeom prst="rect">
            <a:avLst/>
          </a:prstGeom>
          <a:noFill/>
          <a:ln/>
        </p:spPr>
        <p:txBody>
          <a:bodyPr wrap="square" lIns="0" tIns="0" rIns="0" bIns="0" rtlCol="0" anchor="t"/>
          <a:lstStyle/>
          <a:p>
            <a:pPr indent="0" marL="0">
              <a:spcAft>
                <a:spcPts val="800"/>
              </a:spcAft>
              <a:buNone/>
            </a:pPr>
            <a:r>
              <a:rPr lang="en-US" sz="1600" dirty="0">
                <a:solidFill>
                  <a:schemeClr val="tx2"/>
                </a:solidFill>
              </a:rPr>
              <a:t>Looks only at the sensors and steers back toward the line. It has no map so it cannot slow down before a corner.</a:t>
            </a:r>
            <a:endParaRPr lang="en-US" sz="1600" dirty="0"/>
          </a:p>
        </p:txBody>
      </p:sp>
      <p:sp>
        <p:nvSpPr>
          <p:cNvPr id="8" name="mode 2 card"/>
          <p:cNvSpPr/>
          <p:nvPr/>
        </p:nvSpPr>
        <p:spPr>
          <a:xfrm>
            <a:off x="6172200" y="1645920"/>
            <a:ext cx="5440680" cy="2286000"/>
          </a:xfrm>
          <a:prstGeom prst="rect">
            <a:avLst/>
          </a:prstGeom>
          <a:solidFill>
            <a:schemeClr val="bg2"/>
          </a:solidFill>
          <a:ln w="9525">
            <a:solidFill>
              <a:schemeClr val="accent5"/>
            </a:solidFill>
            <a:prstDash val="solid"/>
          </a:ln>
        </p:spPr>
      </p:sp>
      <p:sp>
        <p:nvSpPr>
          <p:cNvPr id="9" name="mode 2 heading"/>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Full map blind</a:t>
            </a:r>
            <a:endParaRPr lang="en-US" sz="1800" dirty="0"/>
          </a:p>
        </p:txBody>
      </p:sp>
      <p:sp>
        <p:nvSpPr>
          <p:cNvPr id="10" name="mode 2 text"/>
          <p:cNvSpPr txBox="1"/>
          <p:nvPr/>
        </p:nvSpPr>
        <p:spPr>
          <a:xfrm>
            <a:off x="6400800" y="2331720"/>
            <a:ext cx="4983480" cy="1417320"/>
          </a:xfrm>
          <a:prstGeom prst="rect">
            <a:avLst/>
          </a:prstGeom>
          <a:noFill/>
          <a:ln/>
        </p:spPr>
        <p:txBody>
          <a:bodyPr wrap="square" lIns="0" tIns="0" rIns="0" bIns="0" rtlCol="0" anchor="t"/>
          <a:lstStyle/>
          <a:p>
            <a:pPr indent="0" marL="0">
              <a:spcAft>
                <a:spcPts val="800"/>
              </a:spcAft>
              <a:buNone/>
            </a:pPr>
            <a:r>
              <a:rPr lang="en-US" sz="1600" dirty="0">
                <a:solidFill>
                  <a:schemeClr val="tx2"/>
                </a:solidFill>
              </a:rPr>
              <a:t>Knows the whole map and replays the racing plan. It ignores the sensors so small errors grow until it leaves the line.</a:t>
            </a:r>
            <a:endParaRPr lang="en-US" sz="1600" dirty="0"/>
          </a:p>
        </p:txBody>
      </p:sp>
      <p:sp>
        <p:nvSpPr>
          <p:cNvPr id="11" name="mode 3 card"/>
          <p:cNvSpPr/>
          <p:nvPr/>
        </p:nvSpPr>
        <p:spPr>
          <a:xfrm>
            <a:off x="548640" y="4114800"/>
            <a:ext cx="5440680" cy="2286000"/>
          </a:xfrm>
          <a:prstGeom prst="rect">
            <a:avLst/>
          </a:prstGeom>
          <a:solidFill>
            <a:schemeClr val="bg2"/>
          </a:solidFill>
          <a:ln w="9525">
            <a:solidFill>
              <a:schemeClr val="accent5"/>
            </a:solidFill>
            <a:prstDash val="solid"/>
          </a:ln>
        </p:spPr>
      </p:sp>
      <p:sp>
        <p:nvSpPr>
          <p:cNvPr id="12" name="mode 3 heading"/>
          <p:cNvSpPr txBox="1"/>
          <p:nvPr/>
        </p:nvSpPr>
        <p:spPr>
          <a:xfrm>
            <a:off x="777240" y="429768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Full map plus IR</a:t>
            </a:r>
            <a:endParaRPr lang="en-US" sz="1800" dirty="0"/>
          </a:p>
        </p:txBody>
      </p:sp>
      <p:sp>
        <p:nvSpPr>
          <p:cNvPr id="13" name="mode 3 text"/>
          <p:cNvSpPr txBox="1"/>
          <p:nvPr/>
        </p:nvSpPr>
        <p:spPr>
          <a:xfrm>
            <a:off x="777240" y="4800600"/>
            <a:ext cx="4983480" cy="1417320"/>
          </a:xfrm>
          <a:prstGeom prst="rect">
            <a:avLst/>
          </a:prstGeom>
          <a:noFill/>
          <a:ln/>
        </p:spPr>
        <p:txBody>
          <a:bodyPr wrap="square" lIns="0" tIns="0" rIns="0" bIns="0" rtlCol="0" anchor="t"/>
          <a:lstStyle/>
          <a:p>
            <a:pPr indent="0" marL="0">
              <a:spcAft>
                <a:spcPts val="800"/>
              </a:spcAft>
              <a:buNone/>
            </a:pPr>
            <a:r>
              <a:rPr lang="en-US" sz="1600" dirty="0">
                <a:solidFill>
                  <a:schemeClr val="tx2"/>
                </a:solidFill>
              </a:rPr>
              <a:t>Replays the racing plan and uses the sensors to fix drift. This is our fastest and most reliable mode.</a:t>
            </a:r>
            <a:endParaRPr lang="en-US" sz="1600" dirty="0"/>
          </a:p>
        </p:txBody>
      </p:sp>
      <p:sp>
        <p:nvSpPr>
          <p:cNvPr id="14" name="mode 4 card"/>
          <p:cNvSpPr/>
          <p:nvPr/>
        </p:nvSpPr>
        <p:spPr>
          <a:xfrm>
            <a:off x="6172200" y="4114800"/>
            <a:ext cx="5440680" cy="2286000"/>
          </a:xfrm>
          <a:prstGeom prst="rect">
            <a:avLst/>
          </a:prstGeom>
          <a:solidFill>
            <a:schemeClr val="bg2"/>
          </a:solidFill>
          <a:ln w="9525">
            <a:solidFill>
              <a:schemeClr val="accent5"/>
            </a:solidFill>
            <a:prstDash val="solid"/>
          </a:ln>
        </p:spPr>
      </p:sp>
      <p:sp>
        <p:nvSpPr>
          <p:cNvPr id="15" name="mode 4 heading"/>
          <p:cNvSpPr txBox="1"/>
          <p:nvPr/>
        </p:nvSpPr>
        <p:spPr>
          <a:xfrm>
            <a:off x="6400800" y="429768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Double IR</a:t>
            </a:r>
            <a:endParaRPr lang="en-US" sz="1800" dirty="0"/>
          </a:p>
        </p:txBody>
      </p:sp>
      <p:sp>
        <p:nvSpPr>
          <p:cNvPr id="16" name="mode 4 text"/>
          <p:cNvSpPr txBox="1"/>
          <p:nvPr/>
        </p:nvSpPr>
        <p:spPr>
          <a:xfrm>
            <a:off x="6400800" y="4800600"/>
            <a:ext cx="4983480" cy="1417320"/>
          </a:xfrm>
          <a:prstGeom prst="rect">
            <a:avLst/>
          </a:prstGeom>
          <a:noFill/>
          <a:ln/>
        </p:spPr>
        <p:txBody>
          <a:bodyPr wrap="square" lIns="0" tIns="0" rIns="0" bIns="0" rtlCol="0" anchor="t"/>
          <a:lstStyle/>
          <a:p>
            <a:pPr indent="0" marL="0">
              <a:spcAft>
                <a:spcPts val="800"/>
              </a:spcAft>
              <a:buNone/>
            </a:pPr>
            <a:r>
              <a:rPr lang="en-US" sz="1600" dirty="0">
                <a:solidFill>
                  <a:schemeClr val="tx2"/>
                </a:solidFill>
              </a:rPr>
              <a:t>Uses two sensor rows and wheel encoders. It measures the curve it is in and sets speed from grip. No map needed.</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How fast is safe in a corner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Tighter corners need lower speed because grip is limited</a:t>
            </a:r>
            <a:endParaRPr lang="en-US" sz="1600" dirty="0"/>
          </a:p>
        </p:txBody>
      </p:sp>
      <p:graphicFrame>
        <p:nvGraphicFramePr>
          <p:cNvPr id="5" name="Chart 0" descr=""/>
          <p:cNvGraphicFramePr/>
          <p:nvPr/>
        </p:nvGraphicFramePr>
        <p:xfrm>
          <a:off x="548640" y="1554480"/>
          <a:ext cx="749808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412480" y="1828800"/>
            <a:ext cx="3200400" cy="9144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Speed equals the square root of grip times radius</a:t>
            </a:r>
            <a:endParaRPr lang="en-US" sz="2000" dirty="0"/>
          </a:p>
        </p:txBody>
      </p:sp>
      <p:sp>
        <p:nvSpPr>
          <p:cNvPr id="7" name="Text 3"/>
          <p:cNvSpPr txBox="1"/>
          <p:nvPr/>
        </p:nvSpPr>
        <p:spPr>
          <a:xfrm>
            <a:off x="8412480" y="3017520"/>
            <a:ext cx="3200400" cy="1280160"/>
          </a:xfrm>
          <a:prstGeom prst="rect">
            <a:avLst/>
          </a:prstGeom>
          <a:noFill/>
          <a:ln/>
        </p:spPr>
        <p:txBody>
          <a:bodyPr wrap="square" lIns="0" tIns="0" rIns="0" bIns="0" rtlCol="0" anchor="t"/>
          <a:lstStyle/>
          <a:p>
            <a:pPr indent="0" marL="0">
              <a:buNone/>
            </a:pPr>
            <a:r>
              <a:rPr lang="en-US" sz="1500" dirty="0">
                <a:solidFill>
                  <a:schemeClr val="tx2"/>
                </a:solidFill>
              </a:rPr>
              <a:t>The racing plan allows up to 1.5 metres per second squared sideways and tops out at 1 metre per second</a:t>
            </a:r>
            <a:endParaRPr lang="en-US" sz="1500" dirty="0"/>
          </a:p>
        </p:txBody>
      </p:sp>
      <p:sp>
        <p:nvSpPr>
          <p:cNvPr id="8" name="Text 4"/>
          <p:cNvSpPr txBox="1"/>
          <p:nvPr/>
        </p:nvSpPr>
        <p:spPr>
          <a:xfrm>
            <a:off x="8412480" y="4480560"/>
            <a:ext cx="3200400" cy="1097280"/>
          </a:xfrm>
          <a:prstGeom prst="rect">
            <a:avLst/>
          </a:prstGeom>
          <a:noFill/>
          <a:ln/>
        </p:spPr>
        <p:txBody>
          <a:bodyPr wrap="square" lIns="0" tIns="0" rIns="0" bIns="0" rtlCol="0" anchor="t"/>
          <a:lstStyle/>
          <a:p>
            <a:pPr indent="0" marL="0">
              <a:buNone/>
            </a:pPr>
            <a:r>
              <a:rPr lang="en-US" sz="1500" dirty="0">
                <a:solidFill>
                  <a:schemeClr val="tx2"/>
                </a:solidFill>
              </a:rPr>
              <a:t>Double IR uses 1.6 and never goes above 0.4 metres per second</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Inertia: how hard the robot is to turn</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Add up every part as a small block and spin it about the centre of mass</a:t>
            </a:r>
            <a:endParaRPr lang="en-US" sz="1600" dirty="0"/>
          </a:p>
        </p:txBody>
      </p:sp>
      <p:pic>
        <p:nvPicPr>
          <p:cNvPr id="5" name="Image 0" descr="Inertia: how hard the robot is to turn">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Grip and wheel slip</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tyre pushes harder the more it slips until it reaches the grip limit</a:t>
            </a:r>
            <a:endParaRPr lang="en-US" sz="1600" dirty="0"/>
          </a:p>
        </p:txBody>
      </p:sp>
      <p:pic>
        <p:nvPicPr>
          <p:cNvPr id="5" name="Image 0" descr="Grip and wheel slip">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Wheel encoders and turn rate</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Counting wheel turns tells us speed and how sharply the robot is turning</a:t>
            </a:r>
            <a:endParaRPr lang="en-US" sz="1600" dirty="0"/>
          </a:p>
        </p:txBody>
      </p:sp>
      <p:pic>
        <p:nvPicPr>
          <p:cNvPr id="5" name="Image 0" descr="Wheel encoders and turn rate">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Dashed lines and gaps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In a gap the sensors see nothing so the robot keeps going on what it knew</a:t>
            </a:r>
            <a:endParaRPr lang="en-US" sz="1600" dirty="0"/>
          </a:p>
        </p:txBody>
      </p:sp>
      <p:pic>
        <p:nvPicPr>
          <p:cNvPr id="5" name="Image 0" descr="Dashed lines and gaps">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Timestamps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Every time value the robot and the simulator run on</a:t>
            </a:r>
            <a:endParaRPr lang="en-US" sz="1600" dirty="0"/>
          </a:p>
        </p:txBody>
      </p:sp>
      <p:pic>
        <p:nvPicPr>
          <p:cNvPr id="5" name="Image 0" descr="Timestamps">    </p:cNvPr>
          <p:cNvPicPr>
            <a:picLocks noChangeAspect="1"/>
          </p:cNvPicPr>
          <p:nvPr/>
        </p:nvPicPr>
        <p:blipFill>
          <a:blip r:embed="rId1"/>
          <a:stretch>
            <a:fillRect/>
          </a:stretch>
        </p:blipFill>
        <p:spPr>
          <a:xfrm>
            <a:off x="882396" y="1463040"/>
            <a:ext cx="10424160" cy="4971522"/>
          </a:xfrm>
          <a:prstGeom prst="rect">
            <a:avLst/>
          </a:prstGeom>
        </p:spPr>
      </p:pic>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Double IR in four steps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How the robot works out the curve it is in</a:t>
            </a:r>
            <a:endParaRPr lang="en-US" sz="1600" dirty="0"/>
          </a:p>
        </p:txBody>
      </p:sp>
      <p:sp>
        <p:nvSpPr>
          <p:cNvPr id="5" name="step card 1"/>
          <p:cNvSpPr/>
          <p:nvPr/>
        </p:nvSpPr>
        <p:spPr>
          <a:xfrm>
            <a:off x="548640" y="2011680"/>
            <a:ext cx="2606040" cy="3291840"/>
          </a:xfrm>
          <a:prstGeom prst="rect">
            <a:avLst/>
          </a:prstGeom>
          <a:solidFill>
            <a:schemeClr val="bg2"/>
          </a:solidFill>
          <a:ln w="9525">
            <a:solidFill>
              <a:schemeClr val="accent5"/>
            </a:solidFill>
            <a:prstDash val="solid"/>
          </a:ln>
        </p:spPr>
      </p:sp>
      <p:sp>
        <p:nvSpPr>
          <p:cNvPr id="6" name="step badge 1"/>
          <p:cNvSpPr/>
          <p:nvPr/>
        </p:nvSpPr>
        <p:spPr>
          <a:xfrm>
            <a:off x="777240" y="2240280"/>
            <a:ext cx="640080" cy="640080"/>
          </a:xfrm>
          <a:prstGeom prst="ellipse">
            <a:avLst/>
          </a:prstGeom>
          <a:solidFill>
            <a:srgbClr val="111111"/>
          </a:solidFill>
          <a:ln w="12700">
            <a:solidFill>
              <a:srgbClr val="111111"/>
            </a:solidFill>
            <a:prstDash val="solid"/>
          </a:ln>
        </p:spPr>
      </p:sp>
      <p:sp>
        <p:nvSpPr>
          <p:cNvPr id="7" name="step number 1"/>
          <p:cNvSpPr txBox="1"/>
          <p:nvPr/>
        </p:nvSpPr>
        <p:spPr>
          <a:xfrm>
            <a:off x="777240"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8" name="step heading 1"/>
          <p:cNvSpPr txBox="1"/>
          <p:nvPr/>
        </p:nvSpPr>
        <p:spPr>
          <a:xfrm>
            <a:off x="777240"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Two rows</a:t>
            </a:r>
            <a:endParaRPr lang="en-US" sz="2000" dirty="0"/>
          </a:p>
        </p:txBody>
      </p:sp>
      <p:sp>
        <p:nvSpPr>
          <p:cNvPr id="9" name="step text 1"/>
          <p:cNvSpPr txBox="1"/>
          <p:nvPr/>
        </p:nvSpPr>
        <p:spPr>
          <a:xfrm>
            <a:off x="777240"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Front and rear sensors give the direction of the line</a:t>
            </a:r>
            <a:endParaRPr lang="en-US" sz="1500" dirty="0"/>
          </a:p>
        </p:txBody>
      </p:sp>
      <p:sp>
        <p:nvSpPr>
          <p:cNvPr id="10" name="step card 2"/>
          <p:cNvSpPr/>
          <p:nvPr/>
        </p:nvSpPr>
        <p:spPr>
          <a:xfrm>
            <a:off x="3364992" y="2011680"/>
            <a:ext cx="2606040" cy="3291840"/>
          </a:xfrm>
          <a:prstGeom prst="rect">
            <a:avLst/>
          </a:prstGeom>
          <a:solidFill>
            <a:schemeClr val="bg2"/>
          </a:solidFill>
          <a:ln w="9525">
            <a:solidFill>
              <a:schemeClr val="accent5"/>
            </a:solidFill>
            <a:prstDash val="solid"/>
          </a:ln>
        </p:spPr>
      </p:sp>
      <p:sp>
        <p:nvSpPr>
          <p:cNvPr id="11" name="step badge 2"/>
          <p:cNvSpPr/>
          <p:nvPr/>
        </p:nvSpPr>
        <p:spPr>
          <a:xfrm>
            <a:off x="3593592" y="2240280"/>
            <a:ext cx="640080" cy="640080"/>
          </a:xfrm>
          <a:prstGeom prst="ellipse">
            <a:avLst/>
          </a:prstGeom>
          <a:solidFill>
            <a:srgbClr val="111111"/>
          </a:solidFill>
          <a:ln w="12700">
            <a:solidFill>
              <a:srgbClr val="111111"/>
            </a:solidFill>
            <a:prstDash val="solid"/>
          </a:ln>
        </p:spPr>
      </p:sp>
      <p:sp>
        <p:nvSpPr>
          <p:cNvPr id="12" name="step number 2"/>
          <p:cNvSpPr txBox="1"/>
          <p:nvPr/>
        </p:nvSpPr>
        <p:spPr>
          <a:xfrm>
            <a:off x="3593592"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3" name="step heading 2"/>
          <p:cNvSpPr txBox="1"/>
          <p:nvPr/>
        </p:nvSpPr>
        <p:spPr>
          <a:xfrm>
            <a:off x="3593592"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Encoders</a:t>
            </a:r>
            <a:endParaRPr lang="en-US" sz="2000" dirty="0"/>
          </a:p>
        </p:txBody>
      </p:sp>
      <p:sp>
        <p:nvSpPr>
          <p:cNvPr id="14" name="step text 2"/>
          <p:cNvSpPr txBox="1"/>
          <p:nvPr/>
        </p:nvSpPr>
        <p:spPr>
          <a:xfrm>
            <a:off x="3593592"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Wheel speeds give the robot turn rate</a:t>
            </a:r>
            <a:endParaRPr lang="en-US" sz="1500" dirty="0"/>
          </a:p>
        </p:txBody>
      </p:sp>
      <p:sp>
        <p:nvSpPr>
          <p:cNvPr id="15" name="step card 3"/>
          <p:cNvSpPr/>
          <p:nvPr/>
        </p:nvSpPr>
        <p:spPr>
          <a:xfrm>
            <a:off x="6181344" y="2011680"/>
            <a:ext cx="2606040" cy="3291840"/>
          </a:xfrm>
          <a:prstGeom prst="rect">
            <a:avLst/>
          </a:prstGeom>
          <a:solidFill>
            <a:schemeClr val="bg2"/>
          </a:solidFill>
          <a:ln w="9525">
            <a:solidFill>
              <a:schemeClr val="accent5"/>
            </a:solidFill>
            <a:prstDash val="solid"/>
          </a:ln>
        </p:spPr>
      </p:sp>
      <p:sp>
        <p:nvSpPr>
          <p:cNvPr id="16" name="step badge 3"/>
          <p:cNvSpPr/>
          <p:nvPr/>
        </p:nvSpPr>
        <p:spPr>
          <a:xfrm>
            <a:off x="6409944" y="2240280"/>
            <a:ext cx="640080" cy="640080"/>
          </a:xfrm>
          <a:prstGeom prst="ellipse">
            <a:avLst/>
          </a:prstGeom>
          <a:solidFill>
            <a:srgbClr val="111111"/>
          </a:solidFill>
          <a:ln w="12700">
            <a:solidFill>
              <a:srgbClr val="111111"/>
            </a:solidFill>
            <a:prstDash val="solid"/>
          </a:ln>
        </p:spPr>
      </p:sp>
      <p:sp>
        <p:nvSpPr>
          <p:cNvPr id="17" name="step number 3"/>
          <p:cNvSpPr txBox="1"/>
          <p:nvPr/>
        </p:nvSpPr>
        <p:spPr>
          <a:xfrm>
            <a:off x="6409944"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step heading 3"/>
          <p:cNvSpPr txBox="1"/>
          <p:nvPr/>
        </p:nvSpPr>
        <p:spPr>
          <a:xfrm>
            <a:off x="6409944"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Curve</a:t>
            </a:r>
            <a:endParaRPr lang="en-US" sz="2000" dirty="0"/>
          </a:p>
        </p:txBody>
      </p:sp>
      <p:sp>
        <p:nvSpPr>
          <p:cNvPr id="19" name="step text 3"/>
          <p:cNvSpPr txBox="1"/>
          <p:nvPr/>
        </p:nvSpPr>
        <p:spPr>
          <a:xfrm>
            <a:off x="6409944"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Line turning plus robot turning gives how tight the bend is</a:t>
            </a:r>
            <a:endParaRPr lang="en-US" sz="1500" dirty="0"/>
          </a:p>
        </p:txBody>
      </p:sp>
      <p:sp>
        <p:nvSpPr>
          <p:cNvPr id="20" name="step card 4"/>
          <p:cNvSpPr/>
          <p:nvPr/>
        </p:nvSpPr>
        <p:spPr>
          <a:xfrm>
            <a:off x="8997696" y="2011680"/>
            <a:ext cx="2606040" cy="3291840"/>
          </a:xfrm>
          <a:prstGeom prst="rect">
            <a:avLst/>
          </a:prstGeom>
          <a:solidFill>
            <a:schemeClr val="bg2"/>
          </a:solidFill>
          <a:ln w="9525">
            <a:solidFill>
              <a:schemeClr val="accent5"/>
            </a:solidFill>
            <a:prstDash val="solid"/>
          </a:ln>
        </p:spPr>
      </p:sp>
      <p:sp>
        <p:nvSpPr>
          <p:cNvPr id="21" name="step badge 4"/>
          <p:cNvSpPr/>
          <p:nvPr/>
        </p:nvSpPr>
        <p:spPr>
          <a:xfrm>
            <a:off x="9226296" y="2240280"/>
            <a:ext cx="640080" cy="640080"/>
          </a:xfrm>
          <a:prstGeom prst="ellipse">
            <a:avLst/>
          </a:prstGeom>
          <a:solidFill>
            <a:srgbClr val="111111"/>
          </a:solidFill>
          <a:ln w="12700">
            <a:solidFill>
              <a:srgbClr val="111111"/>
            </a:solidFill>
            <a:prstDash val="solid"/>
          </a:ln>
        </p:spPr>
      </p:sp>
      <p:sp>
        <p:nvSpPr>
          <p:cNvPr id="22" name="step number 4"/>
          <p:cNvSpPr txBox="1"/>
          <p:nvPr/>
        </p:nvSpPr>
        <p:spPr>
          <a:xfrm>
            <a:off x="9226296" y="22402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3" name="step heading 4"/>
          <p:cNvSpPr txBox="1"/>
          <p:nvPr/>
        </p:nvSpPr>
        <p:spPr>
          <a:xfrm>
            <a:off x="9226296" y="3108960"/>
            <a:ext cx="214884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Speed</a:t>
            </a:r>
            <a:endParaRPr lang="en-US" sz="2000" dirty="0"/>
          </a:p>
        </p:txBody>
      </p:sp>
      <p:sp>
        <p:nvSpPr>
          <p:cNvPr id="24" name="step text 4"/>
          <p:cNvSpPr txBox="1"/>
          <p:nvPr/>
        </p:nvSpPr>
        <p:spPr>
          <a:xfrm>
            <a:off x="9226296" y="3703320"/>
            <a:ext cx="2148840" cy="1371600"/>
          </a:xfrm>
          <a:prstGeom prst="rect">
            <a:avLst/>
          </a:prstGeom>
          <a:noFill/>
          <a:ln/>
        </p:spPr>
        <p:txBody>
          <a:bodyPr wrap="square" lIns="0" tIns="0" rIns="0" bIns="0" rtlCol="0" anchor="t"/>
          <a:lstStyle/>
          <a:p>
            <a:pPr indent="0" marL="0">
              <a:buNone/>
            </a:pPr>
            <a:r>
              <a:rPr lang="en-US" sz="1500" dirty="0">
                <a:solidFill>
                  <a:schemeClr val="tx2"/>
                </a:solidFill>
              </a:rPr>
              <a:t>Safe speed is the square root of grip over curvature</a:t>
            </a:r>
            <a:endParaRPr lang="en-US" sz="1500" dirty="0"/>
          </a:p>
        </p:txBody>
      </p:sp>
      <p:sp>
        <p:nvSpPr>
          <p:cNvPr id="25"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800" b="1" dirty="0">
                <a:solidFill>
                  <a:schemeClr val="tx1"/>
                </a:solidFill>
              </a:rPr>
              <a:t>In tests it finishes all six maps in 240 of 240 seeded runs</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Lap times from the C++ simulator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Seconds on each map with the default start and noise</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377440"/>
                <a:gridCol w="1371600"/>
                <a:gridCol w="1737360"/>
                <a:gridCol w="1828800"/>
                <a:gridCol w="2011680"/>
                <a:gridCol w="1737360"/>
              </a:tblGrid>
              <a:tr h="47548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Map</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Planned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Normal PID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Full map blind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Full map plus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Double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Warm Up Oval</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23.31</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7.20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Chicane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3.74</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4.28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Hairpin Alley</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5.18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16.27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5.47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Dashed Line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4.29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6.90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Zig Zag</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3.99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10.93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4.17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5.03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Sweepers</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5.58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24.09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2"/>
          <p:cNvSpPr txBox="1"/>
          <p:nvPr/>
        </p:nvSpPr>
        <p:spPr>
          <a:xfrm>
            <a:off x="548640" y="5394960"/>
            <a:ext cx="11064240" cy="640080"/>
          </a:xfrm>
          <a:prstGeom prst="rect">
            <a:avLst/>
          </a:prstGeom>
          <a:noFill/>
          <a:ln/>
        </p:spPr>
        <p:txBody>
          <a:bodyPr wrap="square" lIns="0" tIns="0" rIns="0" bIns="0" rtlCol="0" anchor="t"/>
          <a:lstStyle/>
          <a:p>
            <a:pPr indent="0" marL="0">
              <a:buNone/>
            </a:pPr>
            <a:r>
              <a:rPr lang="en-US" sz="1600" dirty="0">
                <a:solidFill>
                  <a:schemeClr val="tx2"/>
                </a:solidFill>
              </a:rPr>
              <a:t>Blind mode derails on every map. Over 40 noise seeds per map the other three modes finish nearly every run</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3D simulator</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Orbit, look from above or follow the robot</a:t>
            </a:r>
            <a:endParaRPr lang="en-US" sz="1600" dirty="0"/>
          </a:p>
        </p:txBody>
      </p:sp>
      <p:pic>
        <p:nvPicPr>
          <p:cNvPr id="5" name="Image 0" descr="3D simulator view of the Hairpin map">    </p:cNvPr>
          <p:cNvPicPr>
            <a:picLocks noChangeAspect="1"/>
          </p:cNvPicPr>
          <p:nvPr/>
        </p:nvPicPr>
        <p:blipFill>
          <a:blip r:embed="rId1"/>
          <a:stretch>
            <a:fillRect/>
          </a:stretch>
        </p:blipFill>
        <p:spPr>
          <a:xfrm>
            <a:off x="548640" y="1508760"/>
            <a:ext cx="6949440" cy="5401748"/>
          </a:xfrm>
          <a:prstGeom prst="rect">
            <a:avLst/>
          </a:prstGeom>
        </p:spPr>
      </p:pic>
      <p:sp>
        <p:nvSpPr>
          <p:cNvPr id="6" name="Text 2"/>
          <p:cNvSpPr txBox="1"/>
          <p:nvPr/>
        </p:nvSpPr>
        <p:spPr>
          <a:xfrm>
            <a:off x="7955280" y="164592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3D</a:t>
            </a:r>
            <a:endParaRPr lang="en-US" sz="1800" dirty="0"/>
          </a:p>
        </p:txBody>
      </p:sp>
      <p:sp>
        <p:nvSpPr>
          <p:cNvPr id="7" name="Text 3"/>
          <p:cNvSpPr txBox="1"/>
          <p:nvPr/>
        </p:nvSpPr>
        <p:spPr>
          <a:xfrm>
            <a:off x="7955280" y="2057400"/>
            <a:ext cx="3657600" cy="457200"/>
          </a:xfrm>
          <a:prstGeom prst="rect">
            <a:avLst/>
          </a:prstGeom>
          <a:noFill/>
          <a:ln/>
        </p:spPr>
        <p:txBody>
          <a:bodyPr wrap="square" lIns="0" tIns="0" rIns="0" bIns="0" rtlCol="0" anchor="t"/>
          <a:lstStyle/>
          <a:p>
            <a:pPr indent="0" marL="0">
              <a:buNone/>
            </a:pPr>
            <a:r>
              <a:rPr lang="en-US" sz="1500" dirty="0">
                <a:solidFill>
                  <a:schemeClr val="tx2"/>
                </a:solidFill>
              </a:rPr>
              <a:t>Free orbit with drag and scroll</a:t>
            </a:r>
            <a:endParaRPr lang="en-US" sz="1500" dirty="0"/>
          </a:p>
        </p:txBody>
      </p:sp>
      <p:sp>
        <p:nvSpPr>
          <p:cNvPr id="8" name="Text 4"/>
          <p:cNvSpPr txBox="1"/>
          <p:nvPr/>
        </p:nvSpPr>
        <p:spPr>
          <a:xfrm>
            <a:off x="7955280" y="274320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Top</a:t>
            </a:r>
            <a:endParaRPr lang="en-US" sz="1800" dirty="0"/>
          </a:p>
        </p:txBody>
      </p:sp>
      <p:sp>
        <p:nvSpPr>
          <p:cNvPr id="9" name="Text 5"/>
          <p:cNvSpPr txBox="1"/>
          <p:nvPr/>
        </p:nvSpPr>
        <p:spPr>
          <a:xfrm>
            <a:off x="7955280" y="3154680"/>
            <a:ext cx="3657600" cy="457200"/>
          </a:xfrm>
          <a:prstGeom prst="rect">
            <a:avLst/>
          </a:prstGeom>
          <a:noFill/>
          <a:ln/>
        </p:spPr>
        <p:txBody>
          <a:bodyPr wrap="square" lIns="0" tIns="0" rIns="0" bIns="0" rtlCol="0" anchor="t"/>
          <a:lstStyle/>
          <a:p>
            <a:pPr indent="0" marL="0">
              <a:buNone/>
            </a:pPr>
            <a:r>
              <a:rPr lang="en-US" sz="1500" dirty="0">
                <a:solidFill>
                  <a:schemeClr val="tx2"/>
                </a:solidFill>
              </a:rPr>
              <a:t>Orthographic view for measuring</a:t>
            </a:r>
            <a:endParaRPr lang="en-US" sz="1500" dirty="0"/>
          </a:p>
        </p:txBody>
      </p:sp>
      <p:sp>
        <p:nvSpPr>
          <p:cNvPr id="10" name="Text 6"/>
          <p:cNvSpPr txBox="1"/>
          <p:nvPr/>
        </p:nvSpPr>
        <p:spPr>
          <a:xfrm>
            <a:off x="7955280" y="384048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Follow</a:t>
            </a:r>
            <a:endParaRPr lang="en-US" sz="1800" dirty="0"/>
          </a:p>
        </p:txBody>
      </p:sp>
      <p:sp>
        <p:nvSpPr>
          <p:cNvPr id="11" name="Text 7"/>
          <p:cNvSpPr txBox="1"/>
          <p:nvPr/>
        </p:nvSpPr>
        <p:spPr>
          <a:xfrm>
            <a:off x="7955280" y="4251960"/>
            <a:ext cx="3657600" cy="457200"/>
          </a:xfrm>
          <a:prstGeom prst="rect">
            <a:avLst/>
          </a:prstGeom>
          <a:noFill/>
          <a:ln/>
        </p:spPr>
        <p:txBody>
          <a:bodyPr wrap="square" lIns="0" tIns="0" rIns="0" bIns="0" rtlCol="0" anchor="t"/>
          <a:lstStyle/>
          <a:p>
            <a:pPr indent="0" marL="0">
              <a:buNone/>
            </a:pPr>
            <a:r>
              <a:rPr lang="en-US" sz="1500" dirty="0">
                <a:solidFill>
                  <a:schemeClr val="tx2"/>
                </a:solidFill>
              </a:rPr>
              <a:t>Camera behind the robot</a:t>
            </a:r>
            <a:endParaRPr lang="en-US" sz="1500" dirty="0"/>
          </a:p>
        </p:txBody>
      </p:sp>
      <p:sp>
        <p:nvSpPr>
          <p:cNvPr id="12" name="Text 8"/>
          <p:cNvSpPr txBox="1"/>
          <p:nvPr/>
        </p:nvSpPr>
        <p:spPr>
          <a:xfrm>
            <a:off x="7955280" y="493776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Floor dots</a:t>
            </a:r>
            <a:endParaRPr lang="en-US" sz="1800" dirty="0"/>
          </a:p>
        </p:txBody>
      </p:sp>
      <p:sp>
        <p:nvSpPr>
          <p:cNvPr id="13" name="Text 9"/>
          <p:cNvSpPr txBox="1"/>
          <p:nvPr/>
        </p:nvSpPr>
        <p:spPr>
          <a:xfrm>
            <a:off x="7955280" y="5349240"/>
            <a:ext cx="3657600" cy="457200"/>
          </a:xfrm>
          <a:prstGeom prst="rect">
            <a:avLst/>
          </a:prstGeom>
          <a:noFill/>
          <a:ln/>
        </p:spPr>
        <p:txBody>
          <a:bodyPr wrap="square" lIns="0" tIns="0" rIns="0" bIns="0" rtlCol="0" anchor="t"/>
          <a:lstStyle/>
          <a:p>
            <a:pPr indent="0" marL="0">
              <a:buNone/>
            </a:pPr>
            <a:r>
              <a:rPr lang="en-US" sz="1500" dirty="0">
                <a:solidFill>
                  <a:schemeClr val="tx2"/>
                </a:solidFill>
              </a:rPr>
              <a:t>Show what every sensor reads</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How we know it works</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Three layers of testing run on every build</a:t>
            </a:r>
            <a:endParaRPr lang="en-US" sz="1600" dirty="0"/>
          </a:p>
        </p:txBody>
      </p:sp>
      <p:sp>
        <p:nvSpPr>
          <p:cNvPr id="5" name="proof card 1"/>
          <p:cNvSpPr/>
          <p:nvPr/>
        </p:nvSpPr>
        <p:spPr>
          <a:xfrm>
            <a:off x="548640" y="1828800"/>
            <a:ext cx="3566160" cy="3474720"/>
          </a:xfrm>
          <a:prstGeom prst="rect">
            <a:avLst/>
          </a:prstGeom>
          <a:solidFill>
            <a:schemeClr val="bg2"/>
          </a:solidFill>
          <a:ln w="9525">
            <a:solidFill>
              <a:schemeClr val="accent5"/>
            </a:solidFill>
            <a:prstDash val="solid"/>
          </a:ln>
        </p:spPr>
      </p:sp>
      <p:sp>
        <p:nvSpPr>
          <p:cNvPr id="6" name="proof number 1"/>
          <p:cNvSpPr txBox="1"/>
          <p:nvPr/>
        </p:nvSpPr>
        <p:spPr>
          <a:xfrm>
            <a:off x="82296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2436</a:t>
            </a:r>
            <a:endParaRPr lang="en-US" sz="6000" dirty="0"/>
          </a:p>
        </p:txBody>
      </p:sp>
      <p:sp>
        <p:nvSpPr>
          <p:cNvPr id="7" name="proof heading 1"/>
          <p:cNvSpPr txBox="1"/>
          <p:nvPr/>
        </p:nvSpPr>
        <p:spPr>
          <a:xfrm>
            <a:off x="82296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checks on the laptop</a:t>
            </a:r>
            <a:endParaRPr lang="en-US" sz="2000" dirty="0"/>
          </a:p>
        </p:txBody>
      </p:sp>
      <p:sp>
        <p:nvSpPr>
          <p:cNvPr id="8" name="proof text 1"/>
          <p:cNvSpPr txBox="1"/>
          <p:nvPr/>
        </p:nvSpPr>
        <p:spPr>
          <a:xfrm>
            <a:off x="82296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Maths, planner, grip, every map and mode</a:t>
            </a:r>
            <a:endParaRPr lang="en-US" sz="1500" dirty="0"/>
          </a:p>
        </p:txBody>
      </p:sp>
      <p:sp>
        <p:nvSpPr>
          <p:cNvPr id="9" name="proof card 2"/>
          <p:cNvSpPr/>
          <p:nvPr/>
        </p:nvSpPr>
        <p:spPr>
          <a:xfrm>
            <a:off x="4343400" y="1828800"/>
            <a:ext cx="3566160" cy="3474720"/>
          </a:xfrm>
          <a:prstGeom prst="rect">
            <a:avLst/>
          </a:prstGeom>
          <a:solidFill>
            <a:schemeClr val="bg2"/>
          </a:solidFill>
          <a:ln w="9525">
            <a:solidFill>
              <a:schemeClr val="accent5"/>
            </a:solidFill>
            <a:prstDash val="solid"/>
          </a:ln>
        </p:spPr>
      </p:sp>
      <p:sp>
        <p:nvSpPr>
          <p:cNvPr id="10" name="proof number 2"/>
          <p:cNvSpPr txBox="1"/>
          <p:nvPr/>
        </p:nvSpPr>
        <p:spPr>
          <a:xfrm>
            <a:off x="461772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1</a:t>
            </a:r>
            <a:endParaRPr lang="en-US" sz="6000" dirty="0"/>
          </a:p>
        </p:txBody>
      </p:sp>
      <p:sp>
        <p:nvSpPr>
          <p:cNvPr id="11" name="proof heading 2"/>
          <p:cNvSpPr txBox="1"/>
          <p:nvPr/>
        </p:nvSpPr>
        <p:spPr>
          <a:xfrm>
            <a:off x="461772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hardware loop test</a:t>
            </a:r>
            <a:endParaRPr lang="en-US" sz="2000" dirty="0"/>
          </a:p>
        </p:txBody>
      </p:sp>
      <p:sp>
        <p:nvSpPr>
          <p:cNvPr id="12" name="proof text 2"/>
          <p:cNvSpPr txBox="1"/>
          <p:nvPr/>
        </p:nvSpPr>
        <p:spPr>
          <a:xfrm>
            <a:off x="461772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The real Arduino sketch drives the simulated robot</a:t>
            </a:r>
            <a:endParaRPr lang="en-US" sz="1500" dirty="0"/>
          </a:p>
        </p:txBody>
      </p:sp>
      <p:sp>
        <p:nvSpPr>
          <p:cNvPr id="13" name="proof card 3"/>
          <p:cNvSpPr/>
          <p:nvPr/>
        </p:nvSpPr>
        <p:spPr>
          <a:xfrm>
            <a:off x="8138160" y="1828800"/>
            <a:ext cx="3566160" cy="3474720"/>
          </a:xfrm>
          <a:prstGeom prst="rect">
            <a:avLst/>
          </a:prstGeom>
          <a:solidFill>
            <a:schemeClr val="bg2"/>
          </a:solidFill>
          <a:ln w="9525">
            <a:solidFill>
              <a:schemeClr val="accent5"/>
            </a:solidFill>
            <a:prstDash val="solid"/>
          </a:ln>
        </p:spPr>
      </p:sp>
      <p:sp>
        <p:nvSpPr>
          <p:cNvPr id="14" name="proof number 3"/>
          <p:cNvSpPr txBox="1"/>
          <p:nvPr/>
        </p:nvSpPr>
        <p:spPr>
          <a:xfrm>
            <a:off x="8412480" y="2103120"/>
            <a:ext cx="301752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40</a:t>
            </a:r>
            <a:endParaRPr lang="en-US" sz="6000" dirty="0"/>
          </a:p>
        </p:txBody>
      </p:sp>
      <p:sp>
        <p:nvSpPr>
          <p:cNvPr id="15" name="proof heading 3"/>
          <p:cNvSpPr txBox="1"/>
          <p:nvPr/>
        </p:nvSpPr>
        <p:spPr>
          <a:xfrm>
            <a:off x="8412480" y="3291840"/>
            <a:ext cx="30175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noise seeds per map</a:t>
            </a:r>
            <a:endParaRPr lang="en-US" sz="2000" dirty="0"/>
          </a:p>
        </p:txBody>
      </p:sp>
      <p:sp>
        <p:nvSpPr>
          <p:cNvPr id="16" name="proof text 3"/>
          <p:cNvSpPr txBox="1"/>
          <p:nvPr/>
        </p:nvSpPr>
        <p:spPr>
          <a:xfrm>
            <a:off x="8412480" y="3840480"/>
            <a:ext cx="3017520" cy="1280160"/>
          </a:xfrm>
          <a:prstGeom prst="rect">
            <a:avLst/>
          </a:prstGeom>
          <a:noFill/>
          <a:ln/>
        </p:spPr>
        <p:txBody>
          <a:bodyPr wrap="square" lIns="0" tIns="0" rIns="0" bIns="0" rtlCol="0" anchor="t"/>
          <a:lstStyle/>
          <a:p>
            <a:pPr indent="0" marL="0">
              <a:buNone/>
            </a:pPr>
            <a:r>
              <a:rPr lang="en-US" sz="1500" dirty="0">
                <a:solidFill>
                  <a:schemeClr val="tx2"/>
                </a:solidFill>
              </a:rPr>
              <a:t>Same robot with different random sensor noise</a:t>
            </a:r>
            <a:endParaRPr lang="en-US" sz="1500" dirty="0"/>
          </a:p>
        </p:txBody>
      </p:sp>
      <p:sp>
        <p:nvSpPr>
          <p:cNvPr id="17" name="Text 14"/>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800" b="1" dirty="0">
                <a:solidFill>
                  <a:schemeClr val="tx1"/>
                </a:solidFill>
              </a:rPr>
              <a:t>All checks pass today</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What is estimated and what comes next</a:t>
            </a: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simulator is only as good as the numbers we feed it</a:t>
            </a:r>
            <a:endParaRPr lang="en-US" sz="1600" dirty="0"/>
          </a:p>
        </p:txBody>
      </p:sp>
      <p:sp>
        <p:nvSpPr>
          <p:cNvPr id="5" name="limits card"/>
          <p:cNvSpPr/>
          <p:nvPr/>
        </p:nvSpPr>
        <p:spPr>
          <a:xfrm>
            <a:off x="548640" y="1645920"/>
            <a:ext cx="5440680" cy="3291840"/>
          </a:xfrm>
          <a:prstGeom prst="rect">
            <a:avLst/>
          </a:prstGeom>
          <a:solidFill>
            <a:schemeClr val="bg2"/>
          </a:solidFill>
          <a:ln w="9525">
            <a:solidFill>
              <a:schemeClr val="accent5"/>
            </a:solidFill>
            <a:prstDash val="solid"/>
          </a:ln>
        </p:spPr>
      </p:sp>
      <p:sp>
        <p:nvSpPr>
          <p:cNvPr id="6" name="limits heading"/>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Still estimated</a:t>
            </a:r>
            <a:endParaRPr lang="en-US" sz="1800" dirty="0"/>
          </a:p>
        </p:txBody>
      </p:sp>
      <p:sp>
        <p:nvSpPr>
          <p:cNvPr id="7" name="limits text"/>
          <p:cNvSpPr txBox="1"/>
          <p:nvPr/>
        </p:nvSpPr>
        <p:spPr>
          <a:xfrm>
            <a:off x="777240" y="2331720"/>
            <a:ext cx="4983480" cy="2423160"/>
          </a:xfrm>
          <a:prstGeom prst="rect">
            <a:avLst/>
          </a:prstGeom>
          <a:noFill/>
          <a:ln/>
        </p:spPr>
        <p:txBody>
          <a:bodyPr wrap="square" lIns="0" tIns="0" rIns="0" bIns="0" rtlCol="0" anchor="t"/>
          <a:lstStyle/>
          <a:p>
            <a:pPr indent="0" marL="0">
              <a:spcAft>
                <a:spcPts val="800"/>
              </a:spcAft>
              <a:buNone/>
            </a:pPr>
            <a:r>
              <a:rPr lang="en-US" sz="1800" dirty="0">
                <a:solidFill>
                  <a:schemeClr val="tx2"/>
                </a:solidFill>
              </a:rPr>
              <a:t>Tyre friction and motor strength</a:t>
            </a:r>
            <a:endParaRPr lang="en-US" sz="1800" dirty="0"/>
          </a:p>
          <a:p>
            <a:pPr indent="0" marL="0">
              <a:spcAft>
                <a:spcPts val="800"/>
              </a:spcAft>
              <a:buNone/>
            </a:pPr>
            <a:r>
              <a:rPr lang="en-US" sz="1800" dirty="0">
                <a:solidFill>
                  <a:schemeClr val="tx2"/>
                </a:solidFill>
              </a:rPr>
              <a:t>Grip limit of 1.6 and speed cap of 0.4</a:t>
            </a:r>
            <a:endParaRPr lang="en-US" sz="1800" dirty="0"/>
          </a:p>
          <a:p>
            <a:pPr indent="0" marL="0">
              <a:spcAft>
                <a:spcPts val="800"/>
              </a:spcAft>
              <a:buNone/>
            </a:pPr>
            <a:r>
              <a:rPr lang="en-US" sz="1800" dirty="0">
                <a:solidFill>
                  <a:schemeClr val="tx2"/>
                </a:solidFill>
              </a:rPr>
              <a:t>Part masses and the yaw inertia gap</a:t>
            </a:r>
            <a:endParaRPr lang="en-US" sz="1800" dirty="0"/>
          </a:p>
          <a:p>
            <a:pPr indent="0" marL="0">
              <a:spcAft>
                <a:spcPts val="800"/>
              </a:spcAft>
              <a:buNone/>
            </a:pPr>
            <a:r>
              <a:rPr lang="en-US" sz="1800" dirty="0">
                <a:solidFill>
                  <a:schemeClr val="tx2"/>
                </a:solidFill>
              </a:rPr>
              <a:t>Encoder resolution of 20 counts</a:t>
            </a:r>
            <a:endParaRPr lang="en-US" sz="1800" dirty="0"/>
          </a:p>
          <a:p>
            <a:pPr indent="0" marL="0">
              <a:spcAft>
                <a:spcPts val="800"/>
              </a:spcAft>
              <a:buNone/>
            </a:pPr>
            <a:r>
              <a:rPr lang="en-US" sz="1800" dirty="0">
                <a:solidFill>
                  <a:schemeClr val="tx2"/>
                </a:solidFill>
              </a:rPr>
              <a:t>The line follower card is a dummy</a:t>
            </a:r>
            <a:endParaRPr lang="en-US" sz="1800" dirty="0"/>
          </a:p>
        </p:txBody>
      </p:sp>
      <p:sp>
        <p:nvSpPr>
          <p:cNvPr id="8" name="next card"/>
          <p:cNvSpPr/>
          <p:nvPr/>
        </p:nvSpPr>
        <p:spPr>
          <a:xfrm>
            <a:off x="6172200" y="1645920"/>
            <a:ext cx="5440680" cy="3291840"/>
          </a:xfrm>
          <a:prstGeom prst="rect">
            <a:avLst/>
          </a:prstGeom>
          <a:solidFill>
            <a:schemeClr val="bg2"/>
          </a:solidFill>
          <a:ln w="9525">
            <a:solidFill>
              <a:schemeClr val="accent5"/>
            </a:solidFill>
            <a:prstDash val="solid"/>
          </a:ln>
        </p:spPr>
      </p:sp>
      <p:sp>
        <p:nvSpPr>
          <p:cNvPr id="9" name="next heading"/>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Next steps</a:t>
            </a:r>
            <a:endParaRPr lang="en-US" sz="1800" dirty="0"/>
          </a:p>
        </p:txBody>
      </p:sp>
      <p:sp>
        <p:nvSpPr>
          <p:cNvPr id="10" name="next text"/>
          <p:cNvSpPr txBox="1"/>
          <p:nvPr/>
        </p:nvSpPr>
        <p:spPr>
          <a:xfrm>
            <a:off x="6400800" y="2331720"/>
            <a:ext cx="4983480" cy="2423160"/>
          </a:xfrm>
          <a:prstGeom prst="rect">
            <a:avLst/>
          </a:prstGeom>
          <a:noFill/>
          <a:ln/>
        </p:spPr>
        <p:txBody>
          <a:bodyPr wrap="square" lIns="0" tIns="0" rIns="0" bIns="0" rtlCol="0" anchor="t"/>
          <a:lstStyle/>
          <a:p>
            <a:pPr indent="0" marL="0">
              <a:spcAft>
                <a:spcPts val="800"/>
              </a:spcAft>
              <a:buNone/>
            </a:pPr>
            <a:r>
              <a:rPr lang="en-US" sz="1800" dirty="0">
                <a:solidFill>
                  <a:schemeClr val="tx2"/>
                </a:solidFill>
              </a:rPr>
              <a:t>Weigh the real parts and update the inertia</a:t>
            </a:r>
            <a:endParaRPr lang="en-US" sz="1800" dirty="0"/>
          </a:p>
          <a:p>
            <a:pPr indent="0" marL="0">
              <a:spcAft>
                <a:spcPts val="800"/>
              </a:spcAft>
              <a:buNone/>
            </a:pPr>
            <a:r>
              <a:rPr lang="en-US" sz="1800" dirty="0">
                <a:solidFill>
                  <a:schemeClr val="tx2"/>
                </a:solidFill>
              </a:rPr>
              <a:t>Choose and wire the encoders</a:t>
            </a:r>
            <a:endParaRPr lang="en-US" sz="1800" dirty="0"/>
          </a:p>
          <a:p>
            <a:pPr indent="0" marL="0">
              <a:spcAft>
                <a:spcPts val="800"/>
              </a:spcAft>
              <a:buNone/>
            </a:pPr>
            <a:r>
              <a:rPr lang="en-US" sz="1800" dirty="0">
                <a:solidFill>
                  <a:schemeClr val="tx2"/>
                </a:solidFill>
              </a:rPr>
              <a:t>Add the rear sensor row to the hardware layer</a:t>
            </a:r>
            <a:endParaRPr lang="en-US" sz="1800" dirty="0"/>
          </a:p>
          <a:p>
            <a:pPr indent="0" marL="0">
              <a:spcAft>
                <a:spcPts val="800"/>
              </a:spcAft>
              <a:buNone/>
            </a:pPr>
            <a:r>
              <a:rPr lang="en-US" sz="1800" dirty="0">
                <a:solidFill>
                  <a:schemeClr val="tx2"/>
                </a:solidFill>
              </a:rPr>
              <a:t>Drive the real robot and fit the physics to it</a:t>
            </a:r>
            <a:endParaRPr lang="en-US" sz="1800" dirty="0"/>
          </a:p>
          <a:p>
            <a:pPr indent="0" marL="0">
              <a:spcAft>
                <a:spcPts val="800"/>
              </a:spcAft>
              <a:buNone/>
            </a:pPr>
            <a:r>
              <a:rPr lang="en-US" sz="1800" dirty="0">
                <a:solidFill>
                  <a:schemeClr val="tx2"/>
                </a:solidFill>
              </a:rPr>
              <a:t>Retune the controllers from the real data</a:t>
            </a:r>
            <a:endParaRPr lang="en-US" sz="18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ono Blueprint">
  <a:themeElements>
    <a:clrScheme name="Mono Blueprint">
      <a:dk1>
        <a:srgbClr val="111111"/>
      </a:dk1>
      <a:lt1>
        <a:srgbClr val="FFFFFF"/>
      </a:lt1>
      <a:dk2>
        <a:srgbClr val="444444"/>
      </a:dk2>
      <a:lt2>
        <a:srgbClr val="F3F3F3"/>
      </a:lt2>
      <a:accent1>
        <a:srgbClr val="111111"/>
      </a:accent1>
      <a:accent2>
        <a:srgbClr val="6B6B6B"/>
      </a:accent2>
      <a:accent3>
        <a:srgbClr val="9A9A9A"/>
      </a:accent3>
      <a:accent4>
        <a:srgbClr val="BDBDBD"/>
      </a:accent4>
      <a:accent5>
        <a:srgbClr val="D9D9D9"/>
      </a:accent5>
      <a:accent6>
        <a:srgbClr val="444444"/>
      </a:accent6>
      <a:hlink>
        <a:srgbClr val="111111"/>
      </a:hlink>
      <a:folHlink>
        <a:srgbClr val="6B6B6B"/>
      </a:folHlink>
    </a:clrScheme>
    <a:fontScheme name="Mono Bluepri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robot: the blueprint</dc:title>
  <dc:subject>PptxGenJS Presentation</dc:subject>
  <dc:creator>PptxGenJS</dc:creator>
  <cp:lastModifiedBy>PptxGenJS</cp:lastModifiedBy>
  <cp:revision>1</cp:revision>
  <dcterms:created xsi:type="dcterms:W3CDTF">2026-10-14T18:22:54Z</dcterms:created>
  <dcterms:modified xsi:type="dcterms:W3CDTF">2026-10-14T18:22:54Z</dcterms:modified>
</cp:coreProperties>
</file>