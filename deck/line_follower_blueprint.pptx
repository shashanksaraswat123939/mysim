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s/slide12.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ineChart>
        <c:grouping val="standard"/>
        <c:varyColors val="0"/>
        <c:ser>
          <c:idx val="0"/>
          <c:order val="0"/>
          <c:tx>
            <c:strRef>
              <c:f>label 0</c:f>
              <c:strCache>
                <c:ptCount val="1"/>
                <c:pt idx="0">
                  <c:v>Map boards</c:v>
                </c:pt>
              </c:strCache>
            </c:strRef>
          </c:tx>
          <c:spPr>
            <a:solidFill>
              <a:srgbClr val="111111"/>
            </a:solidFill>
            <a:ln w="38160">
              <a:solidFill>
                <a:srgbClr val="111111"/>
              </a:solidFill>
              <a:round/>
            </a:ln>
          </c:spPr>
          <c:marker>
            <c:symbol val="circle"/>
            <c:size val="8"/>
            <c:spPr>
              <a:solidFill>
                <a:srgbClr val="111111"/>
              </a:solidFill>
            </c:spPr>
          </c:marker>
          <c:dLbls>
            <c:txPr>
              <a:bodyPr wrap="square"/>
              <a:lstStyle/>
              <a:p>
                <a:pPr>
                  <a:defRPr sz="1200" b="0" u="none" strike="noStrike">
                    <a:solidFill>
                      <a:srgbClr val="000000"/>
                    </a:solidFill>
                    <a:uFillTx/>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7"/>
                <c:pt idx="0">
                  <c:v>5 cm</c:v>
                </c:pt>
                <c:pt idx="1">
                  <c:v>10 cm</c:v>
                </c:pt>
                <c:pt idx="2">
                  <c:v>15 cm</c:v>
                </c:pt>
                <c:pt idx="3">
                  <c:v>25 cm</c:v>
                </c:pt>
                <c:pt idx="4">
                  <c:v>40 cm</c:v>
                </c:pt>
                <c:pt idx="5">
                  <c:v>60 cm</c:v>
                </c:pt>
                <c:pt idx="6">
                  <c:v>100 cm</c:v>
                </c:pt>
              </c:strCache>
            </c:strRef>
          </c:cat>
          <c:val>
            <c:numRef>
              <c:f>0</c:f>
              <c:numCache>
                <c:formatCode>General</c:formatCode>
                <c:ptCount val="7"/>
                <c:pt idx="0">
                  <c:v>0.27</c:v>
                </c:pt>
                <c:pt idx="1">
                  <c:v>0.39</c:v>
                </c:pt>
                <c:pt idx="2">
                  <c:v>0.47</c:v>
                </c:pt>
                <c:pt idx="3">
                  <c:v>0.61</c:v>
                </c:pt>
                <c:pt idx="4">
                  <c:v>0.77</c:v>
                </c:pt>
                <c:pt idx="5">
                  <c:v>0.95</c:v>
                </c:pt>
                <c:pt idx="6">
                  <c:v>1</c:v>
                </c:pt>
              </c:numCache>
            </c:numRef>
          </c:val>
          <c:smooth val="0"/>
        </c:ser>
        <c:ser>
          <c:idx val="1"/>
          <c:order val="1"/>
          <c:tx>
            <c:strRef>
              <c:f>label 1</c:f>
              <c:strCache>
                <c:ptCount val="1"/>
                <c:pt idx="0">
                  <c:v>Double IR board</c:v>
                </c:pt>
              </c:strCache>
            </c:strRef>
          </c:tx>
          <c:spPr>
            <a:solidFill>
              <a:srgbClr val="9A9A9A"/>
            </a:solidFill>
            <a:ln w="38160">
              <a:solidFill>
                <a:srgbClr val="9A9A9A"/>
              </a:solidFill>
              <a:round/>
            </a:ln>
          </c:spPr>
          <c:marker>
            <c:symbol val="circle"/>
            <c:size val="8"/>
            <c:spPr>
              <a:solidFill>
                <a:srgbClr val="9A9A9A"/>
              </a:solidFill>
            </c:spPr>
          </c:marker>
          <c:dLbls>
            <c:txPr>
              <a:bodyPr wrap="square"/>
              <a:lstStyle/>
              <a:p>
                <a:pPr>
                  <a:defRPr sz="1200" b="0" u="none" strike="noStrike">
                    <a:solidFill>
                      <a:srgbClr val="000000"/>
                    </a:solidFill>
                    <a:uFillTx/>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7"/>
                <c:pt idx="0">
                  <c:v>5 cm</c:v>
                </c:pt>
                <c:pt idx="1">
                  <c:v>10 cm</c:v>
                </c:pt>
                <c:pt idx="2">
                  <c:v>15 cm</c:v>
                </c:pt>
                <c:pt idx="3">
                  <c:v>25 cm</c:v>
                </c:pt>
                <c:pt idx="4">
                  <c:v>40 cm</c:v>
                </c:pt>
                <c:pt idx="5">
                  <c:v>60 cm</c:v>
                </c:pt>
                <c:pt idx="6">
                  <c:v>100 cm</c:v>
                </c:pt>
              </c:strCache>
            </c:strRef>
          </c:cat>
          <c:val>
            <c:numRef>
              <c:f>1</c:f>
              <c:numCache>
                <c:formatCode>General</c:formatCode>
                <c:ptCount val="7"/>
                <c:pt idx="0">
                  <c:v>0.28</c:v>
                </c:pt>
                <c:pt idx="1">
                  <c:v>0.4</c:v>
                </c:pt>
                <c:pt idx="2">
                  <c:v>0.4</c:v>
                </c:pt>
                <c:pt idx="3">
                  <c:v>0.4</c:v>
                </c:pt>
                <c:pt idx="4">
                  <c:v>0.4</c:v>
                </c:pt>
                <c:pt idx="5">
                  <c:v>0.4</c:v>
                </c:pt>
                <c:pt idx="6">
                  <c:v>0.4</c:v>
                </c:pt>
              </c:numCache>
            </c:numRef>
          </c:val>
          <c:smooth val="0"/>
        </c:ser>
        <c:hiLowLines>
          <c:spPr>
            <a:ln w="0">
              <a:noFill/>
            </a:ln>
          </c:spPr>
        </c:hiLowLines>
        <c:marker val="1"/>
        <c:axId val="24826253"/>
        <c:axId val="20242639"/>
      </c:lineChart>
      <c:catAx>
        <c:axId val="24826253"/>
        <c:scaling>
          <c:orientation val="minMax"/>
        </c:scaling>
        <c:delete val="0"/>
        <c:axPos val="b"/>
        <c:title>
          <c:tx>
            <c:rich>
              <a:bodyPr rot="0"/>
              <a:lstStyle/>
              <a:p>
                <a:pPr>
                  <a:defRPr sz="1300" b="0" u="none" strike="noStrike">
                    <a:solidFill>
                      <a:srgbClr val="000000"/>
                    </a:solidFill>
                    <a:uFillTx/>
                    <a:latin typeface="Arial"/>
                  </a:defRPr>
                </a:pPr>
                <a:r>
                  <a:rPr sz="1300" b="0" u="none" strike="noStrike">
                    <a:solidFill>
                      <a:srgbClr val="444444"/>
                    </a:solidFill>
                    <a:uFillTx/>
                    <a:latin typeface="Arial"/>
                  </a:rPr>
                  <a:t>Radius of the bend</a:t>
                </a:r>
              </a:p>
            </c:rich>
          </c:tx>
          <c:overlay val="0"/>
          <c:spPr>
            <a:noFill/>
            <a:ln w="0">
              <a:noFill/>
            </a:ln>
          </c:spPr>
        </c:title>
        <c:numFmt formatCode="General" sourceLinked="0"/>
        <c:majorTickMark val="out"/>
        <c:minorTickMark val="none"/>
        <c:tickLblPos val="low"/>
        <c:spPr>
          <a:ln w="12600">
            <a:solidFill>
              <a:srgbClr val="888888"/>
            </a:solidFill>
            <a:round/>
          </a:ln>
        </c:spPr>
        <c:txPr>
          <a:bodyPr/>
          <a:lstStyle/>
          <a:p>
            <a:pPr>
              <a:defRPr sz="1300" b="0" u="none" strike="noStrike">
                <a:solidFill>
                  <a:srgbClr val="444444"/>
                </a:solidFill>
                <a:uFillTx/>
                <a:latin typeface="Calibri"/>
              </a:defRPr>
            </a:pPr>
          </a:p>
        </c:txPr>
        <c:crossAx val="20242639"/>
        <c:crosses val="autoZero"/>
        <c:auto val="1"/>
        <c:lblAlgn val="ctr"/>
        <c:lblOffset val="100"/>
        <c:noMultiLvlLbl val="0"/>
      </c:catAx>
      <c:valAx>
        <c:axId val="20242639"/>
        <c:scaling>
          <c:orientation val="minMax"/>
          <c:max val="1.1"/>
          <c:min val="0"/>
        </c:scaling>
        <c:delete val="0"/>
        <c:axPos val="l"/>
        <c:majorGridlines>
          <c:spPr>
            <a:ln w="6480">
              <a:solidFill>
                <a:srgbClr val="D9D9D9"/>
              </a:solidFill>
              <a:round/>
            </a:ln>
          </c:spPr>
        </c:majorGridlines>
        <c:title>
          <c:tx>
            <c:rich>
              <a:bodyPr rot="-5400000"/>
              <a:lstStyle/>
              <a:p>
                <a:pPr>
                  <a:defRPr sz="1300" b="0" u="none" strike="noStrike">
                    <a:solidFill>
                      <a:srgbClr val="000000"/>
                    </a:solidFill>
                    <a:uFillTx/>
                    <a:latin typeface="Arial"/>
                  </a:defRPr>
                </a:pPr>
                <a:r>
                  <a:rPr sz="1300" b="0" u="none" strike="noStrike">
                    <a:solidFill>
                      <a:srgbClr val="444444"/>
                    </a:solidFill>
                    <a:uFillTx/>
                    <a:latin typeface="Arial"/>
                  </a:rPr>
                  <a:t>Safe speed (m/s)</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sz="1300" b="0" u="none" strike="noStrike">
                <a:solidFill>
                  <a:srgbClr val="444444"/>
                </a:solidFill>
                <a:uFillTx/>
                <a:latin typeface="Calibri"/>
              </a:defRPr>
            </a:pPr>
          </a:p>
        </c:txPr>
        <c:crossAx val="24826253"/>
        <c:crosses val="autoZero"/>
        <c:crossBetween val="between"/>
      </c:valAx>
      <c:spPr>
        <a:noFill/>
        <a:ln w="0">
          <a:noFill/>
        </a:ln>
      </c:spPr>
    </c:plotArea>
    <c:legend>
      <c:legendPos val="b"/>
      <c:overlay val="0"/>
      <c:spPr>
        <a:noFill/>
        <a:ln w="0">
          <a:noFill/>
        </a:ln>
      </c:spPr>
      <c:txPr>
        <a:bodyPr/>
        <a:lstStyle/>
        <a:p>
          <a:pPr>
            <a:defRPr sz="1300" b="0" u="none" strike="noStrike">
              <a:solidFill>
                <a:srgbClr val="444444"/>
              </a:solidFill>
              <a:uFillTx/>
              <a:latin typeface="Calibri"/>
            </a:defRPr>
          </a:pPr>
        </a:p>
      </c:txPr>
    </c:legend>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73CE7A9-6E65-480E-A561-48E2AC13353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Hello. Our project is a line follower robot. It drives along a black line on the floor. We built the brain for it in C plus plus, a simulator that shows how it drives, and a set of engineering drawings. Today we will show you the idea, the four ways the robot can drive, the engineering behind it, and why we think it matters.</a:t>
            </a:r>
            <a:endParaRPr lang="en-US" sz="2000" b="0" u="none" strike="noStrike">
              <a:solidFill>
                <a:srgbClr val="000000"/>
              </a:solidFill>
              <a:effectLst/>
              <a:uFillTx/>
              <a:latin typeface="Arial"/>
            </a:endParaRPr>
          </a:p>
        </p:txBody>
      </p:sp>
      <p:sp>
        <p:nvSpPr>
          <p:cNvPr id="226"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ED70CC5-62A4-495D-BD5A-D15F0A59349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big idea is simple. A robot follows a line. We wanted to find out how much a robot can do with a map, and how much it can do with only its sensors. So we built four ways to drive, and we compare them fairly.</a:t>
            </a:r>
            <a:endParaRPr lang="en-US" sz="2000" b="0" u="none" strike="noStrike">
              <a:solidFill>
                <a:srgbClr val="000000"/>
              </a:solidFill>
              <a:effectLst/>
              <a:uFillTx/>
              <a:latin typeface="Arial"/>
            </a:endParaRPr>
          </a:p>
        </p:txBody>
      </p:sp>
      <p:sp>
        <p:nvSpPr>
          <p:cNvPr id="229"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EA6125-A3F9-4019-8809-A5B42113ED0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Most student projects write code for the robot, then test it by driving the robot. We did two things differently. First, the simulator uses the same C plus plus as the robot, so there is no gap between what we see and what the robot does. Second, we measure the things a real robot would struggle with, like grip, slip and sensor noise.</a:t>
            </a:r>
            <a:endParaRPr lang="en-US" sz="2000" b="0" u="none" strike="noStrike">
              <a:solidFill>
                <a:srgbClr val="000000"/>
              </a:solidFill>
              <a:effectLst/>
              <a:uFillTx/>
              <a:latin typeface="Arial"/>
            </a:endParaRPr>
          </a:p>
        </p:txBody>
      </p:sp>
      <p:sp>
        <p:nvSpPr>
          <p:cNvPr id="232"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6107E2-A5A1-4031-9E70-9E2D9C87111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Read this from left to right. The sensors see the black line. The brain turns that into a steering decision. The motors turn the wheels. The wheel counters tell the brain how fast each wheel is turning. A map, when we use one, tells the brain how fast to go at every point.</a:t>
            </a:r>
            <a:endParaRPr lang="en-US" sz="2000" b="0" u="none" strike="noStrike">
              <a:solidFill>
                <a:srgbClr val="000000"/>
              </a:solidFill>
              <a:effectLst/>
              <a:uFillTx/>
              <a:latin typeface="Arial"/>
            </a:endParaRPr>
          </a:p>
        </p:txBody>
      </p:sp>
      <p:sp>
        <p:nvSpPr>
          <p:cNvPr id="235"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6C4832-A06D-491C-9FF6-535F785ECFF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Think of these as four boards that we can switch between. The first uses only sensors. The second uses only the map. The third uses the map and the sensors together. The fourth reads the shape of the curve as it drives. We will go through each one in detail.</a:t>
            </a:r>
            <a:endParaRPr lang="en-US" sz="2000" b="0" u="none" strike="noStrike">
              <a:solidFill>
                <a:srgbClr val="000000"/>
              </a:solidFill>
              <a:effectLst/>
              <a:uFillTx/>
              <a:latin typeface="Arial"/>
            </a:endParaRPr>
          </a:p>
        </p:txBody>
      </p:sp>
      <p:sp>
        <p:nvSpPr>
          <p:cNvPr id="238"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99152E-FD8A-46F2-B668-F541610C459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baseline. Every other board must beat it to be worth using.</a:t>
            </a:r>
            <a:endParaRPr lang="en-US" sz="2000" b="0" u="none" strike="noStrike">
              <a:solidFill>
                <a:srgbClr val="000000"/>
              </a:solidFill>
              <a:effectLst/>
              <a:uFillTx/>
              <a:latin typeface="Arial"/>
            </a:endParaRPr>
          </a:p>
        </p:txBody>
      </p:sp>
      <p:sp>
        <p:nvSpPr>
          <p:cNvPr id="241"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83B1BE7-37EB-4B04-8EF0-CE18F3CAEFE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shows why sensors matter. A perfect plan is not enough, because the real robot never follows a perfect path.</a:t>
            </a:r>
            <a:endParaRPr lang="en-US" sz="2000" b="0" u="none" strike="noStrike">
              <a:solidFill>
                <a:srgbClr val="000000"/>
              </a:solidFill>
              <a:effectLst/>
              <a:uFillTx/>
              <a:latin typeface="Arial"/>
            </a:endParaRPr>
          </a:p>
        </p:txBody>
      </p:sp>
      <p:sp>
        <p:nvSpPr>
          <p:cNvPr id="244"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7394C5-40AC-4AA0-9CB0-1F81D3A33C2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best of both: the map gives the speed, and the sensors keep the robot honest.</a:t>
            </a:r>
            <a:endParaRPr lang="en-US" sz="2000" b="0" u="none" strike="noStrike">
              <a:solidFill>
                <a:srgbClr val="000000"/>
              </a:solidFill>
              <a:effectLst/>
              <a:uFillTx/>
              <a:latin typeface="Arial"/>
            </a:endParaRPr>
          </a:p>
        </p:txBody>
      </p:sp>
      <p:sp>
        <p:nvSpPr>
          <p:cNvPr id="247"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E3D166-AB53-4F6F-A58C-AAEA9D27444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most interesting board for the real world. A robot that can read a bend without a map can work in places nobody has mapped.</a:t>
            </a:r>
            <a:endParaRPr lang="en-US" sz="2000" b="0" u="none" strike="noStrike">
              <a:solidFill>
                <a:srgbClr val="000000"/>
              </a:solidFill>
              <a:effectLst/>
              <a:uFillTx/>
              <a:latin typeface="Arial"/>
            </a:endParaRPr>
          </a:p>
        </p:txBody>
      </p:sp>
      <p:sp>
        <p:nvSpPr>
          <p:cNvPr id="250"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4B34008-6553-4698-9806-BDA03B7B4D0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Times are in seconds, from the start to the end of each track. A dash in a box means the robot derailed. The first column is the time the racing plan expects for a perfect run. The best time in each row is the fastest finished lap on that track.</a:t>
            </a:r>
            <a:endParaRPr lang="en-US" sz="2000" b="0" u="none" strike="noStrike">
              <a:solidFill>
                <a:srgbClr val="000000"/>
              </a:solidFill>
              <a:effectLst/>
              <a:uFillTx/>
              <a:latin typeface="Arial"/>
            </a:endParaRPr>
          </a:p>
        </p:txBody>
      </p:sp>
      <p:sp>
        <p:nvSpPr>
          <p:cNvPr id="253"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461D67-DE17-4CC5-9365-F111CD5ED90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6040" cy="3085920"/>
          </a:xfrm>
          <a:prstGeom prst="rect">
            <a:avLst/>
          </a:prstGeom>
          <a:ln w="0">
            <a:noFill/>
          </a:ln>
        </p:spPr>
      </p:sp>
      <p:sp>
        <p:nvSpPr>
          <p:cNvPr id="2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drawing shows the robot from above, from the front, and from the side. The two wheels are 90 millimetres apart. The sensor bar sits 40 millimetres ahead of the wheels, so the robot sees the line before it reaches it. The rear sensor bar is for the Double IR board.</a:t>
            </a:r>
            <a:endParaRPr lang="en-US" sz="2000" b="0" u="none" strike="noStrike">
              <a:solidFill>
                <a:srgbClr val="000000"/>
              </a:solidFill>
              <a:effectLst/>
              <a:uFillTx/>
              <a:latin typeface="Arial"/>
            </a:endParaRPr>
          </a:p>
        </p:txBody>
      </p:sp>
      <p:sp>
        <p:nvSpPr>
          <p:cNvPr id="256"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E51676-D741-45D8-8C77-7E0E8CA5FF1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Each sensor reports light or dark. The robot takes all five readings and works out the centre of the dark part. If the centre is to the left of the middle, the line is to the left, and the robot steers left. This is the same idea as finding the centre of a balance.</a:t>
            </a:r>
            <a:endParaRPr lang="en-US" sz="2000" b="0" u="none" strike="noStrike">
              <a:solidFill>
                <a:srgbClr val="000000"/>
              </a:solidFill>
              <a:effectLst/>
              <a:uFillTx/>
              <a:latin typeface="Arial"/>
            </a:endParaRPr>
          </a:p>
        </p:txBody>
      </p:sp>
      <p:sp>
        <p:nvSpPr>
          <p:cNvPr id="259"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05F9C6-B3D6-49A9-8C19-CBA376B6B29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steering loop is called PID. It has three parts, and each one answers a simple question. How far off are we right now? How long have we been off? How fast are we getting more off? We add the three answers together to get a turn command. The gains, the three strengths, are chosen by testing.</a:t>
            </a:r>
            <a:endParaRPr lang="en-US" sz="2000" b="0" u="none" strike="noStrike">
              <a:solidFill>
                <a:srgbClr val="000000"/>
              </a:solidFill>
              <a:effectLst/>
              <a:uFillTx/>
              <a:latin typeface="Arial"/>
            </a:endParaRPr>
          </a:p>
        </p:txBody>
      </p:sp>
      <p:sp>
        <p:nvSpPr>
          <p:cNvPr id="262"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09BFEC-F522-49DA-B436-A7A22B98241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There is a simple rule behind the racing plan. Grip gives a sideways limit. Speed squared divided by the radius must stay below that limit. So the safe speed is the square root of the grip times the radius. Wide bends let the robot go faster, tight bends make it slow down. This chart shows the rule for both the map board and the Double IR board.</a:t>
            </a:r>
            <a:endParaRPr lang="en-US" sz="2000" b="0" u="none" strike="noStrike">
              <a:solidFill>
                <a:srgbClr val="000000"/>
              </a:solidFill>
              <a:effectLst/>
              <a:uFillTx/>
              <a:latin typeface="Arial"/>
            </a:endParaRPr>
          </a:p>
        </p:txBody>
      </p:sp>
      <p:sp>
        <p:nvSpPr>
          <p:cNvPr id="265"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C21EBC-603E-4F98-B933-49C4C46617F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wheel can only push the ground so hard. The limit is friction times the weight on that wheel. If the wheel spins faster than the ground moves, it slips, and it can push a little harder for a moment. Past a certain slip, the grip is used up. This drawing shows the friction limit, and the circle of drive and sideways force that a wheel can use at the same time.</a:t>
            </a:r>
            <a:endParaRPr lang="en-US" sz="2000" b="0" u="none" strike="noStrike">
              <a:solidFill>
                <a:srgbClr val="000000"/>
              </a:solidFill>
              <a:effectLst/>
              <a:uFillTx/>
              <a:latin typeface="Arial"/>
            </a:endParaRPr>
          </a:p>
        </p:txBody>
      </p:sp>
      <p:sp>
        <p:nvSpPr>
          <p:cNvPr id="268"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1D020F6-FDD9-46C1-9A1B-970D350EDD6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Inertia tells us how much the robot resists turning. We add up each part's mass times how far it sits from the centre. Parts far from the middle count much more. The estimate from our assumed part weights is close to the value the simulator uses, and we will weigh the real parts to confirm it.</a:t>
            </a:r>
            <a:endParaRPr lang="en-US" sz="2000" b="0" u="none" strike="noStrike">
              <a:solidFill>
                <a:srgbClr val="000000"/>
              </a:solidFill>
              <a:effectLst/>
              <a:uFillTx/>
              <a:latin typeface="Arial"/>
            </a:endParaRPr>
          </a:p>
        </p:txBody>
      </p:sp>
      <p:sp>
        <p:nvSpPr>
          <p:cNvPr id="271"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20DF677-860B-4FD7-B880-69F861D6A8F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6040" cy="3085920"/>
          </a:xfrm>
          <a:prstGeom prst="rect">
            <a:avLst/>
          </a:prstGeom>
          <a:ln w="0">
            <a:noFill/>
          </a:ln>
        </p:spPr>
      </p:sp>
      <p:sp>
        <p:nvSpPr>
          <p:cNvPr id="2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 encoder counts small slots as a wheel turns. Each count is a known distance. Speed is distance per count times counts per second. If one wheel is faster than the other, the robot turns. Double IR uses this turn rate to know how sharp the bend is, even when the sensors cannot see far enough ahead.</a:t>
            </a:r>
            <a:endParaRPr lang="en-US" sz="2000" b="0" u="none" strike="noStrike">
              <a:solidFill>
                <a:srgbClr val="000000"/>
              </a:solidFill>
              <a:effectLst/>
              <a:uFillTx/>
              <a:latin typeface="Arial"/>
            </a:endParaRPr>
          </a:p>
        </p:txBody>
      </p:sp>
      <p:sp>
        <p:nvSpPr>
          <p:cNvPr id="274"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D9BB37-4FEA-4FE4-98AD-6F681BA128C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Some tracks have gaps. In a gap the sensors see only the floor. The map boards keep going because they know the plan. The plain PID board holds its last correction. If the robot is blind for more than 0.6 seconds, it stops. The widest gap on our tracks is 0.1 metres, so the robot always gets through.</a:t>
            </a:r>
            <a:endParaRPr lang="en-US" sz="2000" b="0" u="none" strike="noStrike">
              <a:solidFill>
                <a:srgbClr val="000000"/>
              </a:solidFill>
              <a:effectLst/>
              <a:uFillTx/>
              <a:latin typeface="Arial"/>
            </a:endParaRPr>
          </a:p>
        </p:txBody>
      </p:sp>
      <p:sp>
        <p:nvSpPr>
          <p:cNvPr id="277"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D96F7B3-E064-42B6-9CB3-AC1A9FA1192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Timing matters. The control loop runs every 2 milliseconds. The simulator uses the same step. Each rule has its own time limit, like giving up after 0.6 seconds without the line, or calling a derail after a quarter second more than 35 millimetres off the line. Getting these right stops the robot reacting too slowly or too quickly.</a:t>
            </a:r>
            <a:endParaRPr lang="en-US" sz="2000" b="0" u="none" strike="noStrike">
              <a:solidFill>
                <a:srgbClr val="000000"/>
              </a:solidFill>
              <a:effectLst/>
              <a:uFillTx/>
              <a:latin typeface="Arial"/>
            </a:endParaRPr>
          </a:p>
        </p:txBody>
      </p:sp>
      <p:sp>
        <p:nvSpPr>
          <p:cNvPr id="280"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B88900-A103-4BCA-BE02-7F15695B57B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simulator models the robot's mass, motor strength, friction, wheel slip, sideways slide and sensor noise. Some numbers are measured, and some are estimates. We show the estimates openly, because they are the first things we will check when we have the real robot.</a:t>
            </a:r>
            <a:endParaRPr lang="en-US" sz="2000" b="0" u="none" strike="noStrike">
              <a:solidFill>
                <a:srgbClr val="000000"/>
              </a:solidFill>
              <a:effectLst/>
              <a:uFillTx/>
              <a:latin typeface="Arial"/>
            </a:endParaRPr>
          </a:p>
        </p:txBody>
      </p:sp>
      <p:sp>
        <p:nvSpPr>
          <p:cNvPr id="283"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9F4E551-4417-4D74-8767-9B1BA4FEBB1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Line following is the same idea behind automated carts in warehouses, hospitals and factories. These machines carry goods and follow a fixed route. A robot that reads its own path, and knows when it is about to lose it, is the kind of machine those places need.</a:t>
            </a:r>
            <a:endParaRPr lang="en-US" sz="2000" b="0" u="none" strike="noStrike">
              <a:solidFill>
                <a:srgbClr val="000000"/>
              </a:solidFill>
              <a:effectLst/>
              <a:uFillTx/>
              <a:latin typeface="Arial"/>
            </a:endParaRPr>
          </a:p>
        </p:txBody>
      </p:sp>
      <p:sp>
        <p:nvSpPr>
          <p:cNvPr id="286"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001AF8-CFCC-4AB5-B020-B8780115C6E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robot that works once is a demo. A robot that works every time is engineering. We used the same code everywhere, so a fix in one place fixes all three. We ran each map forty times with different noise, to see how often each board works. And we wrote down every estimate, so that the next step is measurement, not guessing.</a:t>
            </a:r>
            <a:endParaRPr lang="en-US" sz="2000" b="0" u="none" strike="noStrike">
              <a:solidFill>
                <a:srgbClr val="000000"/>
              </a:solidFill>
              <a:effectLst/>
              <a:uFillTx/>
              <a:latin typeface="Arial"/>
            </a:endParaRPr>
          </a:p>
        </p:txBody>
      </p:sp>
      <p:sp>
        <p:nvSpPr>
          <p:cNvPr id="289"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0534CC-F8B5-40B8-9801-0348BCACFBC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Our next step is to build the real robot and check the estimates. We need a set of parts, a place to test on a real track, and a teacher to check our measurements and our method. We will report every number we measure, including the ones that disagree with the simulator.</a:t>
            </a:r>
            <a:endParaRPr lang="en-US" sz="2000" b="0" u="none" strike="noStrike">
              <a:solidFill>
                <a:srgbClr val="000000"/>
              </a:solidFill>
              <a:effectLst/>
              <a:uFillTx/>
              <a:latin typeface="Arial"/>
            </a:endParaRPr>
          </a:p>
        </p:txBody>
      </p:sp>
      <p:sp>
        <p:nvSpPr>
          <p:cNvPr id="292"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983F2F-4754-418A-8F15-EAB055BFC14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Thank you for your time. We are happy to answer questions, to show the simulator running, or to walk through any of the engineering drawings in more detail.</a:t>
            </a:r>
            <a:endParaRPr lang="en-US" sz="2000" b="0" u="none" strike="noStrike">
              <a:solidFill>
                <a:srgbClr val="000000"/>
              </a:solidFill>
              <a:effectLst/>
              <a:uFillTx/>
              <a:latin typeface="Arial"/>
            </a:endParaRPr>
          </a:p>
        </p:txBody>
      </p:sp>
      <p:sp>
        <p:nvSpPr>
          <p:cNvPr id="295"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88E8332-C634-4D55-9CD2-BE3192683EC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p:bg>
      <p:bgPr>
        <a:solidFill>
          <a:srgbClr val="11111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548640" y="365760"/>
            <a:ext cx="11063880" cy="685440"/>
          </a:xfrm>
          <a:prstGeom prst="rect">
            <a:avLst/>
          </a:prstGeom>
          <a:noFill/>
          <a:ln w="0">
            <a:noFill/>
          </a:ln>
        </p:spPr>
        <p:txBody>
          <a:bodyPr lIns="90000" tIns="45000" rIns="90000" bIns="45000" anchor="t">
            <a:noAutofit/>
          </a:bodyPr>
          <a:lstStyle>
            <a:lvl1pPr indent="0" algn="l">
              <a:buNone/>
              <a:defRPr lang="en-US" sz="3200" b="0" u="none" strike="noStrike">
                <a:solidFill>
                  <a:schemeClr val="dk1"/>
                </a:solidFill>
                <a:effectLst/>
                <a:uFillTx/>
                <a:latin typeface="Calibri"/>
              </a:defRPr>
            </a:lvl1pPr>
          </a:lstStyle>
          <a:p>
            <a:pPr indent="0" algn="l">
              <a:buNone/>
            </a:pPr>
            <a:r>
              <a:rPr lang="en-US" sz="3200" b="0" u="none" strike="noStrike">
                <a:solidFill>
                  <a:schemeClr val="dk1"/>
                </a:solidFill>
                <a:effectLst/>
                <a:uFillTx/>
                <a:latin typeface="Calibri"/>
              </a:rPr>
              <a:t>Click to edit the title text format</a:t>
            </a:r>
            <a:endParaRPr lang="en-US" sz="3200" b="0" u="none" strike="noStrike">
              <a:solidFill>
                <a:schemeClr val="dk1"/>
              </a:solidFill>
              <a:effectLst/>
              <a:uFillTx/>
              <a:latin typeface="Calibri"/>
            </a:endParaRPr>
          </a:p>
        </p:txBody>
      </p:sp>
      <p:sp>
        <p:nvSpPr>
          <p:cNvPr id="5" name="PlaceHolder 2"/>
          <p:cNvSpPr>
            <a:spLocks noGrp="1"/>
          </p:cNvSpPr>
          <p:nvPr>
            <p:ph type="body"/>
          </p:nvPr>
        </p:nvSpPr>
        <p:spPr>
          <a:xfrm>
            <a:off x="548640" y="1051560"/>
            <a:ext cx="11063880" cy="365400"/>
          </a:xfrm>
          <a:prstGeom prst="rect">
            <a:avLst/>
          </a:prstGeom>
          <a:noFill/>
          <a:ln w="0">
            <a:noFill/>
          </a:ln>
        </p:spPr>
        <p:txBody>
          <a:bodyPr lIns="90000" tIns="45000" rIns="90000" bIns="45000" anchor="t">
            <a:noAutofit/>
          </a:bodyPr>
          <a:lstStyle>
            <a:lvl1pPr algn="l">
              <a:spcBef>
                <a:spcPts val="1417"/>
              </a:spcBef>
              <a:buClr>
                <a:srgbClr val="000000"/>
              </a:buClr>
              <a:buSzPct val="45000"/>
              <a:buFont typeface="Wingdings" charset="2"/>
              <a:buChar char=""/>
              <a:defRPr lang="en-US" sz="16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16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16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16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16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16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1600" b="0" u="none" strike="noStrike">
                <a:solidFill>
                  <a:schemeClr val="dk1"/>
                </a:solidFill>
                <a:effectLst/>
                <a:uFillTx/>
                <a:latin typeface="Calibri"/>
              </a:defRPr>
            </a:lvl7pPr>
          </a:lstStyle>
          <a:p>
            <a:pPr algn="l">
              <a:spcBef>
                <a:spcPts val="1417"/>
              </a:spcBef>
              <a:buClr>
                <a:srgbClr val="000000"/>
              </a:buClr>
              <a:buSzPct val="45000"/>
              <a:buFont typeface="Wingdings" charset="2"/>
              <a:buChar char=""/>
            </a:pPr>
            <a:r>
              <a:rPr lang="en-US" sz="1600" b="0" u="none" strike="noStrike">
                <a:solidFill>
                  <a:schemeClr val="dk1"/>
                </a:solidFill>
                <a:effectLst/>
                <a:uFillTx/>
                <a:latin typeface="Calibri"/>
              </a:rPr>
              <a:t>Click to edit the outline text format</a:t>
            </a:r>
            <a:endParaRPr lang="en-US" sz="1600" b="0" u="none" strike="noStrike">
              <a:solidFill>
                <a:schemeClr val="dk1"/>
              </a:solidFill>
              <a:effectLst/>
              <a:uFillTx/>
              <a:latin typeface="Calibri"/>
            </a:endParaRPr>
          </a:p>
          <a:p>
            <a:pPr marL="743040" lvl="1" indent="-285840" algn="l">
              <a:spcBef>
                <a:spcPts val="1134"/>
              </a:spcBef>
              <a:buClr>
                <a:srgbClr val="000000"/>
              </a:buClr>
              <a:buSzPct val="75000"/>
              <a:buFont typeface="Symbol" charset="2"/>
              <a:buChar char=""/>
            </a:pPr>
            <a:r>
              <a:rPr lang="en-US" sz="1600" b="0" u="none" strike="noStrike">
                <a:solidFill>
                  <a:schemeClr val="dk1"/>
                </a:solidFill>
                <a:effectLst/>
                <a:uFillTx/>
                <a:latin typeface="Calibri"/>
              </a:rPr>
              <a:t>Second Outline Level</a:t>
            </a:r>
            <a:endParaRPr lang="en-US" sz="1600" b="0" u="none" strike="noStrike">
              <a:solidFill>
                <a:schemeClr val="dk1"/>
              </a:solidFill>
              <a:effectLst/>
              <a:uFillTx/>
              <a:latin typeface="Calibri"/>
            </a:endParaRPr>
          </a:p>
          <a:p>
            <a:pPr marL="1143000" lvl="2" indent="-228600" algn="l">
              <a:spcBef>
                <a:spcPts val="850"/>
              </a:spcBef>
              <a:buClr>
                <a:srgbClr val="000000"/>
              </a:buClr>
              <a:buSzPct val="45000"/>
              <a:buFont typeface="Wingdings" charset="2"/>
              <a:buChar char=""/>
            </a:pPr>
            <a:r>
              <a:rPr lang="en-US" sz="1600" b="0" u="none" strike="noStrike">
                <a:solidFill>
                  <a:schemeClr val="dk1"/>
                </a:solidFill>
                <a:effectLst/>
                <a:uFillTx/>
                <a:latin typeface="Calibri"/>
              </a:rPr>
              <a:t>Third Outline Level</a:t>
            </a:r>
            <a:endParaRPr lang="en-US" sz="1600" b="0" u="none" strike="noStrike">
              <a:solidFill>
                <a:schemeClr val="dk1"/>
              </a:solidFill>
              <a:effectLst/>
              <a:uFillTx/>
              <a:latin typeface="Calibri"/>
            </a:endParaRPr>
          </a:p>
          <a:p>
            <a:pPr marL="1600200" lvl="3" indent="-228600" algn="l">
              <a:spcBef>
                <a:spcPts val="567"/>
              </a:spcBef>
              <a:buClr>
                <a:srgbClr val="000000"/>
              </a:buClr>
              <a:buSzPct val="75000"/>
              <a:buFont typeface="Symbol" charset="2"/>
              <a:buChar char=""/>
            </a:pPr>
            <a:r>
              <a:rPr lang="en-US" sz="1600" b="0" u="none" strike="noStrike">
                <a:solidFill>
                  <a:schemeClr val="dk1"/>
                </a:solidFill>
                <a:effectLst/>
                <a:uFillTx/>
                <a:latin typeface="Calibri"/>
              </a:rPr>
              <a:t>Fourth Outline Level</a:t>
            </a:r>
            <a:endParaRPr lang="en-US" sz="1600" b="0" u="none" strike="noStrike">
              <a:solidFill>
                <a:schemeClr val="dk1"/>
              </a:solidFill>
              <a:effectLst/>
              <a:uFillTx/>
              <a:latin typeface="Calibri"/>
            </a:endParaRPr>
          </a:p>
          <a:p>
            <a:pPr marL="2057400" lvl="4" indent="-228600" algn="l">
              <a:spcBef>
                <a:spcPts val="283"/>
              </a:spcBef>
              <a:buClr>
                <a:srgbClr val="000000"/>
              </a:buClr>
              <a:buSzPct val="45000"/>
              <a:buFont typeface="Wingdings" charset="2"/>
              <a:buChar char=""/>
            </a:pPr>
            <a:r>
              <a:rPr lang="en-US" sz="1600" b="0" u="none" strike="noStrike">
                <a:solidFill>
                  <a:schemeClr val="dk1"/>
                </a:solidFill>
                <a:effectLst/>
                <a:uFillTx/>
                <a:latin typeface="Calibri"/>
              </a:rPr>
              <a:t>Fifth Outline Level</a:t>
            </a:r>
            <a:endParaRPr lang="en-US" sz="1600" b="0" u="none" strike="noStrike">
              <a:solidFill>
                <a:schemeClr val="dk1"/>
              </a:solidFill>
              <a:effectLst/>
              <a:uFillTx/>
              <a:latin typeface="Calibri"/>
            </a:endParaRPr>
          </a:p>
          <a:p>
            <a:pPr marL="2514600" lvl="5" indent="-228600" algn="l">
              <a:spcBef>
                <a:spcPts val="283"/>
              </a:spcBef>
              <a:buClr>
                <a:srgbClr val="000000"/>
              </a:buClr>
              <a:buSzPct val="45000"/>
              <a:buFont typeface="Wingdings" charset="2"/>
              <a:buChar char=""/>
            </a:pPr>
            <a:r>
              <a:rPr lang="en-US" sz="1600" b="0" u="none" strike="noStrike">
                <a:solidFill>
                  <a:schemeClr val="dk1"/>
                </a:solidFill>
                <a:effectLst/>
                <a:uFillTx/>
                <a:latin typeface="Calibri"/>
              </a:rPr>
              <a:t>Sixth Outline Level</a:t>
            </a:r>
            <a:endParaRPr lang="en-US" sz="1600" b="0" u="none" strike="noStrike">
              <a:solidFill>
                <a:schemeClr val="dk1"/>
              </a:solidFill>
              <a:effectLst/>
              <a:uFillTx/>
              <a:latin typeface="Calibri"/>
            </a:endParaRPr>
          </a:p>
          <a:p>
            <a:pPr marL="2971800" lvl="6" indent="-228600" algn="l">
              <a:spcBef>
                <a:spcPts val="283"/>
              </a:spcBef>
              <a:buClr>
                <a:srgbClr val="000000"/>
              </a:buClr>
              <a:buSzPct val="45000"/>
              <a:buFont typeface="Wingdings" charset="2"/>
              <a:buChar char=""/>
            </a:pPr>
            <a:r>
              <a:rPr lang="en-US" sz="1600" b="0" u="none" strike="noStrike">
                <a:solidFill>
                  <a:schemeClr val="dk1"/>
                </a:solidFill>
                <a:effectLst/>
                <a:uFillTx/>
                <a:latin typeface="Calibri"/>
              </a:rPr>
              <a:t>Seventh Outline Level</a:t>
            </a:r>
            <a:endParaRPr lang="en-US" sz="1600" b="0" u="none" strike="noStrike">
              <a:solidFill>
                <a:schemeClr val="dk1"/>
              </a:solidFill>
              <a:effectLst/>
              <a:uFillTx/>
              <a:latin typeface="Calibri"/>
            </a:endParaRPr>
          </a:p>
        </p:txBody>
      </p:sp>
      <p:sp>
        <p:nvSpPr>
          <p:cNvPr id="6" name="PlaceHolder 3"/>
          <p:cNvSpPr>
            <a:spLocks noGrp="1"/>
          </p:cNvSpPr>
          <p:nvPr>
            <p:ph type="sldNum" idx="1"/>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5C66F879-E68F-47BB-BAFA-7712713E7DF3}"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Text 0"/>
          <p:cNvSpPr/>
          <p:nvPr/>
        </p:nvSpPr>
        <p:spPr>
          <a:xfrm>
            <a:off x="731520" y="1920240"/>
            <a:ext cx="64004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200" b="1" u="none" strike="noStrike">
                <a:solidFill>
                  <a:srgbClr val="FFFFFF"/>
                </a:solidFill>
                <a:effectLst/>
                <a:uFillTx/>
                <a:latin typeface="Arial"/>
                <a:ea typeface="Arial"/>
              </a:rPr>
              <a:t>Line follower robot</a:t>
            </a:r>
            <a:endParaRPr lang="en-US" sz="5200" b="0" u="none" strike="noStrike">
              <a:solidFill>
                <a:srgbClr val="FFFFFF"/>
              </a:solidFill>
              <a:effectLst/>
              <a:uFillTx/>
              <a:latin typeface="Arial"/>
            </a:endParaRPr>
          </a:p>
        </p:txBody>
      </p:sp>
      <p:sp>
        <p:nvSpPr>
          <p:cNvPr id="14" name="Text 1"/>
          <p:cNvSpPr/>
          <p:nvPr/>
        </p:nvSpPr>
        <p:spPr>
          <a:xfrm>
            <a:off x="731520" y="3108960"/>
            <a:ext cx="640044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rgbClr val="D9D9D9"/>
                </a:solidFill>
                <a:effectLst/>
                <a:uFillTx/>
                <a:latin typeface="Calibri"/>
              </a:rPr>
              <a:t>A robot that reads a track, plans its speed, and learns from its sensors</a:t>
            </a:r>
            <a:endParaRPr lang="en-US" sz="2200" b="0" u="none" strike="noStrike">
              <a:solidFill>
                <a:srgbClr val="FFFFFF"/>
              </a:solidFill>
              <a:effectLst/>
              <a:uFillTx/>
              <a:latin typeface="Arial"/>
            </a:endParaRPr>
          </a:p>
        </p:txBody>
      </p:sp>
      <p:pic>
        <p:nvPicPr>
          <p:cNvPr id="15" name="Image 0" descr="3D model of the robot"/>
          <p:cNvPicPr/>
          <p:nvPr/>
        </p:nvPicPr>
        <p:blipFill>
          <a:blip r:embed="rId1"/>
          <a:stretch/>
        </p:blipFill>
        <p:spPr>
          <a:xfrm>
            <a:off x="7680960" y="1828800"/>
            <a:ext cx="3931560" cy="25833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Our idea</a:t>
            </a:r>
            <a:endParaRPr lang="en-US" sz="3200" b="0" u="none" strike="noStrike">
              <a:solidFill>
                <a:schemeClr val="dk1"/>
              </a:solidFill>
              <a:effectLst/>
              <a:uFillTx/>
              <a:latin typeface="Calibri"/>
            </a:endParaRPr>
          </a:p>
        </p:txBody>
      </p:sp>
      <p:sp>
        <p:nvSpPr>
          <p:cNvPr id="17"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One robot, one program, and a simulator that shows what it will do before we build it</a:t>
            </a:r>
            <a:endParaRPr lang="en-US" sz="1600" b="0" u="none" strike="noStrike">
              <a:solidFill>
                <a:schemeClr val="dk1"/>
              </a:solidFill>
              <a:effectLst/>
              <a:uFillTx/>
              <a:latin typeface="Calibri"/>
            </a:endParaRPr>
          </a:p>
        </p:txBody>
      </p:sp>
      <p:sp>
        <p:nvSpPr>
          <p:cNvPr id="18" name="idea one card"/>
          <p:cNvSpPr/>
          <p:nvPr/>
        </p:nvSpPr>
        <p:spPr>
          <a:xfrm>
            <a:off x="548640" y="1737360"/>
            <a:ext cx="3474360" cy="265140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 name="idea one number"/>
          <p:cNvSpPr/>
          <p:nvPr/>
        </p:nvSpPr>
        <p:spPr>
          <a:xfrm>
            <a:off x="822960" y="1965960"/>
            <a:ext cx="29257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800" b="1" u="none" strike="noStrike">
                <a:solidFill>
                  <a:schemeClr val="dk1"/>
                </a:solidFill>
                <a:effectLst/>
                <a:uFillTx/>
                <a:latin typeface="Arial"/>
                <a:ea typeface="Arial"/>
              </a:rPr>
              <a:t>1</a:t>
            </a:r>
            <a:endParaRPr lang="en-US" sz="4800" b="0" u="none" strike="noStrike">
              <a:solidFill>
                <a:srgbClr val="000000"/>
              </a:solidFill>
              <a:effectLst/>
              <a:uFillTx/>
              <a:latin typeface="Arial"/>
            </a:endParaRPr>
          </a:p>
        </p:txBody>
      </p:sp>
      <p:sp>
        <p:nvSpPr>
          <p:cNvPr id="20" name="idea one label"/>
          <p:cNvSpPr/>
          <p:nvPr/>
        </p:nvSpPr>
        <p:spPr>
          <a:xfrm>
            <a:off x="822960" y="2971800"/>
            <a:ext cx="292572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brain program that runs on the robot, in the simulator and on the web page</a:t>
            </a:r>
            <a:endParaRPr lang="en-US" sz="1500" b="0" u="none" strike="noStrike">
              <a:solidFill>
                <a:srgbClr val="000000"/>
              </a:solidFill>
              <a:effectLst/>
              <a:uFillTx/>
              <a:latin typeface="Arial"/>
            </a:endParaRPr>
          </a:p>
        </p:txBody>
      </p:sp>
      <p:sp>
        <p:nvSpPr>
          <p:cNvPr id="21" name="idea two card"/>
          <p:cNvSpPr/>
          <p:nvPr/>
        </p:nvSpPr>
        <p:spPr>
          <a:xfrm>
            <a:off x="4343400" y="1737360"/>
            <a:ext cx="3474360" cy="265140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idea two number"/>
          <p:cNvSpPr/>
          <p:nvPr/>
        </p:nvSpPr>
        <p:spPr>
          <a:xfrm>
            <a:off x="4617720" y="1965960"/>
            <a:ext cx="29257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800" b="1" u="none" strike="noStrike">
                <a:solidFill>
                  <a:schemeClr val="dk1"/>
                </a:solidFill>
                <a:effectLst/>
                <a:uFillTx/>
                <a:latin typeface="Arial"/>
                <a:ea typeface="Arial"/>
              </a:rPr>
              <a:t>4</a:t>
            </a:r>
            <a:endParaRPr lang="en-US" sz="4800" b="0" u="none" strike="noStrike">
              <a:solidFill>
                <a:srgbClr val="000000"/>
              </a:solidFill>
              <a:effectLst/>
              <a:uFillTx/>
              <a:latin typeface="Arial"/>
            </a:endParaRPr>
          </a:p>
        </p:txBody>
      </p:sp>
      <p:sp>
        <p:nvSpPr>
          <p:cNvPr id="23" name="idea two label"/>
          <p:cNvSpPr/>
          <p:nvPr/>
        </p:nvSpPr>
        <p:spPr>
          <a:xfrm>
            <a:off x="4617720" y="2971800"/>
            <a:ext cx="292572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ways to drive, from simple sensor steering to a smart curve reader</a:t>
            </a:r>
            <a:endParaRPr lang="en-US" sz="1500" b="0" u="none" strike="noStrike">
              <a:solidFill>
                <a:srgbClr val="000000"/>
              </a:solidFill>
              <a:effectLst/>
              <a:uFillTx/>
              <a:latin typeface="Arial"/>
            </a:endParaRPr>
          </a:p>
        </p:txBody>
      </p:sp>
      <p:sp>
        <p:nvSpPr>
          <p:cNvPr id="24" name="idea three card"/>
          <p:cNvSpPr/>
          <p:nvPr/>
        </p:nvSpPr>
        <p:spPr>
          <a:xfrm>
            <a:off x="8138160" y="1737360"/>
            <a:ext cx="3474360" cy="265140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idea three number"/>
          <p:cNvSpPr/>
          <p:nvPr/>
        </p:nvSpPr>
        <p:spPr>
          <a:xfrm>
            <a:off x="8412480" y="1965960"/>
            <a:ext cx="29257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800" b="1" u="none" strike="noStrike">
                <a:solidFill>
                  <a:schemeClr val="dk1"/>
                </a:solidFill>
                <a:effectLst/>
                <a:uFillTx/>
                <a:latin typeface="Arial"/>
                <a:ea typeface="Arial"/>
              </a:rPr>
              <a:t>6</a:t>
            </a:r>
            <a:endParaRPr lang="en-US" sz="4800" b="0" u="none" strike="noStrike">
              <a:solidFill>
                <a:srgbClr val="000000"/>
              </a:solidFill>
              <a:effectLst/>
              <a:uFillTx/>
              <a:latin typeface="Arial"/>
            </a:endParaRPr>
          </a:p>
        </p:txBody>
      </p:sp>
      <p:sp>
        <p:nvSpPr>
          <p:cNvPr id="26" name="idea three label"/>
          <p:cNvSpPr/>
          <p:nvPr/>
        </p:nvSpPr>
        <p:spPr>
          <a:xfrm>
            <a:off x="8412480" y="2971800"/>
            <a:ext cx="292572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different tracks, from a gentle oval to tight hairpin bends</a:t>
            </a:r>
            <a:endParaRPr lang="en-US" sz="1500" b="0" u="none" strike="noStrike">
              <a:solidFill>
                <a:srgbClr val="000000"/>
              </a:solidFill>
              <a:effectLst/>
              <a:uFillTx/>
              <a:latin typeface="Arial"/>
            </a:endParaRPr>
          </a:p>
        </p:txBody>
      </p:sp>
      <p:sp>
        <p:nvSpPr>
          <p:cNvPr id="27" name="idea question"/>
          <p:cNvSpPr/>
          <p:nvPr/>
        </p:nvSpPr>
        <p:spPr>
          <a:xfrm>
            <a:off x="548640" y="4846320"/>
            <a:ext cx="110638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0" u="none" strike="noStrike">
                <a:solidFill>
                  <a:schemeClr val="dk2"/>
                </a:solidFill>
                <a:effectLst/>
                <a:uFillTx/>
                <a:latin typeface="Calibri"/>
              </a:rPr>
              <a:t>The question we are answering: how fast can a small robot go round a track safely, and what does it need to know to do it?</a:t>
            </a:r>
            <a:endParaRPr lang="en-US" sz="2000" b="0" u="none" strike="noStrike">
              <a:solidFill>
                <a:srgbClr val="000000"/>
              </a:solidFill>
              <a:effectLst/>
              <a:uFillTx/>
              <a:latin typeface="Arial"/>
            </a:endParaRPr>
          </a:p>
        </p:txBody>
      </p:sp>
      <p:sp>
        <p:nvSpPr>
          <p:cNvPr id="28" name="PlaceHolder 3"/>
          <p:cNvSpPr>
            <a:spLocks noGrp="1"/>
          </p:cNvSpPr>
          <p:nvPr>
            <p:ph type="sldNum" idx="5"/>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405DD015-7164-4519-81A1-A0862C8B49C1}"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What makes us different</a:t>
            </a:r>
            <a:endParaRPr lang="en-US" sz="3200" b="0" u="none" strike="noStrike">
              <a:solidFill>
                <a:schemeClr val="dk1"/>
              </a:solidFill>
              <a:effectLst/>
              <a:uFillTx/>
              <a:latin typeface="Calibri"/>
            </a:endParaRPr>
          </a:p>
        </p:txBody>
      </p:sp>
      <p:sp>
        <p:nvSpPr>
          <p:cNvPr id="30"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Four things most student robots do not have</a:t>
            </a:r>
            <a:endParaRPr lang="en-US" sz="1600" b="0" u="none" strike="noStrike">
              <a:solidFill>
                <a:schemeClr val="dk1"/>
              </a:solidFill>
              <a:effectLst/>
              <a:uFillTx/>
              <a:latin typeface="Calibri"/>
            </a:endParaRPr>
          </a:p>
        </p:txBody>
      </p:sp>
      <p:sp>
        <p:nvSpPr>
          <p:cNvPr id="31" name="difference 1"/>
          <p:cNvSpPr/>
          <p:nvPr/>
        </p:nvSpPr>
        <p:spPr>
          <a:xfrm>
            <a:off x="548640" y="173736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 name="difference heading 1"/>
          <p:cNvSpPr/>
          <p:nvPr/>
        </p:nvSpPr>
        <p:spPr>
          <a:xfrm>
            <a:off x="822960" y="201168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One brain everywhere</a:t>
            </a:r>
            <a:endParaRPr lang="en-US" sz="2000" b="0" u="none" strike="noStrike">
              <a:solidFill>
                <a:srgbClr val="000000"/>
              </a:solidFill>
              <a:effectLst/>
              <a:uFillTx/>
              <a:latin typeface="Arial"/>
            </a:endParaRPr>
          </a:p>
        </p:txBody>
      </p:sp>
      <p:sp>
        <p:nvSpPr>
          <p:cNvPr id="33" name="difference text 1"/>
          <p:cNvSpPr/>
          <p:nvPr/>
        </p:nvSpPr>
        <p:spPr>
          <a:xfrm>
            <a:off x="822960" y="260604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The same C plus plus code runs on the Arduino, on the computer and in the web browser. What you see is what the robot does.</a:t>
            </a:r>
            <a:endParaRPr lang="en-US" sz="1600" b="0" u="none" strike="noStrike">
              <a:solidFill>
                <a:srgbClr val="000000"/>
              </a:solidFill>
              <a:effectLst/>
              <a:uFillTx/>
              <a:latin typeface="Arial"/>
            </a:endParaRPr>
          </a:p>
        </p:txBody>
      </p:sp>
      <p:sp>
        <p:nvSpPr>
          <p:cNvPr id="34" name="difference 2"/>
          <p:cNvSpPr/>
          <p:nvPr/>
        </p:nvSpPr>
        <p:spPr>
          <a:xfrm>
            <a:off x="6172200" y="173736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difference heading 2"/>
          <p:cNvSpPr/>
          <p:nvPr/>
        </p:nvSpPr>
        <p:spPr>
          <a:xfrm>
            <a:off x="6446520" y="201168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Real physics</a:t>
            </a:r>
            <a:endParaRPr lang="en-US" sz="2000" b="0" u="none" strike="noStrike">
              <a:solidFill>
                <a:srgbClr val="000000"/>
              </a:solidFill>
              <a:effectLst/>
              <a:uFillTx/>
              <a:latin typeface="Arial"/>
            </a:endParaRPr>
          </a:p>
        </p:txBody>
      </p:sp>
      <p:sp>
        <p:nvSpPr>
          <p:cNvPr id="36" name="difference text 2"/>
          <p:cNvSpPr/>
          <p:nvPr/>
        </p:nvSpPr>
        <p:spPr>
          <a:xfrm>
            <a:off x="6446520" y="260604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The simulator models weight, grip, wheel slip, sideways slide and noisy sensors, so problems show up before we build.</a:t>
            </a:r>
            <a:endParaRPr lang="en-US" sz="1600" b="0" u="none" strike="noStrike">
              <a:solidFill>
                <a:srgbClr val="000000"/>
              </a:solidFill>
              <a:effectLst/>
              <a:uFillTx/>
              <a:latin typeface="Arial"/>
            </a:endParaRPr>
          </a:p>
        </p:txBody>
      </p:sp>
      <p:sp>
        <p:nvSpPr>
          <p:cNvPr id="37" name="difference 3"/>
          <p:cNvSpPr/>
          <p:nvPr/>
        </p:nvSpPr>
        <p:spPr>
          <a:xfrm>
            <a:off x="548640" y="406908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difference heading 3"/>
          <p:cNvSpPr/>
          <p:nvPr/>
        </p:nvSpPr>
        <p:spPr>
          <a:xfrm>
            <a:off x="822960" y="434340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A fair comparison</a:t>
            </a:r>
            <a:endParaRPr lang="en-US" sz="2000" b="0" u="none" strike="noStrike">
              <a:solidFill>
                <a:srgbClr val="000000"/>
              </a:solidFill>
              <a:effectLst/>
              <a:uFillTx/>
              <a:latin typeface="Arial"/>
            </a:endParaRPr>
          </a:p>
        </p:txBody>
      </p:sp>
      <p:sp>
        <p:nvSpPr>
          <p:cNvPr id="39" name="difference text 3"/>
          <p:cNvSpPr/>
          <p:nvPr/>
        </p:nvSpPr>
        <p:spPr>
          <a:xfrm>
            <a:off x="822960" y="493776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All four modes drive the same robot, with the same noise, on the same six tracks. Any difference comes from the method.</a:t>
            </a:r>
            <a:endParaRPr lang="en-US" sz="1600" b="0" u="none" strike="noStrike">
              <a:solidFill>
                <a:srgbClr val="000000"/>
              </a:solidFill>
              <a:effectLst/>
              <a:uFillTx/>
              <a:latin typeface="Arial"/>
            </a:endParaRPr>
          </a:p>
        </p:txBody>
      </p:sp>
      <p:sp>
        <p:nvSpPr>
          <p:cNvPr id="40" name="difference 4"/>
          <p:cNvSpPr/>
          <p:nvPr/>
        </p:nvSpPr>
        <p:spPr>
          <a:xfrm>
            <a:off x="6172200" y="406908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difference heading 4"/>
          <p:cNvSpPr/>
          <p:nvPr/>
        </p:nvSpPr>
        <p:spPr>
          <a:xfrm>
            <a:off x="6446520" y="434340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Honest numbers</a:t>
            </a:r>
            <a:endParaRPr lang="en-US" sz="2000" b="0" u="none" strike="noStrike">
              <a:solidFill>
                <a:srgbClr val="000000"/>
              </a:solidFill>
              <a:effectLst/>
              <a:uFillTx/>
              <a:latin typeface="Arial"/>
            </a:endParaRPr>
          </a:p>
        </p:txBody>
      </p:sp>
      <p:sp>
        <p:nvSpPr>
          <p:cNvPr id="42" name="difference text 4"/>
          <p:cNvSpPr/>
          <p:nvPr/>
        </p:nvSpPr>
        <p:spPr>
          <a:xfrm>
            <a:off x="6446520" y="493776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Every estimate is written down. We say which numbers we measured and which we still have to check on a real robot.</a:t>
            </a:r>
            <a:endParaRPr lang="en-US" sz="1600" b="0" u="none" strike="noStrike">
              <a:solidFill>
                <a:srgbClr val="000000"/>
              </a:solidFill>
              <a:effectLst/>
              <a:uFillTx/>
              <a:latin typeface="Arial"/>
            </a:endParaRPr>
          </a:p>
        </p:txBody>
      </p:sp>
      <p:sp>
        <p:nvSpPr>
          <p:cNvPr id="43" name="PlaceHolder 3"/>
          <p:cNvSpPr>
            <a:spLocks noGrp="1"/>
          </p:cNvSpPr>
          <p:nvPr>
            <p:ph type="sldNum" idx="6"/>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8CA49B6A-8D00-47FC-9E17-B88CA261DD31}"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How the robot works, at a glance</a:t>
            </a:r>
            <a:endParaRPr lang="en-US" sz="3200" b="0" u="none" strike="noStrike">
              <a:solidFill>
                <a:schemeClr val="dk1"/>
              </a:solidFill>
              <a:effectLst/>
              <a:uFillTx/>
              <a:latin typeface="Calibri"/>
            </a:endParaRPr>
          </a:p>
        </p:txBody>
      </p:sp>
      <p:sp>
        <p:nvSpPr>
          <p:cNvPr id="45"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Sensors see the line, the brain decides, the motors act</a:t>
            </a:r>
            <a:endParaRPr lang="en-US" sz="1600" b="0" u="none" strike="noStrike">
              <a:solidFill>
                <a:schemeClr val="dk1"/>
              </a:solidFill>
              <a:effectLst/>
              <a:uFillTx/>
              <a:latin typeface="Calibri"/>
            </a:endParaRPr>
          </a:p>
        </p:txBody>
      </p:sp>
      <p:sp>
        <p:nvSpPr>
          <p:cNvPr id="46" name="flow box 1"/>
          <p:cNvSpPr/>
          <p:nvPr/>
        </p:nvSpPr>
        <p:spPr>
          <a:xfrm>
            <a:off x="548640" y="2103120"/>
            <a:ext cx="2514240" cy="25599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 name="flow heading 1"/>
          <p:cNvSpPr/>
          <p:nvPr/>
        </p:nvSpPr>
        <p:spPr>
          <a:xfrm>
            <a:off x="777240" y="2377440"/>
            <a:ext cx="21027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Sensors</a:t>
            </a:r>
            <a:endParaRPr lang="en-US" sz="2000" b="0" u="none" strike="noStrike">
              <a:solidFill>
                <a:srgbClr val="000000"/>
              </a:solidFill>
              <a:effectLst/>
              <a:uFillTx/>
              <a:latin typeface="Arial"/>
            </a:endParaRPr>
          </a:p>
        </p:txBody>
      </p:sp>
      <p:sp>
        <p:nvSpPr>
          <p:cNvPr id="48" name="flow text 1"/>
          <p:cNvSpPr/>
          <p:nvPr/>
        </p:nvSpPr>
        <p:spPr>
          <a:xfrm>
            <a:off x="777240" y="2971800"/>
            <a:ext cx="210276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Five sensors in a row, and a second row for one mode</a:t>
            </a:r>
            <a:endParaRPr lang="en-US" sz="1500" b="0" u="none" strike="noStrike">
              <a:solidFill>
                <a:srgbClr val="000000"/>
              </a:solidFill>
              <a:effectLst/>
              <a:uFillTx/>
              <a:latin typeface="Arial"/>
            </a:endParaRPr>
          </a:p>
        </p:txBody>
      </p:sp>
      <p:sp>
        <p:nvSpPr>
          <p:cNvPr id="49" name="flow arrow 1"/>
          <p:cNvSpPr/>
          <p:nvPr/>
        </p:nvSpPr>
        <p:spPr>
          <a:xfrm>
            <a:off x="3108960" y="3383280"/>
            <a:ext cx="228600" cy="360"/>
          </a:xfrm>
          <a:prstGeom prst="line">
            <a:avLst/>
          </a:prstGeom>
          <a:ln w="19050">
            <a:solidFill>
              <a:srgbClr val="6B6B6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0" name="flow box 2"/>
          <p:cNvSpPr/>
          <p:nvPr/>
        </p:nvSpPr>
        <p:spPr>
          <a:xfrm>
            <a:off x="3383280" y="2103120"/>
            <a:ext cx="2514240" cy="25599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 name="flow heading 2"/>
          <p:cNvSpPr/>
          <p:nvPr/>
        </p:nvSpPr>
        <p:spPr>
          <a:xfrm>
            <a:off x="3611880" y="2377440"/>
            <a:ext cx="21027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Brain</a:t>
            </a:r>
            <a:endParaRPr lang="en-US" sz="2000" b="0" u="none" strike="noStrike">
              <a:solidFill>
                <a:srgbClr val="000000"/>
              </a:solidFill>
              <a:effectLst/>
              <a:uFillTx/>
              <a:latin typeface="Arial"/>
            </a:endParaRPr>
          </a:p>
        </p:txBody>
      </p:sp>
      <p:sp>
        <p:nvSpPr>
          <p:cNvPr id="52" name="flow text 2"/>
          <p:cNvSpPr/>
          <p:nvPr/>
        </p:nvSpPr>
        <p:spPr>
          <a:xfrm>
            <a:off x="3611880" y="2971800"/>
            <a:ext cx="210276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Reads the sensors, the map and the wheel counters, then decides</a:t>
            </a:r>
            <a:endParaRPr lang="en-US" sz="1500" b="0" u="none" strike="noStrike">
              <a:solidFill>
                <a:srgbClr val="000000"/>
              </a:solidFill>
              <a:effectLst/>
              <a:uFillTx/>
              <a:latin typeface="Arial"/>
            </a:endParaRPr>
          </a:p>
        </p:txBody>
      </p:sp>
      <p:sp>
        <p:nvSpPr>
          <p:cNvPr id="53" name="flow arrow 2"/>
          <p:cNvSpPr/>
          <p:nvPr/>
        </p:nvSpPr>
        <p:spPr>
          <a:xfrm>
            <a:off x="5943600" y="3383280"/>
            <a:ext cx="228600" cy="360"/>
          </a:xfrm>
          <a:prstGeom prst="line">
            <a:avLst/>
          </a:prstGeom>
          <a:ln w="19050">
            <a:solidFill>
              <a:srgbClr val="6B6B6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4" name="flow box 3"/>
          <p:cNvSpPr/>
          <p:nvPr/>
        </p:nvSpPr>
        <p:spPr>
          <a:xfrm>
            <a:off x="6217920" y="2103120"/>
            <a:ext cx="2514240" cy="25599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 name="flow heading 3"/>
          <p:cNvSpPr/>
          <p:nvPr/>
        </p:nvSpPr>
        <p:spPr>
          <a:xfrm>
            <a:off x="6446520" y="2377440"/>
            <a:ext cx="21027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Motors</a:t>
            </a:r>
            <a:endParaRPr lang="en-US" sz="2000" b="0" u="none" strike="noStrike">
              <a:solidFill>
                <a:srgbClr val="000000"/>
              </a:solidFill>
              <a:effectLst/>
              <a:uFillTx/>
              <a:latin typeface="Arial"/>
            </a:endParaRPr>
          </a:p>
        </p:txBody>
      </p:sp>
      <p:sp>
        <p:nvSpPr>
          <p:cNvPr id="56" name="flow text 3"/>
          <p:cNvSpPr/>
          <p:nvPr/>
        </p:nvSpPr>
        <p:spPr>
          <a:xfrm>
            <a:off x="6446520" y="2971800"/>
            <a:ext cx="210276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Turn the two wheels at different speeds to steer</a:t>
            </a:r>
            <a:endParaRPr lang="en-US" sz="1500" b="0" u="none" strike="noStrike">
              <a:solidFill>
                <a:srgbClr val="000000"/>
              </a:solidFill>
              <a:effectLst/>
              <a:uFillTx/>
              <a:latin typeface="Arial"/>
            </a:endParaRPr>
          </a:p>
        </p:txBody>
      </p:sp>
      <p:sp>
        <p:nvSpPr>
          <p:cNvPr id="57" name="flow arrow 3"/>
          <p:cNvSpPr/>
          <p:nvPr/>
        </p:nvSpPr>
        <p:spPr>
          <a:xfrm>
            <a:off x="8778240" y="3383280"/>
            <a:ext cx="228600" cy="360"/>
          </a:xfrm>
          <a:prstGeom prst="line">
            <a:avLst/>
          </a:prstGeom>
          <a:ln w="19050">
            <a:solidFill>
              <a:srgbClr val="6B6B6B"/>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8" name="flow box 4"/>
          <p:cNvSpPr/>
          <p:nvPr/>
        </p:nvSpPr>
        <p:spPr>
          <a:xfrm>
            <a:off x="9052560" y="2103120"/>
            <a:ext cx="2514240" cy="25599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 name="flow heading 4"/>
          <p:cNvSpPr/>
          <p:nvPr/>
        </p:nvSpPr>
        <p:spPr>
          <a:xfrm>
            <a:off x="9281160" y="2377440"/>
            <a:ext cx="21027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Track</a:t>
            </a:r>
            <a:endParaRPr lang="en-US" sz="2000" b="0" u="none" strike="noStrike">
              <a:solidFill>
                <a:srgbClr val="000000"/>
              </a:solidFill>
              <a:effectLst/>
              <a:uFillTx/>
              <a:latin typeface="Arial"/>
            </a:endParaRPr>
          </a:p>
        </p:txBody>
      </p:sp>
      <p:sp>
        <p:nvSpPr>
          <p:cNvPr id="60" name="flow text 4"/>
          <p:cNvSpPr/>
          <p:nvPr/>
        </p:nvSpPr>
        <p:spPr>
          <a:xfrm>
            <a:off x="9281160" y="2971800"/>
            <a:ext cx="210276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The robot drives, and the sensors see the line again</a:t>
            </a:r>
            <a:endParaRPr lang="en-US" sz="1500" b="0" u="none" strike="noStrike">
              <a:solidFill>
                <a:srgbClr val="000000"/>
              </a:solidFill>
              <a:effectLst/>
              <a:uFillTx/>
              <a:latin typeface="Arial"/>
            </a:endParaRPr>
          </a:p>
        </p:txBody>
      </p:sp>
      <p:sp>
        <p:nvSpPr>
          <p:cNvPr id="61" name="flow footer"/>
          <p:cNvSpPr/>
          <p:nvPr/>
        </p:nvSpPr>
        <p:spPr>
          <a:xfrm>
            <a:off x="548640" y="5212080"/>
            <a:ext cx="110638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2"/>
                </a:solidFill>
                <a:effectLst/>
                <a:uFillTx/>
                <a:latin typeface="Calibri"/>
              </a:rPr>
              <a:t>The brain does this about 500 times every second, so it can react quickly to what it sees.</a:t>
            </a:r>
            <a:endParaRPr lang="en-US" sz="1800" b="0" u="none" strike="noStrike">
              <a:solidFill>
                <a:srgbClr val="000000"/>
              </a:solidFill>
              <a:effectLst/>
              <a:uFillTx/>
              <a:latin typeface="Arial"/>
            </a:endParaRPr>
          </a:p>
        </p:txBody>
      </p:sp>
      <p:sp>
        <p:nvSpPr>
          <p:cNvPr id="62" name="PlaceHolder 3"/>
          <p:cNvSpPr>
            <a:spLocks noGrp="1"/>
          </p:cNvSpPr>
          <p:nvPr>
            <p:ph type="sldNum" idx="7"/>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92AF0825-11FD-4259-991B-7E7D9E43D167}"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The four ways to drive</a:t>
            </a:r>
            <a:endParaRPr lang="en-US" sz="3200" b="0" u="none" strike="noStrike">
              <a:solidFill>
                <a:schemeClr val="dk1"/>
              </a:solidFill>
              <a:effectLst/>
              <a:uFillTx/>
              <a:latin typeface="Calibri"/>
            </a:endParaRPr>
          </a:p>
        </p:txBody>
      </p:sp>
      <p:sp>
        <p:nvSpPr>
          <p:cNvPr id="64"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Four boards, from simplest to smartest</a:t>
            </a:r>
            <a:endParaRPr lang="en-US" sz="1600" b="0" u="none" strike="noStrike">
              <a:solidFill>
                <a:schemeClr val="dk1"/>
              </a:solidFill>
              <a:effectLst/>
              <a:uFillTx/>
              <a:latin typeface="Calibri"/>
            </a:endParaRPr>
          </a:p>
        </p:txBody>
      </p:sp>
      <p:sp>
        <p:nvSpPr>
          <p:cNvPr id="65" name="board 1"/>
          <p:cNvSpPr/>
          <p:nvPr/>
        </p:nvSpPr>
        <p:spPr>
          <a:xfrm>
            <a:off x="548640" y="173736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 name="board number 1"/>
          <p:cNvSpPr/>
          <p:nvPr/>
        </p:nvSpPr>
        <p:spPr>
          <a:xfrm>
            <a:off x="822960" y="201168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Arial"/>
                <a:ea typeface="Arial"/>
              </a:rPr>
              <a:t>1</a:t>
            </a:r>
            <a:endParaRPr lang="en-US" sz="3600" b="0" u="none" strike="noStrike">
              <a:solidFill>
                <a:srgbClr val="000000"/>
              </a:solidFill>
              <a:effectLst/>
              <a:uFillTx/>
              <a:latin typeface="Arial"/>
            </a:endParaRPr>
          </a:p>
        </p:txBody>
      </p:sp>
      <p:sp>
        <p:nvSpPr>
          <p:cNvPr id="67" name="board heading 1"/>
          <p:cNvSpPr/>
          <p:nvPr/>
        </p:nvSpPr>
        <p:spPr>
          <a:xfrm>
            <a:off x="1737360" y="2103120"/>
            <a:ext cx="4023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dk1"/>
                </a:solidFill>
                <a:effectLst/>
                <a:uFillTx/>
                <a:latin typeface="Arial"/>
                <a:ea typeface="Arial"/>
              </a:rPr>
              <a:t>Normal PID</a:t>
            </a:r>
            <a:endParaRPr lang="en-US" sz="2200" b="0" u="none" strike="noStrike">
              <a:solidFill>
                <a:srgbClr val="000000"/>
              </a:solidFill>
              <a:effectLst/>
              <a:uFillTx/>
              <a:latin typeface="Arial"/>
            </a:endParaRPr>
          </a:p>
        </p:txBody>
      </p:sp>
      <p:sp>
        <p:nvSpPr>
          <p:cNvPr id="68" name="board text 1"/>
          <p:cNvSpPr/>
          <p:nvPr/>
        </p:nvSpPr>
        <p:spPr>
          <a:xfrm>
            <a:off x="1737360" y="2651760"/>
            <a:ext cx="40230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Sensors only</a:t>
            </a:r>
            <a:endParaRPr lang="en-US" sz="1600" b="0" u="none" strike="noStrike">
              <a:solidFill>
                <a:srgbClr val="000000"/>
              </a:solidFill>
              <a:effectLst/>
              <a:uFillTx/>
              <a:latin typeface="Arial"/>
            </a:endParaRPr>
          </a:p>
        </p:txBody>
      </p:sp>
      <p:sp>
        <p:nvSpPr>
          <p:cNvPr id="69" name="board 2"/>
          <p:cNvSpPr/>
          <p:nvPr/>
        </p:nvSpPr>
        <p:spPr>
          <a:xfrm>
            <a:off x="6172200" y="173736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 name="board number 2"/>
          <p:cNvSpPr/>
          <p:nvPr/>
        </p:nvSpPr>
        <p:spPr>
          <a:xfrm>
            <a:off x="6446520" y="201168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Arial"/>
                <a:ea typeface="Arial"/>
              </a:rPr>
              <a:t>2</a:t>
            </a:r>
            <a:endParaRPr lang="en-US" sz="3600" b="0" u="none" strike="noStrike">
              <a:solidFill>
                <a:srgbClr val="000000"/>
              </a:solidFill>
              <a:effectLst/>
              <a:uFillTx/>
              <a:latin typeface="Arial"/>
            </a:endParaRPr>
          </a:p>
        </p:txBody>
      </p:sp>
      <p:sp>
        <p:nvSpPr>
          <p:cNvPr id="71" name="board heading 2"/>
          <p:cNvSpPr/>
          <p:nvPr/>
        </p:nvSpPr>
        <p:spPr>
          <a:xfrm>
            <a:off x="7360920" y="2103120"/>
            <a:ext cx="4023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dk1"/>
                </a:solidFill>
                <a:effectLst/>
                <a:uFillTx/>
                <a:latin typeface="Arial"/>
                <a:ea typeface="Arial"/>
              </a:rPr>
              <a:t>Full map (blind)</a:t>
            </a:r>
            <a:endParaRPr lang="en-US" sz="2200" b="0" u="none" strike="noStrike">
              <a:solidFill>
                <a:srgbClr val="000000"/>
              </a:solidFill>
              <a:effectLst/>
              <a:uFillTx/>
              <a:latin typeface="Arial"/>
            </a:endParaRPr>
          </a:p>
        </p:txBody>
      </p:sp>
      <p:sp>
        <p:nvSpPr>
          <p:cNvPr id="72" name="board text 2"/>
          <p:cNvSpPr/>
          <p:nvPr/>
        </p:nvSpPr>
        <p:spPr>
          <a:xfrm>
            <a:off x="7360920" y="2651760"/>
            <a:ext cx="40230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Map only</a:t>
            </a:r>
            <a:endParaRPr lang="en-US" sz="1600" b="0" u="none" strike="noStrike">
              <a:solidFill>
                <a:srgbClr val="000000"/>
              </a:solidFill>
              <a:effectLst/>
              <a:uFillTx/>
              <a:latin typeface="Arial"/>
            </a:endParaRPr>
          </a:p>
        </p:txBody>
      </p:sp>
      <p:sp>
        <p:nvSpPr>
          <p:cNvPr id="73" name="board 3"/>
          <p:cNvSpPr/>
          <p:nvPr/>
        </p:nvSpPr>
        <p:spPr>
          <a:xfrm>
            <a:off x="548640" y="406908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board number 3"/>
          <p:cNvSpPr/>
          <p:nvPr/>
        </p:nvSpPr>
        <p:spPr>
          <a:xfrm>
            <a:off x="822960" y="434340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Arial"/>
                <a:ea typeface="Arial"/>
              </a:rPr>
              <a:t>3</a:t>
            </a:r>
            <a:endParaRPr lang="en-US" sz="3600" b="0" u="none" strike="noStrike">
              <a:solidFill>
                <a:srgbClr val="000000"/>
              </a:solidFill>
              <a:effectLst/>
              <a:uFillTx/>
              <a:latin typeface="Arial"/>
            </a:endParaRPr>
          </a:p>
        </p:txBody>
      </p:sp>
      <p:sp>
        <p:nvSpPr>
          <p:cNvPr id="75" name="board heading 3"/>
          <p:cNvSpPr/>
          <p:nvPr/>
        </p:nvSpPr>
        <p:spPr>
          <a:xfrm>
            <a:off x="1737360" y="4434840"/>
            <a:ext cx="4023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dk1"/>
                </a:solidFill>
                <a:effectLst/>
                <a:uFillTx/>
                <a:latin typeface="Arial"/>
                <a:ea typeface="Arial"/>
              </a:rPr>
              <a:t>Full map plus IR</a:t>
            </a:r>
            <a:endParaRPr lang="en-US" sz="2200" b="0" u="none" strike="noStrike">
              <a:solidFill>
                <a:srgbClr val="000000"/>
              </a:solidFill>
              <a:effectLst/>
              <a:uFillTx/>
              <a:latin typeface="Arial"/>
            </a:endParaRPr>
          </a:p>
        </p:txBody>
      </p:sp>
      <p:sp>
        <p:nvSpPr>
          <p:cNvPr id="76" name="board text 3"/>
          <p:cNvSpPr/>
          <p:nvPr/>
        </p:nvSpPr>
        <p:spPr>
          <a:xfrm>
            <a:off x="1737360" y="4983480"/>
            <a:ext cx="40230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Map and sensors</a:t>
            </a:r>
            <a:endParaRPr lang="en-US" sz="1600" b="0" u="none" strike="noStrike">
              <a:solidFill>
                <a:srgbClr val="000000"/>
              </a:solidFill>
              <a:effectLst/>
              <a:uFillTx/>
              <a:latin typeface="Arial"/>
            </a:endParaRPr>
          </a:p>
        </p:txBody>
      </p:sp>
      <p:sp>
        <p:nvSpPr>
          <p:cNvPr id="77" name="board 4"/>
          <p:cNvSpPr/>
          <p:nvPr/>
        </p:nvSpPr>
        <p:spPr>
          <a:xfrm>
            <a:off x="6172200" y="406908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board number 4"/>
          <p:cNvSpPr/>
          <p:nvPr/>
        </p:nvSpPr>
        <p:spPr>
          <a:xfrm>
            <a:off x="6446520" y="434340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Arial"/>
                <a:ea typeface="Arial"/>
              </a:rPr>
              <a:t>4</a:t>
            </a:r>
            <a:endParaRPr lang="en-US" sz="3600" b="0" u="none" strike="noStrike">
              <a:solidFill>
                <a:srgbClr val="000000"/>
              </a:solidFill>
              <a:effectLst/>
              <a:uFillTx/>
              <a:latin typeface="Arial"/>
            </a:endParaRPr>
          </a:p>
        </p:txBody>
      </p:sp>
      <p:sp>
        <p:nvSpPr>
          <p:cNvPr id="79" name="board heading 4"/>
          <p:cNvSpPr/>
          <p:nvPr/>
        </p:nvSpPr>
        <p:spPr>
          <a:xfrm>
            <a:off x="7360920" y="4434840"/>
            <a:ext cx="4023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dk1"/>
                </a:solidFill>
                <a:effectLst/>
                <a:uFillTx/>
                <a:latin typeface="Arial"/>
                <a:ea typeface="Arial"/>
              </a:rPr>
              <a:t>Double IR</a:t>
            </a:r>
            <a:endParaRPr lang="en-US" sz="2200" b="0" u="none" strike="noStrike">
              <a:solidFill>
                <a:srgbClr val="000000"/>
              </a:solidFill>
              <a:effectLst/>
              <a:uFillTx/>
              <a:latin typeface="Arial"/>
            </a:endParaRPr>
          </a:p>
        </p:txBody>
      </p:sp>
      <p:sp>
        <p:nvSpPr>
          <p:cNvPr id="80" name="board text 4"/>
          <p:cNvSpPr/>
          <p:nvPr/>
        </p:nvSpPr>
        <p:spPr>
          <a:xfrm>
            <a:off x="7360920" y="4983480"/>
            <a:ext cx="40230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Two sensor rows and wheel counters</a:t>
            </a:r>
            <a:endParaRPr lang="en-US" sz="1600" b="0" u="none" strike="noStrike">
              <a:solidFill>
                <a:srgbClr val="000000"/>
              </a:solidFill>
              <a:effectLst/>
              <a:uFillTx/>
              <a:latin typeface="Arial"/>
            </a:endParaRPr>
          </a:p>
        </p:txBody>
      </p:sp>
      <p:sp>
        <p:nvSpPr>
          <p:cNvPr id="81" name="PlaceHolder 3"/>
          <p:cNvSpPr>
            <a:spLocks noGrp="1"/>
          </p:cNvSpPr>
          <p:nvPr>
            <p:ph type="sldNum" idx="8"/>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210BB019-E762-4A29-826F-69BEEB81A1E3}"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Board 1: Normal PID</a:t>
            </a:r>
            <a:endParaRPr lang="en-US" sz="3200" b="0" u="none" strike="noStrike">
              <a:solidFill>
                <a:schemeClr val="dk1"/>
              </a:solidFill>
              <a:effectLst/>
              <a:uFillTx/>
              <a:latin typeface="Calibri"/>
            </a:endParaRPr>
          </a:p>
        </p:txBody>
      </p:sp>
      <p:sp>
        <p:nvSpPr>
          <p:cNvPr id="83"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Steering from the sensors only</a:t>
            </a:r>
            <a:endParaRPr lang="en-US" sz="1600" b="0" u="none" strike="noStrike">
              <a:solidFill>
                <a:schemeClr val="dk1"/>
              </a:solidFill>
              <a:effectLst/>
              <a:uFillTx/>
              <a:latin typeface="Calibri"/>
            </a:endParaRPr>
          </a:p>
        </p:txBody>
      </p:sp>
      <p:sp>
        <p:nvSpPr>
          <p:cNvPr id="84" name="board detail text 1"/>
          <p:cNvSpPr/>
          <p:nvPr/>
        </p:nvSpPr>
        <p:spPr>
          <a:xfrm>
            <a:off x="548640" y="1737360"/>
            <a:ext cx="5486040" cy="310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Uses five light sensors. It looks at how far the line is from the middle of the sensor bar, and turns the robot back toward it. It has no map, so it cannot know a corner is coming. To stay safe, it slows down when it turns hard or when the line is far away.</a:t>
            </a:r>
            <a:endParaRPr lang="en-US" sz="1600" b="0" u="none" strike="noStrike">
              <a:solidFill>
                <a:srgbClr val="000000"/>
              </a:solidFill>
              <a:effectLst/>
              <a:uFillTx/>
              <a:latin typeface="Arial"/>
            </a:endParaRPr>
          </a:p>
        </p:txBody>
      </p:sp>
      <p:sp>
        <p:nvSpPr>
          <p:cNvPr id="85" name="board facts 1"/>
          <p:cNvSpPr/>
          <p:nvPr/>
        </p:nvSpPr>
        <p:spPr>
          <a:xfrm>
            <a:off x="6492240" y="1737360"/>
            <a:ext cx="5120280" cy="42058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 name="facts heading 1"/>
          <p:cNvSpPr/>
          <p:nvPr/>
        </p:nvSpPr>
        <p:spPr>
          <a:xfrm>
            <a:off x="6766560" y="1965960"/>
            <a:ext cx="4571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Arial"/>
                <a:ea typeface="Arial"/>
              </a:rPr>
              <a:t>How it works</a:t>
            </a:r>
            <a:endParaRPr lang="en-US" sz="1800" b="0" u="none" strike="noStrike">
              <a:solidFill>
                <a:srgbClr val="000000"/>
              </a:solidFill>
              <a:effectLst/>
              <a:uFillTx/>
              <a:latin typeface="Arial"/>
            </a:endParaRPr>
          </a:p>
        </p:txBody>
      </p:sp>
      <p:sp>
        <p:nvSpPr>
          <p:cNvPr id="87" name="facts list 1"/>
          <p:cNvSpPr/>
          <p:nvPr/>
        </p:nvSpPr>
        <p:spPr>
          <a:xfrm>
            <a:off x="6766560" y="2514600"/>
            <a:ext cx="4571640" cy="18284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It only knows what it can see right now</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Slows when steering effort grows</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Gives up if it loses the line for 0.6 seconds</a:t>
            </a:r>
            <a:endParaRPr lang="en-US" sz="1500" b="0" u="none" strike="noStrike">
              <a:solidFill>
                <a:srgbClr val="000000"/>
              </a:solidFill>
              <a:effectLst/>
              <a:uFillTx/>
              <a:latin typeface="Arial"/>
            </a:endParaRPr>
          </a:p>
        </p:txBody>
      </p:sp>
      <p:sp>
        <p:nvSpPr>
          <p:cNvPr id="88" name="facts result 1"/>
          <p:cNvSpPr/>
          <p:nvPr/>
        </p:nvSpPr>
        <p:spPr>
          <a:xfrm>
            <a:off x="6766560" y="4480560"/>
            <a:ext cx="4571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Normal PID finishes every map, but it is the slowest, because it cannot prepare for the next corner.</a:t>
            </a:r>
            <a:endParaRPr lang="en-US" sz="1500" b="0" u="none" strike="noStrike">
              <a:solidFill>
                <a:srgbClr val="000000"/>
              </a:solidFill>
              <a:effectLst/>
              <a:uFillTx/>
              <a:latin typeface="Arial"/>
            </a:endParaRPr>
          </a:p>
        </p:txBody>
      </p:sp>
      <p:sp>
        <p:nvSpPr>
          <p:cNvPr id="89" name="PlaceHolder 3"/>
          <p:cNvSpPr>
            <a:spLocks noGrp="1"/>
          </p:cNvSpPr>
          <p:nvPr>
            <p:ph type="sldNum" idx="9"/>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6AD6A972-0C8C-43CC-B5C0-D6412CCEAB10}"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Board 2: Full map (blind)</a:t>
            </a:r>
            <a:endParaRPr lang="en-US" sz="3200" b="0" u="none" strike="noStrike">
              <a:solidFill>
                <a:schemeClr val="dk1"/>
              </a:solidFill>
              <a:effectLst/>
              <a:uFillTx/>
              <a:latin typeface="Calibri"/>
            </a:endParaRPr>
          </a:p>
        </p:txBody>
      </p:sp>
      <p:sp>
        <p:nvSpPr>
          <p:cNvPr id="91"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Following a plan without looking</a:t>
            </a:r>
            <a:endParaRPr lang="en-US" sz="1600" b="0" u="none" strike="noStrike">
              <a:solidFill>
                <a:schemeClr val="dk1"/>
              </a:solidFill>
              <a:effectLst/>
              <a:uFillTx/>
              <a:latin typeface="Calibri"/>
            </a:endParaRPr>
          </a:p>
        </p:txBody>
      </p:sp>
      <p:sp>
        <p:nvSpPr>
          <p:cNvPr id="92" name="board detail text 2"/>
          <p:cNvSpPr/>
          <p:nvPr/>
        </p:nvSpPr>
        <p:spPr>
          <a:xfrm>
            <a:off x="548640" y="1737360"/>
            <a:ext cx="5486040" cy="310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Before the run, the brain works out the best speed for every point on the track. The fastest safe speed is slow in tight bends and fast on straights. During the run, the robot follows that plan and ignores its sensors.</a:t>
            </a:r>
            <a:endParaRPr lang="en-US" sz="1600" b="0" u="none" strike="noStrike">
              <a:solidFill>
                <a:srgbClr val="000000"/>
              </a:solidFill>
              <a:effectLst/>
              <a:uFillTx/>
              <a:latin typeface="Arial"/>
            </a:endParaRPr>
          </a:p>
        </p:txBody>
      </p:sp>
      <p:sp>
        <p:nvSpPr>
          <p:cNvPr id="93" name="board facts 2"/>
          <p:cNvSpPr/>
          <p:nvPr/>
        </p:nvSpPr>
        <p:spPr>
          <a:xfrm>
            <a:off x="6492240" y="1737360"/>
            <a:ext cx="5120280" cy="42058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facts heading 2"/>
          <p:cNvSpPr/>
          <p:nvPr/>
        </p:nvSpPr>
        <p:spPr>
          <a:xfrm>
            <a:off x="6766560" y="1965960"/>
            <a:ext cx="4571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Arial"/>
                <a:ea typeface="Arial"/>
              </a:rPr>
              <a:t>How it works</a:t>
            </a:r>
            <a:endParaRPr lang="en-US" sz="1800" b="0" u="none" strike="noStrike">
              <a:solidFill>
                <a:srgbClr val="000000"/>
              </a:solidFill>
              <a:effectLst/>
              <a:uFillTx/>
              <a:latin typeface="Arial"/>
            </a:endParaRPr>
          </a:p>
        </p:txBody>
      </p:sp>
      <p:sp>
        <p:nvSpPr>
          <p:cNvPr id="95" name="facts list 2"/>
          <p:cNvSpPr/>
          <p:nvPr/>
        </p:nvSpPr>
        <p:spPr>
          <a:xfrm>
            <a:off x="6766560" y="2514600"/>
            <a:ext cx="4571640" cy="18284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It knows where it is on the track by counting distance</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It uses the plan for speed and turn</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Small errors grow, and it leaves the line</a:t>
            </a:r>
            <a:endParaRPr lang="en-US" sz="1500" b="0" u="none" strike="noStrike">
              <a:solidFill>
                <a:srgbClr val="000000"/>
              </a:solidFill>
              <a:effectLst/>
              <a:uFillTx/>
              <a:latin typeface="Arial"/>
            </a:endParaRPr>
          </a:p>
        </p:txBody>
      </p:sp>
      <p:sp>
        <p:nvSpPr>
          <p:cNvPr id="96" name="facts result 2"/>
          <p:cNvSpPr/>
          <p:nvPr/>
        </p:nvSpPr>
        <p:spPr>
          <a:xfrm>
            <a:off x="6766560" y="4480560"/>
            <a:ext cx="4571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Blind mode derails on every map. A plan with no correction drifts off the line.</a:t>
            </a:r>
            <a:endParaRPr lang="en-US" sz="1500" b="0" u="none" strike="noStrike">
              <a:solidFill>
                <a:srgbClr val="000000"/>
              </a:solidFill>
              <a:effectLst/>
              <a:uFillTx/>
              <a:latin typeface="Arial"/>
            </a:endParaRPr>
          </a:p>
        </p:txBody>
      </p:sp>
      <p:sp>
        <p:nvSpPr>
          <p:cNvPr id="97" name="PlaceHolder 3"/>
          <p:cNvSpPr>
            <a:spLocks noGrp="1"/>
          </p:cNvSpPr>
          <p:nvPr>
            <p:ph type="sldNum" idx="10"/>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1A7A5654-1391-42FA-9803-7C7EE7FAF492}"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Board 3: Full map plus IR</a:t>
            </a:r>
            <a:endParaRPr lang="en-US" sz="3200" b="0" u="none" strike="noStrike">
              <a:solidFill>
                <a:schemeClr val="dk1"/>
              </a:solidFill>
              <a:effectLst/>
              <a:uFillTx/>
              <a:latin typeface="Calibri"/>
            </a:endParaRPr>
          </a:p>
        </p:txBody>
      </p:sp>
      <p:sp>
        <p:nvSpPr>
          <p:cNvPr id="99"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The plan, with the sensors correcting it</a:t>
            </a:r>
            <a:endParaRPr lang="en-US" sz="1600" b="0" u="none" strike="noStrike">
              <a:solidFill>
                <a:schemeClr val="dk1"/>
              </a:solidFill>
              <a:effectLst/>
              <a:uFillTx/>
              <a:latin typeface="Calibri"/>
            </a:endParaRPr>
          </a:p>
        </p:txBody>
      </p:sp>
      <p:sp>
        <p:nvSpPr>
          <p:cNvPr id="100" name="board detail text 3"/>
          <p:cNvSpPr/>
          <p:nvPr/>
        </p:nvSpPr>
        <p:spPr>
          <a:xfrm>
            <a:off x="548640" y="1737360"/>
            <a:ext cx="5486040" cy="310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This board uses the same plan as blind mode, and adds a correction. The sensors measure how far the robot has drifted, and a steering loop nudges the wheels back on the line. The sensors also bridge short gaps, and spot the finish when the tape ends.</a:t>
            </a:r>
            <a:endParaRPr lang="en-US" sz="1600" b="0" u="none" strike="noStrike">
              <a:solidFill>
                <a:srgbClr val="000000"/>
              </a:solidFill>
              <a:effectLst/>
              <a:uFillTx/>
              <a:latin typeface="Arial"/>
            </a:endParaRPr>
          </a:p>
        </p:txBody>
      </p:sp>
      <p:sp>
        <p:nvSpPr>
          <p:cNvPr id="101" name="board facts 3"/>
          <p:cNvSpPr/>
          <p:nvPr/>
        </p:nvSpPr>
        <p:spPr>
          <a:xfrm>
            <a:off x="6492240" y="1737360"/>
            <a:ext cx="5120280" cy="42058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 name="facts heading 3"/>
          <p:cNvSpPr/>
          <p:nvPr/>
        </p:nvSpPr>
        <p:spPr>
          <a:xfrm>
            <a:off x="6766560" y="1965960"/>
            <a:ext cx="4571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Arial"/>
                <a:ea typeface="Arial"/>
              </a:rPr>
              <a:t>How it works</a:t>
            </a:r>
            <a:endParaRPr lang="en-US" sz="1800" b="0" u="none" strike="noStrike">
              <a:solidFill>
                <a:srgbClr val="000000"/>
              </a:solidFill>
              <a:effectLst/>
              <a:uFillTx/>
              <a:latin typeface="Arial"/>
            </a:endParaRPr>
          </a:p>
        </p:txBody>
      </p:sp>
      <p:sp>
        <p:nvSpPr>
          <p:cNvPr id="103" name="facts list 3"/>
          <p:cNvSpPr/>
          <p:nvPr/>
        </p:nvSpPr>
        <p:spPr>
          <a:xfrm>
            <a:off x="6766560" y="2514600"/>
            <a:ext cx="4571640" cy="18284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Same fast plan as blind mode</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Sensors correct drift in real time</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Bridges short gaps and finds the finish</a:t>
            </a:r>
            <a:endParaRPr lang="en-US" sz="1500" b="0" u="none" strike="noStrike">
              <a:solidFill>
                <a:srgbClr val="000000"/>
              </a:solidFill>
              <a:effectLst/>
              <a:uFillTx/>
              <a:latin typeface="Arial"/>
            </a:endParaRPr>
          </a:p>
        </p:txBody>
      </p:sp>
      <p:sp>
        <p:nvSpPr>
          <p:cNvPr id="104" name="facts result 3"/>
          <p:cNvSpPr/>
          <p:nvPr/>
        </p:nvSpPr>
        <p:spPr>
          <a:xfrm>
            <a:off x="6766560" y="4480560"/>
            <a:ext cx="4571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Full map plus IR is our fastest board that finishes every run across the six tracks.</a:t>
            </a:r>
            <a:endParaRPr lang="en-US" sz="1500" b="0" u="none" strike="noStrike">
              <a:solidFill>
                <a:srgbClr val="000000"/>
              </a:solidFill>
              <a:effectLst/>
              <a:uFillTx/>
              <a:latin typeface="Arial"/>
            </a:endParaRPr>
          </a:p>
        </p:txBody>
      </p:sp>
      <p:sp>
        <p:nvSpPr>
          <p:cNvPr id="105" name="PlaceHolder 3"/>
          <p:cNvSpPr>
            <a:spLocks noGrp="1"/>
          </p:cNvSpPr>
          <p:nvPr>
            <p:ph type="sldNum" idx="11"/>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F4E68F83-C74A-4369-BE9F-88D283234590}"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Board 4: Double IR</a:t>
            </a:r>
            <a:endParaRPr lang="en-US" sz="3200" b="0" u="none" strike="noStrike">
              <a:solidFill>
                <a:schemeClr val="dk1"/>
              </a:solidFill>
              <a:effectLst/>
              <a:uFillTx/>
              <a:latin typeface="Calibri"/>
            </a:endParaRPr>
          </a:p>
        </p:txBody>
      </p:sp>
      <p:sp>
        <p:nvSpPr>
          <p:cNvPr id="107"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Reading the curve as it drives</a:t>
            </a:r>
            <a:endParaRPr lang="en-US" sz="1600" b="0" u="none" strike="noStrike">
              <a:solidFill>
                <a:schemeClr val="dk1"/>
              </a:solidFill>
              <a:effectLst/>
              <a:uFillTx/>
              <a:latin typeface="Calibri"/>
            </a:endParaRPr>
          </a:p>
        </p:txBody>
      </p:sp>
      <p:sp>
        <p:nvSpPr>
          <p:cNvPr id="108" name="board detail text 4"/>
          <p:cNvSpPr/>
          <p:nvPr/>
        </p:nvSpPr>
        <p:spPr>
          <a:xfrm>
            <a:off x="548640" y="1737360"/>
            <a:ext cx="5486040" cy="310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This board needs no map. It has two rows of sensors, one in front of the wheels and one behind. The two rows tell the robot which way the line is turning. Wheel counters tell it how fast it is turning itself. Together, these give the sharpness of the bend, and the robot sets its speed to match.</a:t>
            </a:r>
            <a:endParaRPr lang="en-US" sz="1600" b="0" u="none" strike="noStrike">
              <a:solidFill>
                <a:srgbClr val="000000"/>
              </a:solidFill>
              <a:effectLst/>
              <a:uFillTx/>
              <a:latin typeface="Arial"/>
            </a:endParaRPr>
          </a:p>
        </p:txBody>
      </p:sp>
      <p:sp>
        <p:nvSpPr>
          <p:cNvPr id="109" name="board facts 4"/>
          <p:cNvSpPr/>
          <p:nvPr/>
        </p:nvSpPr>
        <p:spPr>
          <a:xfrm>
            <a:off x="6492240" y="1737360"/>
            <a:ext cx="5120280" cy="42058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 name="facts heading 4"/>
          <p:cNvSpPr/>
          <p:nvPr/>
        </p:nvSpPr>
        <p:spPr>
          <a:xfrm>
            <a:off x="6766560" y="1965960"/>
            <a:ext cx="4571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Arial"/>
                <a:ea typeface="Arial"/>
              </a:rPr>
              <a:t>How it works</a:t>
            </a:r>
            <a:endParaRPr lang="en-US" sz="1800" b="0" u="none" strike="noStrike">
              <a:solidFill>
                <a:srgbClr val="000000"/>
              </a:solidFill>
              <a:effectLst/>
              <a:uFillTx/>
              <a:latin typeface="Arial"/>
            </a:endParaRPr>
          </a:p>
        </p:txBody>
      </p:sp>
      <p:sp>
        <p:nvSpPr>
          <p:cNvPr id="111" name="facts list 4"/>
          <p:cNvSpPr/>
          <p:nvPr/>
        </p:nvSpPr>
        <p:spPr>
          <a:xfrm>
            <a:off x="6766560" y="2514600"/>
            <a:ext cx="4571640" cy="18284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Two sensor rows give the direction of the line</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Wheel counters give the robot turn rate</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Speed is the highest safe speed for that bend, capped at 0.4 m/s</a:t>
            </a:r>
            <a:endParaRPr lang="en-US" sz="1500" b="0" u="none" strike="noStrike">
              <a:solidFill>
                <a:srgbClr val="000000"/>
              </a:solidFill>
              <a:effectLst/>
              <a:uFillTx/>
              <a:latin typeface="Arial"/>
            </a:endParaRPr>
          </a:p>
        </p:txBody>
      </p:sp>
      <p:sp>
        <p:nvSpPr>
          <p:cNvPr id="112" name="facts result 4"/>
          <p:cNvSpPr/>
          <p:nvPr/>
        </p:nvSpPr>
        <p:spPr>
          <a:xfrm>
            <a:off x="6766560" y="4480560"/>
            <a:ext cx="4571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Double IR finishes every map and every seeded run. It is slower than the map board, but it needs no map at all.</a:t>
            </a:r>
            <a:endParaRPr lang="en-US" sz="1500" b="0" u="none" strike="noStrike">
              <a:solidFill>
                <a:srgbClr val="000000"/>
              </a:solidFill>
              <a:effectLst/>
              <a:uFillTx/>
              <a:latin typeface="Arial"/>
            </a:endParaRPr>
          </a:p>
        </p:txBody>
      </p:sp>
      <p:sp>
        <p:nvSpPr>
          <p:cNvPr id="113" name="PlaceHolder 3"/>
          <p:cNvSpPr>
            <a:spLocks noGrp="1"/>
          </p:cNvSpPr>
          <p:nvPr>
            <p:ph type="sldNum" idx="12"/>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932860F4-6AC8-4F48-AF0C-67A06FD47C71}"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How the four boards compare</a:t>
            </a:r>
            <a:endParaRPr lang="en-US" sz="3200" b="0" u="none" strike="noStrike">
              <a:solidFill>
                <a:schemeClr val="dk1"/>
              </a:solidFill>
              <a:effectLst/>
              <a:uFillTx/>
              <a:latin typeface="Calibri"/>
            </a:endParaRPr>
          </a:p>
        </p:txBody>
      </p:sp>
      <p:sp>
        <p:nvSpPr>
          <p:cNvPr id="115"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Lap times in seconds on each track, same robot, same start</a:t>
            </a:r>
            <a:endParaRPr lang="en-US" sz="1600" b="0" u="none" strike="noStrike">
              <a:solidFill>
                <a:schemeClr val="dk1"/>
              </a:solidFill>
              <a:effectLst/>
              <a:uFillTx/>
              <a:latin typeface="Calibri"/>
            </a:endParaRPr>
          </a:p>
        </p:txBody>
      </p:sp>
      <p:graphicFrame>
        <p:nvGraphicFramePr>
          <p:cNvPr id="116" name="Table 0"/>
          <p:cNvGraphicFramePr/>
          <p:nvPr/>
        </p:nvGraphicFramePr>
        <p:xfrm>
          <a:off x="548640" y="1645920"/>
          <a:ext cx="11063880" cy="3200400"/>
        </p:xfrm>
        <a:graphic>
          <a:graphicData uri="http://schemas.openxmlformats.org/drawingml/2006/table">
            <a:tbl>
              <a:tblPr/>
              <a:tblGrid>
                <a:gridCol w="2651760"/>
                <a:gridCol w="1371600"/>
                <a:gridCol w="1828800"/>
                <a:gridCol w="1645920"/>
                <a:gridCol w="1828800"/>
                <a:gridCol w="1737360"/>
              </a:tblGrid>
              <a:tr h="457200">
                <a:tc>
                  <a:txBody>
                    <a:bodyPr lIns="109440" tIns="0" rIns="109440" bIns="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Track</a:t>
                      </a:r>
                      <a:endParaRPr lang="en-US" sz="1400" b="0" u="none" strike="noStrike">
                        <a:solidFill>
                          <a:srgbClr val="FFFFFF"/>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solidFill>
                      <a:srgbClr val="111111"/>
                    </a:solidFill>
                  </a:tcPr>
                </a:tc>
                <a:tc>
                  <a:txBody>
                    <a:bodyPr lIns="109440" tIns="0" rIns="109440" bIns="0" anchor="ctr">
                      <a:noAutofit/>
                    </a:bodyPr>
                    <a:p>
                      <a:pPr algn="r" defTabSz="914400">
                        <a:lnSpc>
                          <a:spcPct val="100000"/>
                        </a:lnSpc>
                        <a:tabLst>
                          <a:tab pos="0" algn="l"/>
                        </a:tabLst>
                      </a:pPr>
                      <a:r>
                        <a:rPr lang="en-US" sz="1400" b="1" u="none" strike="noStrike">
                          <a:solidFill>
                            <a:srgbClr val="FFFFFF"/>
                          </a:solidFill>
                          <a:effectLst/>
                          <a:uFillTx/>
                          <a:latin typeface="Calibri"/>
                          <a:ea typeface="Calibri"/>
                        </a:rPr>
                        <a:t>Plan</a:t>
                      </a:r>
                      <a:endParaRPr lang="en-US" sz="1400" b="0" u="none" strike="noStrike">
                        <a:solidFill>
                          <a:srgbClr val="FFFFFF"/>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solidFill>
                      <a:srgbClr val="111111"/>
                    </a:solidFill>
                  </a:tcPr>
                </a:tc>
                <a:tc>
                  <a:txBody>
                    <a:bodyPr lIns="109440" tIns="0" rIns="109440" bIns="0" anchor="ctr">
                      <a:noAutofit/>
                    </a:bodyPr>
                    <a:p>
                      <a:pPr algn="r" defTabSz="914400">
                        <a:lnSpc>
                          <a:spcPct val="100000"/>
                        </a:lnSpc>
                        <a:tabLst>
                          <a:tab pos="0" algn="l"/>
                        </a:tabLst>
                      </a:pPr>
                      <a:r>
                        <a:rPr lang="en-US" sz="1400" b="1" u="none" strike="noStrike">
                          <a:solidFill>
                            <a:srgbClr val="FFFFFF"/>
                          </a:solidFill>
                          <a:effectLst/>
                          <a:uFillTx/>
                          <a:latin typeface="Calibri"/>
                          <a:ea typeface="Calibri"/>
                        </a:rPr>
                        <a:t>Normal PID</a:t>
                      </a:r>
                      <a:endParaRPr lang="en-US" sz="1400" b="0" u="none" strike="noStrike">
                        <a:solidFill>
                          <a:srgbClr val="FFFFFF"/>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solidFill>
                      <a:srgbClr val="111111"/>
                    </a:solidFill>
                  </a:tcPr>
                </a:tc>
                <a:tc>
                  <a:txBody>
                    <a:bodyPr lIns="109440" tIns="0" rIns="109440" bIns="0" anchor="ctr">
                      <a:noAutofit/>
                    </a:bodyPr>
                    <a:p>
                      <a:pPr algn="r" defTabSz="914400">
                        <a:lnSpc>
                          <a:spcPct val="100000"/>
                        </a:lnSpc>
                        <a:tabLst>
                          <a:tab pos="0" algn="l"/>
                        </a:tabLst>
                      </a:pPr>
                      <a:r>
                        <a:rPr lang="en-US" sz="1400" b="1" u="none" strike="noStrike">
                          <a:solidFill>
                            <a:srgbClr val="FFFFFF"/>
                          </a:solidFill>
                          <a:effectLst/>
                          <a:uFillTx/>
                          <a:latin typeface="Calibri"/>
                          <a:ea typeface="Calibri"/>
                        </a:rPr>
                        <a:t>Blind</a:t>
                      </a:r>
                      <a:endParaRPr lang="en-US" sz="1400" b="0" u="none" strike="noStrike">
                        <a:solidFill>
                          <a:srgbClr val="FFFFFF"/>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solidFill>
                      <a:srgbClr val="111111"/>
                    </a:solidFill>
                  </a:tcPr>
                </a:tc>
                <a:tc>
                  <a:txBody>
                    <a:bodyPr lIns="109440" tIns="0" rIns="109440" bIns="0" anchor="ctr">
                      <a:noAutofit/>
                    </a:bodyPr>
                    <a:p>
                      <a:pPr algn="r" defTabSz="914400">
                        <a:lnSpc>
                          <a:spcPct val="100000"/>
                        </a:lnSpc>
                        <a:tabLst>
                          <a:tab pos="0" algn="l"/>
                        </a:tabLst>
                      </a:pPr>
                      <a:r>
                        <a:rPr lang="en-US" sz="1400" b="1" u="none" strike="noStrike">
                          <a:solidFill>
                            <a:srgbClr val="FFFFFF"/>
                          </a:solidFill>
                          <a:effectLst/>
                          <a:uFillTx/>
                          <a:latin typeface="Calibri"/>
                          <a:ea typeface="Calibri"/>
                        </a:rPr>
                        <a:t>Map plus IR</a:t>
                      </a:r>
                      <a:endParaRPr lang="en-US" sz="1400" b="0" u="none" strike="noStrike">
                        <a:solidFill>
                          <a:srgbClr val="FFFFFF"/>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solidFill>
                      <a:srgbClr val="111111"/>
                    </a:solidFill>
                  </a:tcPr>
                </a:tc>
                <a:tc>
                  <a:txBody>
                    <a:bodyPr lIns="109440" tIns="0" rIns="109440" bIns="0" anchor="ctr">
                      <a:noAutofit/>
                    </a:bodyPr>
                    <a:p>
                      <a:pPr algn="r" defTabSz="914400">
                        <a:lnSpc>
                          <a:spcPct val="100000"/>
                        </a:lnSpc>
                        <a:tabLst>
                          <a:tab pos="0" algn="l"/>
                        </a:tabLst>
                      </a:pPr>
                      <a:r>
                        <a:rPr lang="en-US" sz="1400" b="1" u="none" strike="noStrike">
                          <a:solidFill>
                            <a:srgbClr val="FFFFFF"/>
                          </a:solidFill>
                          <a:effectLst/>
                          <a:uFillTx/>
                          <a:latin typeface="Calibri"/>
                          <a:ea typeface="Calibri"/>
                        </a:rPr>
                        <a:t>Double IR</a:t>
                      </a:r>
                      <a:endParaRPr lang="en-US" sz="1400" b="0" u="none" strike="noStrike">
                        <a:solidFill>
                          <a:srgbClr val="FFFFFF"/>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solidFill>
                      <a:srgbClr val="111111"/>
                    </a:solidFill>
                  </a:tcPr>
                </a:tc>
              </a:tr>
              <a:tr h="457200">
                <a:tc>
                  <a:txBody>
                    <a:bodyPr lIns="109440" tIns="0" rIns="109440" bIns="0" anchor="ctr">
                      <a:noAutofit/>
                    </a:bodyPr>
                    <a:p>
                      <a:pPr defTabSz="914400">
                        <a:lnSpc>
                          <a:spcPct val="100000"/>
                        </a:lnSpc>
                        <a:tabLst>
                          <a:tab pos="0" algn="l"/>
                        </a:tabLst>
                      </a:pPr>
                      <a:r>
                        <a:rPr lang="en-US" sz="1400" b="0" u="none" strike="noStrike">
                          <a:solidFill>
                            <a:srgbClr val="111111"/>
                          </a:solidFill>
                          <a:effectLst/>
                          <a:uFillTx/>
                          <a:latin typeface="Calibri"/>
                          <a:ea typeface="Calibri"/>
                        </a:rPr>
                        <a:t>Warm-Up Oval</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6.06</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23.27</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derailed</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1" u="none" strike="noStrike">
                          <a:solidFill>
                            <a:srgbClr val="111111"/>
                          </a:solidFill>
                          <a:effectLst/>
                          <a:uFillTx/>
                          <a:latin typeface="Calibri"/>
                          <a:ea typeface="Calibri"/>
                        </a:rPr>
                        <a:t>7.11</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12.04</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r>
              <a:tr h="457200">
                <a:tc>
                  <a:txBody>
                    <a:bodyPr lIns="109440" tIns="0" rIns="109440" bIns="0" anchor="ctr">
                      <a:noAutofit/>
                    </a:bodyPr>
                    <a:p>
                      <a:pPr defTabSz="914400">
                        <a:lnSpc>
                          <a:spcPct val="100000"/>
                        </a:lnSpc>
                        <a:tabLst>
                          <a:tab pos="0" algn="l"/>
                        </a:tabLst>
                      </a:pPr>
                      <a:r>
                        <a:rPr lang="en-US" sz="1400" b="0" u="none" strike="noStrike">
                          <a:solidFill>
                            <a:srgbClr val="111111"/>
                          </a:solidFill>
                          <a:effectLst/>
                          <a:uFillTx/>
                          <a:latin typeface="Calibri"/>
                          <a:ea typeface="Calibri"/>
                        </a:rPr>
                        <a:t>Chicane</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3.74</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12.03</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derailed</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1" u="none" strike="noStrike">
                          <a:solidFill>
                            <a:srgbClr val="111111"/>
                          </a:solidFill>
                          <a:effectLst/>
                          <a:uFillTx/>
                          <a:latin typeface="Calibri"/>
                          <a:ea typeface="Calibri"/>
                        </a:rPr>
                        <a:t>4.26</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6.07</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r>
              <a:tr h="457200">
                <a:tc>
                  <a:txBody>
                    <a:bodyPr lIns="109440" tIns="0" rIns="109440" bIns="0" anchor="ctr">
                      <a:noAutofit/>
                    </a:bodyPr>
                    <a:p>
                      <a:pPr defTabSz="914400">
                        <a:lnSpc>
                          <a:spcPct val="100000"/>
                        </a:lnSpc>
                        <a:tabLst>
                          <a:tab pos="0" algn="l"/>
                        </a:tabLst>
                      </a:pPr>
                      <a:r>
                        <a:rPr lang="en-US" sz="1400" b="0" u="none" strike="noStrike">
                          <a:solidFill>
                            <a:srgbClr val="111111"/>
                          </a:solidFill>
                          <a:effectLst/>
                          <a:uFillTx/>
                          <a:latin typeface="Calibri"/>
                          <a:ea typeface="Calibri"/>
                        </a:rPr>
                        <a:t>Hairpin Alley</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5.18</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16.24</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derailed</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1" u="none" strike="noStrike">
                          <a:solidFill>
                            <a:srgbClr val="111111"/>
                          </a:solidFill>
                          <a:effectLst/>
                          <a:uFillTx/>
                          <a:latin typeface="Calibri"/>
                          <a:ea typeface="Calibri"/>
                        </a:rPr>
                        <a:t>5.44</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7.45</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r>
              <a:tr h="457200">
                <a:tc>
                  <a:txBody>
                    <a:bodyPr lIns="109440" tIns="0" rIns="109440" bIns="0" anchor="ctr">
                      <a:noAutofit/>
                    </a:bodyPr>
                    <a:p>
                      <a:pPr defTabSz="914400">
                        <a:lnSpc>
                          <a:spcPct val="100000"/>
                        </a:lnSpc>
                        <a:tabLst>
                          <a:tab pos="0" algn="l"/>
                        </a:tabLst>
                      </a:pPr>
                      <a:r>
                        <a:rPr lang="en-US" sz="1400" b="0" u="none" strike="noStrike">
                          <a:solidFill>
                            <a:srgbClr val="111111"/>
                          </a:solidFill>
                          <a:effectLst/>
                          <a:uFillTx/>
                          <a:latin typeface="Calibri"/>
                          <a:ea typeface="Calibri"/>
                        </a:rPr>
                        <a:t>Dashed Line</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3.57</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13.25</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derailed</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1" u="none" strike="noStrike">
                          <a:solidFill>
                            <a:srgbClr val="111111"/>
                          </a:solidFill>
                          <a:effectLst/>
                          <a:uFillTx/>
                          <a:latin typeface="Calibri"/>
                          <a:ea typeface="Calibri"/>
                        </a:rPr>
                        <a:t>4.27</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6.90</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r>
              <a:tr h="457200">
                <a:tc>
                  <a:txBody>
                    <a:bodyPr lIns="109440" tIns="0" rIns="109440" bIns="0" anchor="ctr">
                      <a:noAutofit/>
                    </a:bodyPr>
                    <a:p>
                      <a:pPr defTabSz="914400">
                        <a:lnSpc>
                          <a:spcPct val="100000"/>
                        </a:lnSpc>
                        <a:tabLst>
                          <a:tab pos="0" algn="l"/>
                        </a:tabLst>
                      </a:pPr>
                      <a:r>
                        <a:rPr lang="en-US" sz="1400" b="0" u="none" strike="noStrike">
                          <a:solidFill>
                            <a:srgbClr val="111111"/>
                          </a:solidFill>
                          <a:effectLst/>
                          <a:uFillTx/>
                          <a:latin typeface="Calibri"/>
                          <a:ea typeface="Calibri"/>
                        </a:rPr>
                        <a:t>Zig-Zag</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3.99</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10.90</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derailed</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1" u="none" strike="noStrike">
                          <a:solidFill>
                            <a:srgbClr val="111111"/>
                          </a:solidFill>
                          <a:effectLst/>
                          <a:uFillTx/>
                          <a:latin typeface="Calibri"/>
                          <a:ea typeface="Calibri"/>
                        </a:rPr>
                        <a:t>4.17</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4.99</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r>
              <a:tr h="457200">
                <a:tc>
                  <a:txBody>
                    <a:bodyPr lIns="109440" tIns="0" rIns="109440" bIns="0" anchor="ctr">
                      <a:noAutofit/>
                    </a:bodyPr>
                    <a:p>
                      <a:pPr defTabSz="914400">
                        <a:lnSpc>
                          <a:spcPct val="100000"/>
                        </a:lnSpc>
                        <a:tabLst>
                          <a:tab pos="0" algn="l"/>
                        </a:tabLst>
                      </a:pPr>
                      <a:r>
                        <a:rPr lang="en-US" sz="1400" b="0" u="none" strike="noStrike">
                          <a:solidFill>
                            <a:srgbClr val="111111"/>
                          </a:solidFill>
                          <a:effectLst/>
                          <a:uFillTx/>
                          <a:latin typeface="Calibri"/>
                          <a:ea typeface="Calibri"/>
                        </a:rPr>
                        <a:t>Sweepers</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5.58</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24.08</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6B6B6B"/>
                          </a:solidFill>
                          <a:effectLst/>
                          <a:uFillTx/>
                          <a:latin typeface="Calibri"/>
                          <a:ea typeface="Calibri"/>
                        </a:rPr>
                        <a:t>derailed</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1" u="none" strike="noStrike">
                          <a:solidFill>
                            <a:srgbClr val="111111"/>
                          </a:solidFill>
                          <a:effectLst/>
                          <a:uFillTx/>
                          <a:latin typeface="Calibri"/>
                          <a:ea typeface="Calibri"/>
                        </a:rPr>
                        <a:t>6.62</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c>
                  <a:txBody>
                    <a:bodyPr lIns="109440" tIns="0" rIns="109440" bIns="0" anchor="ctr">
                      <a:noAutofit/>
                    </a:bodyPr>
                    <a:p>
                      <a:pPr algn="r" defTabSz="914400">
                        <a:lnSpc>
                          <a:spcPct val="100000"/>
                        </a:lnSpc>
                        <a:tabLst>
                          <a:tab pos="0" algn="l"/>
                        </a:tabLst>
                      </a:pPr>
                      <a:r>
                        <a:rPr lang="en-US" sz="1400" b="0" u="none" strike="noStrike">
                          <a:solidFill>
                            <a:srgbClr val="111111"/>
                          </a:solidFill>
                          <a:effectLst/>
                          <a:uFillTx/>
                          <a:latin typeface="Calibri"/>
                          <a:ea typeface="Calibri"/>
                        </a:rPr>
                        <a:t>13.15</a:t>
                      </a:r>
                      <a:endParaRPr lang="en-US" sz="1400" b="0" u="none" strike="noStrike">
                        <a:solidFill>
                          <a:srgbClr val="000000"/>
                        </a:solidFill>
                        <a:effectLst/>
                        <a:uFillTx/>
                        <a:latin typeface="Arial"/>
                      </a:endParaRPr>
                    </a:p>
                  </a:txBody>
                  <a:tcPr anchor="ctr" marL="109440" marR="109440" marT="0" marB="0">
                    <a:lnL w="9360">
                      <a:solidFill>
                        <a:srgbClr val="D9D9D9"/>
                      </a:solidFill>
                      <a:prstDash val="solid"/>
                    </a:lnL>
                    <a:lnR w="9360">
                      <a:solidFill>
                        <a:srgbClr val="D9D9D9"/>
                      </a:solidFill>
                      <a:prstDash val="solid"/>
                    </a:lnR>
                    <a:lnT w="9360">
                      <a:solidFill>
                        <a:srgbClr val="D9D9D9"/>
                      </a:solidFill>
                      <a:prstDash val="solid"/>
                    </a:lnT>
                    <a:lnB w="9360">
                      <a:solidFill>
                        <a:srgbClr val="D9D9D9"/>
                      </a:solidFill>
                      <a:prstDash val="solid"/>
                    </a:lnB>
                    <a:noFill/>
                  </a:tcPr>
                </a:tc>
              </a:tr>
            </a:tbl>
          </a:graphicData>
        </a:graphic>
      </p:graphicFrame>
      <p:sp>
        <p:nvSpPr>
          <p:cNvPr id="117" name="results summary"/>
          <p:cNvSpPr/>
          <p:nvPr/>
        </p:nvSpPr>
        <p:spPr>
          <a:xfrm>
            <a:off x="548640" y="5349240"/>
            <a:ext cx="1106388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Share of runs that finished, across all six tracks and 40 different noise settings: Normal PID 98.8 percent (237 of 240 runs), Blind 0 percent, Map plus IR 100 percent, Double IR 100 percent.</a:t>
            </a:r>
            <a:endParaRPr lang="en-US" sz="1600" b="0" u="none" strike="noStrike">
              <a:solidFill>
                <a:srgbClr val="000000"/>
              </a:solidFill>
              <a:effectLst/>
              <a:uFillTx/>
              <a:latin typeface="Arial"/>
            </a:endParaRPr>
          </a:p>
        </p:txBody>
      </p:sp>
      <p:sp>
        <p:nvSpPr>
          <p:cNvPr id="118" name="PlaceHolder 3"/>
          <p:cNvSpPr>
            <a:spLocks noGrp="1"/>
          </p:cNvSpPr>
          <p:nvPr>
            <p:ph type="sldNum" idx="13"/>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8A920385-8CF6-4695-A82A-B1630556C696}"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1: The robot body</a:t>
            </a:r>
            <a:endParaRPr lang="en-US" sz="3200" b="0" u="none" strike="noStrike">
              <a:solidFill>
                <a:schemeClr val="dk1"/>
              </a:solidFill>
              <a:effectLst/>
              <a:uFillTx/>
              <a:latin typeface="Calibri"/>
            </a:endParaRPr>
          </a:p>
        </p:txBody>
      </p:sp>
      <p:sp>
        <p:nvSpPr>
          <p:cNvPr id="120"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Simple numbers, shown as an engineering drawing</a:t>
            </a:r>
            <a:endParaRPr lang="en-US" sz="1600" b="0" u="none" strike="noStrike">
              <a:solidFill>
                <a:schemeClr val="dk1"/>
              </a:solidFill>
              <a:effectLst/>
              <a:uFillTx/>
              <a:latin typeface="Calibri"/>
            </a:endParaRPr>
          </a:p>
        </p:txBody>
      </p:sp>
      <p:pic>
        <p:nvPicPr>
          <p:cNvPr id="121" name="Image 0" descr="Engineering drawing of the robot body"/>
          <p:cNvPicPr/>
          <p:nvPr/>
        </p:nvPicPr>
        <p:blipFill>
          <a:blip r:embed="rId1"/>
          <a:stretch/>
        </p:blipFill>
        <p:spPr>
          <a:xfrm>
            <a:off x="548640" y="1600200"/>
            <a:ext cx="11063880" cy="4854240"/>
          </a:xfrm>
          <a:prstGeom prst="rect">
            <a:avLst/>
          </a:prstGeom>
          <a:noFill/>
          <a:ln w="0">
            <a:noFill/>
          </a:ln>
        </p:spPr>
      </p:pic>
      <p:sp>
        <p:nvSpPr>
          <p:cNvPr id="122" name="PlaceHolder 3"/>
          <p:cNvSpPr>
            <a:spLocks noGrp="1"/>
          </p:cNvSpPr>
          <p:nvPr>
            <p:ph type="sldNum" idx="14"/>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30D11525-21E2-4C09-BE7D-D275DE66C117}"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2: How the robot finds the line</a:t>
            </a:r>
            <a:endParaRPr lang="en-US" sz="3200" b="0" u="none" strike="noStrike">
              <a:solidFill>
                <a:schemeClr val="dk1"/>
              </a:solidFill>
              <a:effectLst/>
              <a:uFillTx/>
              <a:latin typeface="Calibri"/>
            </a:endParaRPr>
          </a:p>
        </p:txBody>
      </p:sp>
      <p:sp>
        <p:nvSpPr>
          <p:cNvPr id="124"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Five sensors, and a weighted average</a:t>
            </a:r>
            <a:endParaRPr lang="en-US" sz="1600" b="0" u="none" strike="noStrike">
              <a:solidFill>
                <a:schemeClr val="dk1"/>
              </a:solidFill>
              <a:effectLst/>
              <a:uFillTx/>
              <a:latin typeface="Calibri"/>
            </a:endParaRPr>
          </a:p>
        </p:txBody>
      </p:sp>
      <p:sp>
        <p:nvSpPr>
          <p:cNvPr id="125" name="sensor panel"/>
          <p:cNvSpPr/>
          <p:nvPr/>
        </p:nvSpPr>
        <p:spPr>
          <a:xfrm>
            <a:off x="548640" y="1737360"/>
            <a:ext cx="5303160" cy="429732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 name="sensor list"/>
          <p:cNvSpPr/>
          <p:nvPr/>
        </p:nvSpPr>
        <p:spPr>
          <a:xfrm>
            <a:off x="822960" y="2103120"/>
            <a:ext cx="4754520" cy="3657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444444"/>
              </a:buClr>
              <a:buFont typeface="Symbol" charset="2"/>
              <a:buChar char=""/>
            </a:pPr>
            <a:r>
              <a:rPr lang="en-US" sz="1700" b="0" u="none" strike="noStrike">
                <a:solidFill>
                  <a:schemeClr val="dk2"/>
                </a:solidFill>
                <a:effectLst/>
                <a:uFillTx/>
                <a:latin typeface="Calibri"/>
              </a:rPr>
              <a:t>Five sensors, 12 millimetres apart</a:t>
            </a:r>
            <a:endParaRPr lang="en-US" sz="17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700" b="0" u="none" strike="noStrike">
                <a:solidFill>
                  <a:schemeClr val="dk2"/>
                </a:solidFill>
                <a:effectLst/>
                <a:uFillTx/>
                <a:latin typeface="Calibri"/>
              </a:rPr>
              <a:t>Each reads light or dark</a:t>
            </a:r>
            <a:endParaRPr lang="en-US" sz="17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700" b="0" u="none" strike="noStrike">
                <a:solidFill>
                  <a:schemeClr val="dk2"/>
                </a:solidFill>
                <a:effectLst/>
                <a:uFillTx/>
                <a:latin typeface="Calibri"/>
              </a:rPr>
              <a:t>The line position is the average of the dark readings</a:t>
            </a:r>
            <a:endParaRPr lang="en-US" sz="17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700" b="0" u="none" strike="noStrike">
                <a:solidFill>
                  <a:schemeClr val="dk2"/>
                </a:solidFill>
                <a:effectLst/>
                <a:uFillTx/>
                <a:latin typeface="Calibri"/>
              </a:rPr>
              <a:t>If the line is off centre, the robot steers back</a:t>
            </a:r>
            <a:endParaRPr lang="en-US" sz="1700" b="0" u="none" strike="noStrike">
              <a:solidFill>
                <a:srgbClr val="000000"/>
              </a:solidFill>
              <a:effectLst/>
              <a:uFillTx/>
              <a:latin typeface="Arial"/>
            </a:endParaRPr>
          </a:p>
        </p:txBody>
      </p:sp>
      <p:sp>
        <p:nvSpPr>
          <p:cNvPr id="127" name="sensor example panel"/>
          <p:cNvSpPr/>
          <p:nvPr/>
        </p:nvSpPr>
        <p:spPr>
          <a:xfrm>
            <a:off x="6309360" y="1737360"/>
            <a:ext cx="5303160" cy="429732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 name="sensor example heading"/>
          <p:cNvSpPr/>
          <p:nvPr/>
        </p:nvSpPr>
        <p:spPr>
          <a:xfrm>
            <a:off x="6583680" y="201168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Example</a:t>
            </a:r>
            <a:endParaRPr lang="en-US" sz="2000" b="0" u="none" strike="noStrike">
              <a:solidFill>
                <a:srgbClr val="000000"/>
              </a:solidFill>
              <a:effectLst/>
              <a:uFillTx/>
              <a:latin typeface="Arial"/>
            </a:endParaRPr>
          </a:p>
        </p:txBody>
      </p:sp>
      <p:sp>
        <p:nvSpPr>
          <p:cNvPr id="129" name="sensor example text"/>
          <p:cNvSpPr/>
          <p:nvPr/>
        </p:nvSpPr>
        <p:spPr>
          <a:xfrm>
            <a:off x="6583680" y="2606040"/>
            <a:ext cx="4754520" cy="2377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2"/>
                </a:solidFill>
                <a:effectLst/>
                <a:uFillTx/>
                <a:latin typeface="Calibri"/>
              </a:rPr>
              <a:t>If only the second and third sensors see the line, the line is near the middle. If only the far left sensor sees it, the line is far to the left and the robot needs a hard turn.</a:t>
            </a:r>
            <a:endParaRPr lang="en-US" sz="1700" b="0" u="none" strike="noStrike">
              <a:solidFill>
                <a:srgbClr val="000000"/>
              </a:solidFill>
              <a:effectLst/>
              <a:uFillTx/>
              <a:latin typeface="Arial"/>
            </a:endParaRPr>
          </a:p>
        </p:txBody>
      </p:sp>
      <p:sp>
        <p:nvSpPr>
          <p:cNvPr id="130" name="PlaceHolder 3"/>
          <p:cNvSpPr>
            <a:spLocks noGrp="1"/>
          </p:cNvSpPr>
          <p:nvPr>
            <p:ph type="sldNum" idx="15"/>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02C03053-41C0-4F11-9825-EFEB02A79329}"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3: The steering loop</a:t>
            </a:r>
            <a:endParaRPr lang="en-US" sz="3200" b="0" u="none" strike="noStrike">
              <a:solidFill>
                <a:schemeClr val="dk1"/>
              </a:solidFill>
              <a:effectLst/>
              <a:uFillTx/>
              <a:latin typeface="Calibri"/>
            </a:endParaRPr>
          </a:p>
        </p:txBody>
      </p:sp>
      <p:sp>
        <p:nvSpPr>
          <p:cNvPr id="132"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A simple rule, applied 500 times a second</a:t>
            </a:r>
            <a:endParaRPr lang="en-US" sz="1600" b="0" u="none" strike="noStrike">
              <a:solidFill>
                <a:schemeClr val="dk1"/>
              </a:solidFill>
              <a:effectLst/>
              <a:uFillTx/>
              <a:latin typeface="Calibri"/>
            </a:endParaRPr>
          </a:p>
        </p:txBody>
      </p:sp>
      <p:sp>
        <p:nvSpPr>
          <p:cNvPr id="133" name="pid card 1"/>
          <p:cNvSpPr/>
          <p:nvPr/>
        </p:nvSpPr>
        <p:spPr>
          <a:xfrm>
            <a:off x="548640" y="1737360"/>
            <a:ext cx="3474360" cy="28342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 name="pid heading 1"/>
          <p:cNvSpPr/>
          <p:nvPr/>
        </p:nvSpPr>
        <p:spPr>
          <a:xfrm>
            <a:off x="822960" y="2011680"/>
            <a:ext cx="29257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ea typeface="Arial"/>
              </a:rPr>
              <a:t>P: how far off</a:t>
            </a:r>
            <a:endParaRPr lang="en-US" sz="1900" b="0" u="none" strike="noStrike">
              <a:solidFill>
                <a:srgbClr val="000000"/>
              </a:solidFill>
              <a:effectLst/>
              <a:uFillTx/>
              <a:latin typeface="Arial"/>
            </a:endParaRPr>
          </a:p>
        </p:txBody>
      </p:sp>
      <p:sp>
        <p:nvSpPr>
          <p:cNvPr id="135" name="pid text 1"/>
          <p:cNvSpPr/>
          <p:nvPr/>
        </p:nvSpPr>
        <p:spPr>
          <a:xfrm>
            <a:off x="822960" y="2651760"/>
            <a:ext cx="2925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Turn harder when the line is further away</a:t>
            </a:r>
            <a:endParaRPr lang="en-US" sz="1600" b="0" u="none" strike="noStrike">
              <a:solidFill>
                <a:srgbClr val="000000"/>
              </a:solidFill>
              <a:effectLst/>
              <a:uFillTx/>
              <a:latin typeface="Arial"/>
            </a:endParaRPr>
          </a:p>
        </p:txBody>
      </p:sp>
      <p:sp>
        <p:nvSpPr>
          <p:cNvPr id="136" name="pid card 2"/>
          <p:cNvSpPr/>
          <p:nvPr/>
        </p:nvSpPr>
        <p:spPr>
          <a:xfrm>
            <a:off x="4297680" y="1737360"/>
            <a:ext cx="3474360" cy="28342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pid heading 2"/>
          <p:cNvSpPr/>
          <p:nvPr/>
        </p:nvSpPr>
        <p:spPr>
          <a:xfrm>
            <a:off x="4572000" y="2011680"/>
            <a:ext cx="29257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ea typeface="Arial"/>
              </a:rPr>
              <a:t>I: how long off</a:t>
            </a:r>
            <a:endParaRPr lang="en-US" sz="1900" b="0" u="none" strike="noStrike">
              <a:solidFill>
                <a:srgbClr val="000000"/>
              </a:solidFill>
              <a:effectLst/>
              <a:uFillTx/>
              <a:latin typeface="Arial"/>
            </a:endParaRPr>
          </a:p>
        </p:txBody>
      </p:sp>
      <p:sp>
        <p:nvSpPr>
          <p:cNvPr id="138" name="pid text 2"/>
          <p:cNvSpPr/>
          <p:nvPr/>
        </p:nvSpPr>
        <p:spPr>
          <a:xfrm>
            <a:off x="4572000" y="2651760"/>
            <a:ext cx="2925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Correct a steady error that the P part cannot clear alone</a:t>
            </a:r>
            <a:endParaRPr lang="en-US" sz="1600" b="0" u="none" strike="noStrike">
              <a:solidFill>
                <a:srgbClr val="000000"/>
              </a:solidFill>
              <a:effectLst/>
              <a:uFillTx/>
              <a:latin typeface="Arial"/>
            </a:endParaRPr>
          </a:p>
        </p:txBody>
      </p:sp>
      <p:sp>
        <p:nvSpPr>
          <p:cNvPr id="139" name="pid card 3"/>
          <p:cNvSpPr/>
          <p:nvPr/>
        </p:nvSpPr>
        <p:spPr>
          <a:xfrm>
            <a:off x="8046720" y="1737360"/>
            <a:ext cx="3474360" cy="28342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0" name="pid heading 3"/>
          <p:cNvSpPr/>
          <p:nvPr/>
        </p:nvSpPr>
        <p:spPr>
          <a:xfrm>
            <a:off x="8321040" y="2011680"/>
            <a:ext cx="29257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ea typeface="Arial"/>
              </a:rPr>
              <a:t>D: how fast it changes</a:t>
            </a:r>
            <a:endParaRPr lang="en-US" sz="1900" b="0" u="none" strike="noStrike">
              <a:solidFill>
                <a:srgbClr val="000000"/>
              </a:solidFill>
              <a:effectLst/>
              <a:uFillTx/>
              <a:latin typeface="Arial"/>
            </a:endParaRPr>
          </a:p>
        </p:txBody>
      </p:sp>
      <p:sp>
        <p:nvSpPr>
          <p:cNvPr id="141" name="pid text 3"/>
          <p:cNvSpPr/>
          <p:nvPr/>
        </p:nvSpPr>
        <p:spPr>
          <a:xfrm>
            <a:off x="8321040" y="2651760"/>
            <a:ext cx="29257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Slow down the turn when the error is closing quickly</a:t>
            </a:r>
            <a:endParaRPr lang="en-US" sz="1600" b="0" u="none" strike="noStrike">
              <a:solidFill>
                <a:srgbClr val="000000"/>
              </a:solidFill>
              <a:effectLst/>
              <a:uFillTx/>
              <a:latin typeface="Arial"/>
            </a:endParaRPr>
          </a:p>
        </p:txBody>
      </p:sp>
      <p:sp>
        <p:nvSpPr>
          <p:cNvPr id="142" name="pid footer"/>
          <p:cNvSpPr/>
          <p:nvPr/>
        </p:nvSpPr>
        <p:spPr>
          <a:xfrm>
            <a:off x="548640" y="4937760"/>
            <a:ext cx="1106388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2"/>
                </a:solidFill>
                <a:effectLst/>
                <a:uFillTx/>
                <a:latin typeface="Calibri"/>
              </a:rPr>
              <a:t>The loop runs every 2 milliseconds. That is fast enough to correct the robot long before it drifts far from the line.</a:t>
            </a:r>
            <a:endParaRPr lang="en-US" sz="1700" b="0" u="none" strike="noStrike">
              <a:solidFill>
                <a:srgbClr val="000000"/>
              </a:solidFill>
              <a:effectLst/>
              <a:uFillTx/>
              <a:latin typeface="Arial"/>
            </a:endParaRPr>
          </a:p>
        </p:txBody>
      </p:sp>
      <p:sp>
        <p:nvSpPr>
          <p:cNvPr id="143" name="PlaceHolder 3"/>
          <p:cNvSpPr>
            <a:spLocks noGrp="1"/>
          </p:cNvSpPr>
          <p:nvPr>
            <p:ph type="sldNum" idx="16"/>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0AD11F37-F70D-4D2C-9AA2-E5092D7253B6}"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4: How fast is safe in a corner</a:t>
            </a:r>
            <a:endParaRPr lang="en-US" sz="3200" b="0" u="none" strike="noStrike">
              <a:solidFill>
                <a:schemeClr val="dk1"/>
              </a:solidFill>
              <a:effectLst/>
              <a:uFillTx/>
              <a:latin typeface="Calibri"/>
            </a:endParaRPr>
          </a:p>
        </p:txBody>
      </p:sp>
      <p:sp>
        <p:nvSpPr>
          <p:cNvPr id="145"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The tighter the corner, the slower the robot must go</a:t>
            </a:r>
            <a:endParaRPr lang="en-US" sz="1600" b="0" u="none" strike="noStrike">
              <a:solidFill>
                <a:schemeClr val="dk1"/>
              </a:solidFill>
              <a:effectLst/>
              <a:uFillTx/>
              <a:latin typeface="Calibri"/>
            </a:endParaRPr>
          </a:p>
        </p:txBody>
      </p:sp>
      <p:graphicFrame>
        <p:nvGraphicFramePr>
          <p:cNvPr id="146" name="Chart 0"/>
          <p:cNvGraphicFramePr/>
          <p:nvPr/>
        </p:nvGraphicFramePr>
        <p:xfrm>
          <a:off x="548640" y="1600200"/>
          <a:ext cx="7223400" cy="4571640"/>
        </p:xfrm>
        <a:graphic>
          <a:graphicData uri="http://schemas.openxmlformats.org/drawingml/2006/chart">
            <c:chart xmlns:c="http://schemas.openxmlformats.org/drawingml/2006/chart" xmlns:r="http://schemas.openxmlformats.org/officeDocument/2006/relationships" r:id="rId1"/>
          </a:graphicData>
        </a:graphic>
      </p:graphicFrame>
      <p:sp>
        <p:nvSpPr>
          <p:cNvPr id="147" name="corner panel"/>
          <p:cNvSpPr/>
          <p:nvPr/>
        </p:nvSpPr>
        <p:spPr>
          <a:xfrm>
            <a:off x="8138160" y="1737360"/>
            <a:ext cx="3565800" cy="42058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8" name="corner rule heading"/>
          <p:cNvSpPr/>
          <p:nvPr/>
        </p:nvSpPr>
        <p:spPr>
          <a:xfrm>
            <a:off x="8412480" y="2011680"/>
            <a:ext cx="3108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ea typeface="Arial"/>
              </a:rPr>
              <a:t>The rule</a:t>
            </a:r>
            <a:endParaRPr lang="en-US" sz="1900" b="0" u="none" strike="noStrike">
              <a:solidFill>
                <a:srgbClr val="000000"/>
              </a:solidFill>
              <a:effectLst/>
              <a:uFillTx/>
              <a:latin typeface="Arial"/>
            </a:endParaRPr>
          </a:p>
        </p:txBody>
      </p:sp>
      <p:sp>
        <p:nvSpPr>
          <p:cNvPr id="149" name="corner rule"/>
          <p:cNvSpPr/>
          <p:nvPr/>
        </p:nvSpPr>
        <p:spPr>
          <a:xfrm>
            <a:off x="8412480" y="2560320"/>
            <a:ext cx="31086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Safe speed = square root of (grip times radius)</a:t>
            </a:r>
            <a:endParaRPr lang="en-US" sz="1600" b="0" u="none" strike="noStrike">
              <a:solidFill>
                <a:srgbClr val="000000"/>
              </a:solidFill>
              <a:effectLst/>
              <a:uFillTx/>
              <a:latin typeface="Arial"/>
            </a:endParaRPr>
          </a:p>
        </p:txBody>
      </p:sp>
      <p:sp>
        <p:nvSpPr>
          <p:cNvPr id="150" name="corner note"/>
          <p:cNvSpPr/>
          <p:nvPr/>
        </p:nvSpPr>
        <p:spPr>
          <a:xfrm>
            <a:off x="8412480" y="3566160"/>
            <a:ext cx="3108600" cy="2194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The map boards use a grip of 1.5 metres per second squared, with a top speed of 1 metre per second. Double IR uses a grip of 1.6, and its speed is capped at 0.4 metres per second for safety.</a:t>
            </a:r>
            <a:endParaRPr lang="en-US" sz="1500" b="0" u="none" strike="noStrike">
              <a:solidFill>
                <a:srgbClr val="000000"/>
              </a:solidFill>
              <a:effectLst/>
              <a:uFillTx/>
              <a:latin typeface="Arial"/>
            </a:endParaRPr>
          </a:p>
        </p:txBody>
      </p:sp>
      <p:sp>
        <p:nvSpPr>
          <p:cNvPr id="151" name="PlaceHolder 3"/>
          <p:cNvSpPr>
            <a:spLocks noGrp="1"/>
          </p:cNvSpPr>
          <p:nvPr>
            <p:ph type="sldNum" idx="17"/>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6580F904-D243-4C3B-99A6-E72CB9BB7562}"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5: Grip and wheel slip</a:t>
            </a:r>
            <a:endParaRPr lang="en-US" sz="3200" b="0" u="none" strike="noStrike">
              <a:solidFill>
                <a:schemeClr val="dk1"/>
              </a:solidFill>
              <a:effectLst/>
              <a:uFillTx/>
              <a:latin typeface="Calibri"/>
            </a:endParaRPr>
          </a:p>
        </p:txBody>
      </p:sp>
      <p:sp>
        <p:nvSpPr>
          <p:cNvPr id="153"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A tyre can only push so hard before it slips</a:t>
            </a:r>
            <a:endParaRPr lang="en-US" sz="1600" b="0" u="none" strike="noStrike">
              <a:solidFill>
                <a:schemeClr val="dk1"/>
              </a:solidFill>
              <a:effectLst/>
              <a:uFillTx/>
              <a:latin typeface="Calibri"/>
            </a:endParaRPr>
          </a:p>
        </p:txBody>
      </p:sp>
      <p:pic>
        <p:nvPicPr>
          <p:cNvPr id="154" name="Image 0" descr="Grip and slip drawing"/>
          <p:cNvPicPr/>
          <p:nvPr/>
        </p:nvPicPr>
        <p:blipFill>
          <a:blip r:embed="rId1"/>
          <a:stretch/>
        </p:blipFill>
        <p:spPr>
          <a:xfrm>
            <a:off x="548640" y="1600200"/>
            <a:ext cx="11063880" cy="5276520"/>
          </a:xfrm>
          <a:prstGeom prst="rect">
            <a:avLst/>
          </a:prstGeom>
          <a:noFill/>
          <a:ln w="0">
            <a:noFill/>
          </a:ln>
        </p:spPr>
      </p:pic>
      <p:sp>
        <p:nvSpPr>
          <p:cNvPr id="155" name="PlaceHolder 3"/>
          <p:cNvSpPr>
            <a:spLocks noGrp="1"/>
          </p:cNvSpPr>
          <p:nvPr>
            <p:ph type="sldNum" idx="18"/>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3C0FC642-E23A-45F9-9F63-F3B27E210C9E}"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6: How hard the robot is to turn</a:t>
            </a:r>
            <a:endParaRPr lang="en-US" sz="3200" b="0" u="none" strike="noStrike">
              <a:solidFill>
                <a:schemeClr val="dk1"/>
              </a:solidFill>
              <a:effectLst/>
              <a:uFillTx/>
              <a:latin typeface="Calibri"/>
            </a:endParaRPr>
          </a:p>
        </p:txBody>
      </p:sp>
      <p:sp>
        <p:nvSpPr>
          <p:cNvPr id="157"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Inertia: the heavier and wider the parts, the harder it is to spin</a:t>
            </a:r>
            <a:endParaRPr lang="en-US" sz="1600" b="0" u="none" strike="noStrike">
              <a:solidFill>
                <a:schemeClr val="dk1"/>
              </a:solidFill>
              <a:effectLst/>
              <a:uFillTx/>
              <a:latin typeface="Calibri"/>
            </a:endParaRPr>
          </a:p>
        </p:txBody>
      </p:sp>
      <p:pic>
        <p:nvPicPr>
          <p:cNvPr id="158" name="Image 0" descr="Yaw inertia drawing"/>
          <p:cNvPicPr/>
          <p:nvPr/>
        </p:nvPicPr>
        <p:blipFill>
          <a:blip r:embed="rId1"/>
          <a:stretch/>
        </p:blipFill>
        <p:spPr>
          <a:xfrm>
            <a:off x="548640" y="1600200"/>
            <a:ext cx="11063880" cy="5276520"/>
          </a:xfrm>
          <a:prstGeom prst="rect">
            <a:avLst/>
          </a:prstGeom>
          <a:noFill/>
          <a:ln w="0">
            <a:noFill/>
          </a:ln>
        </p:spPr>
      </p:pic>
      <p:sp>
        <p:nvSpPr>
          <p:cNvPr id="159" name="PlaceHolder 3"/>
          <p:cNvSpPr>
            <a:spLocks noGrp="1"/>
          </p:cNvSpPr>
          <p:nvPr>
            <p:ph type="sldNum" idx="19"/>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91D946DF-7F06-4079-BD00-BE9406F04CB7}"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7: Counting wheel turns</a:t>
            </a:r>
            <a:endParaRPr lang="en-US" sz="3200" b="0" u="none" strike="noStrike">
              <a:solidFill>
                <a:schemeClr val="dk1"/>
              </a:solidFill>
              <a:effectLst/>
              <a:uFillTx/>
              <a:latin typeface="Calibri"/>
            </a:endParaRPr>
          </a:p>
        </p:txBody>
      </p:sp>
      <p:sp>
        <p:nvSpPr>
          <p:cNvPr id="161"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Wheel counters tell us speed, and how sharply the robot turns</a:t>
            </a:r>
            <a:endParaRPr lang="en-US" sz="1600" b="0" u="none" strike="noStrike">
              <a:solidFill>
                <a:schemeClr val="dk1"/>
              </a:solidFill>
              <a:effectLst/>
              <a:uFillTx/>
              <a:latin typeface="Calibri"/>
            </a:endParaRPr>
          </a:p>
        </p:txBody>
      </p:sp>
      <p:pic>
        <p:nvPicPr>
          <p:cNvPr id="162" name="Image 0" descr="Wheel encoder drawing"/>
          <p:cNvPicPr/>
          <p:nvPr/>
        </p:nvPicPr>
        <p:blipFill>
          <a:blip r:embed="rId1"/>
          <a:stretch/>
        </p:blipFill>
        <p:spPr>
          <a:xfrm>
            <a:off x="548640" y="1600200"/>
            <a:ext cx="11063880" cy="5276520"/>
          </a:xfrm>
          <a:prstGeom prst="rect">
            <a:avLst/>
          </a:prstGeom>
          <a:noFill/>
          <a:ln w="0">
            <a:noFill/>
          </a:ln>
        </p:spPr>
      </p:pic>
      <p:sp>
        <p:nvSpPr>
          <p:cNvPr id="163" name="PlaceHolder 3"/>
          <p:cNvSpPr>
            <a:spLocks noGrp="1"/>
          </p:cNvSpPr>
          <p:nvPr>
            <p:ph type="sldNum" idx="20"/>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0BAC2AF5-EA63-454C-A6B9-E53FD0B59CE3}"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8: Dashed lines and gaps</a:t>
            </a:r>
            <a:endParaRPr lang="en-US" sz="3200" b="0" u="none" strike="noStrike">
              <a:solidFill>
                <a:schemeClr val="dk1"/>
              </a:solidFill>
              <a:effectLst/>
              <a:uFillTx/>
              <a:latin typeface="Calibri"/>
            </a:endParaRPr>
          </a:p>
        </p:txBody>
      </p:sp>
      <p:sp>
        <p:nvSpPr>
          <p:cNvPr id="165"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When the line disappears, the robot keeps its nerve</a:t>
            </a:r>
            <a:endParaRPr lang="en-US" sz="1600" b="0" u="none" strike="noStrike">
              <a:solidFill>
                <a:schemeClr val="dk1"/>
              </a:solidFill>
              <a:effectLst/>
              <a:uFillTx/>
              <a:latin typeface="Calibri"/>
            </a:endParaRPr>
          </a:p>
        </p:txBody>
      </p:sp>
      <p:pic>
        <p:nvPicPr>
          <p:cNvPr id="166" name="Image 0" descr="Gaps and dashed lines drawing"/>
          <p:cNvPicPr/>
          <p:nvPr/>
        </p:nvPicPr>
        <p:blipFill>
          <a:blip r:embed="rId1"/>
          <a:stretch/>
        </p:blipFill>
        <p:spPr>
          <a:xfrm>
            <a:off x="548640" y="1600200"/>
            <a:ext cx="11063880" cy="5276520"/>
          </a:xfrm>
          <a:prstGeom prst="rect">
            <a:avLst/>
          </a:prstGeom>
          <a:noFill/>
          <a:ln w="0">
            <a:noFill/>
          </a:ln>
        </p:spPr>
      </p:pic>
      <p:sp>
        <p:nvSpPr>
          <p:cNvPr id="167" name="PlaceHolder 3"/>
          <p:cNvSpPr>
            <a:spLocks noGrp="1"/>
          </p:cNvSpPr>
          <p:nvPr>
            <p:ph type="sldNum" idx="21"/>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31030BAD-3235-4DF9-8C29-E83A7285D1F2}"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9: Timing and timestamps</a:t>
            </a:r>
            <a:endParaRPr lang="en-US" sz="3200" b="0" u="none" strike="noStrike">
              <a:solidFill>
                <a:schemeClr val="dk1"/>
              </a:solidFill>
              <a:effectLst/>
              <a:uFillTx/>
              <a:latin typeface="Calibri"/>
            </a:endParaRPr>
          </a:p>
        </p:txBody>
      </p:sp>
      <p:sp>
        <p:nvSpPr>
          <p:cNvPr id="169"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Every number the robot runs on has a clock behind it</a:t>
            </a:r>
            <a:endParaRPr lang="en-US" sz="1600" b="0" u="none" strike="noStrike">
              <a:solidFill>
                <a:schemeClr val="dk1"/>
              </a:solidFill>
              <a:effectLst/>
              <a:uFillTx/>
              <a:latin typeface="Calibri"/>
            </a:endParaRPr>
          </a:p>
        </p:txBody>
      </p:sp>
      <p:pic>
        <p:nvPicPr>
          <p:cNvPr id="170" name="Image 0" descr="Timing chart"/>
          <p:cNvPicPr/>
          <p:nvPr/>
        </p:nvPicPr>
        <p:blipFill>
          <a:blip r:embed="rId1"/>
          <a:stretch/>
        </p:blipFill>
        <p:spPr>
          <a:xfrm>
            <a:off x="548640" y="1600200"/>
            <a:ext cx="11063880" cy="5276520"/>
          </a:xfrm>
          <a:prstGeom prst="rect">
            <a:avLst/>
          </a:prstGeom>
          <a:noFill/>
          <a:ln w="0">
            <a:noFill/>
          </a:ln>
        </p:spPr>
      </p:pic>
      <p:sp>
        <p:nvSpPr>
          <p:cNvPr id="171" name="PlaceHolder 3"/>
          <p:cNvSpPr>
            <a:spLocks noGrp="1"/>
          </p:cNvSpPr>
          <p:nvPr>
            <p:ph type="sldNum" idx="22"/>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008522BA-3FC6-4BF2-A2C1-627CE372B176}"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Technical 10: The simulator</a:t>
            </a:r>
            <a:endParaRPr lang="en-US" sz="3200" b="0" u="none" strike="noStrike">
              <a:solidFill>
                <a:schemeClr val="dk1"/>
              </a:solidFill>
              <a:effectLst/>
              <a:uFillTx/>
              <a:latin typeface="Calibri"/>
            </a:endParaRPr>
          </a:p>
        </p:txBody>
      </p:sp>
      <p:sp>
        <p:nvSpPr>
          <p:cNvPr id="173"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We copy the real physics, then mark what is still a guess</a:t>
            </a:r>
            <a:endParaRPr lang="en-US" sz="1600" b="0" u="none" strike="noStrike">
              <a:solidFill>
                <a:schemeClr val="dk1"/>
              </a:solidFill>
              <a:effectLst/>
              <a:uFillTx/>
              <a:latin typeface="Calibri"/>
            </a:endParaRPr>
          </a:p>
        </p:txBody>
      </p:sp>
      <p:pic>
        <p:nvPicPr>
          <p:cNvPr id="174" name="Image 0" descr="3D simulator view"/>
          <p:cNvPicPr/>
          <p:nvPr/>
        </p:nvPicPr>
        <p:blipFill>
          <a:blip r:embed="rId1"/>
          <a:stretch/>
        </p:blipFill>
        <p:spPr>
          <a:xfrm>
            <a:off x="548640" y="1600200"/>
            <a:ext cx="6309000" cy="4903920"/>
          </a:xfrm>
          <a:prstGeom prst="rect">
            <a:avLst/>
          </a:prstGeom>
          <a:noFill/>
          <a:ln w="0">
            <a:noFill/>
          </a:ln>
        </p:spPr>
      </p:pic>
      <p:sp>
        <p:nvSpPr>
          <p:cNvPr id="175" name="sim panel"/>
          <p:cNvSpPr/>
          <p:nvPr/>
        </p:nvSpPr>
        <p:spPr>
          <a:xfrm>
            <a:off x="7223760" y="1600200"/>
            <a:ext cx="4480200" cy="448020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6" name="sim heading"/>
          <p:cNvSpPr/>
          <p:nvPr/>
        </p:nvSpPr>
        <p:spPr>
          <a:xfrm>
            <a:off x="7498080" y="1874520"/>
            <a:ext cx="39315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Arial"/>
                <a:ea typeface="Arial"/>
              </a:rPr>
              <a:t>What the simulator models</a:t>
            </a:r>
            <a:endParaRPr lang="en-US" sz="1800" b="0" u="none" strike="noStrike">
              <a:solidFill>
                <a:srgbClr val="000000"/>
              </a:solidFill>
              <a:effectLst/>
              <a:uFillTx/>
              <a:latin typeface="Arial"/>
            </a:endParaRPr>
          </a:p>
        </p:txBody>
      </p:sp>
      <p:sp>
        <p:nvSpPr>
          <p:cNvPr id="177" name="sim list"/>
          <p:cNvSpPr/>
          <p:nvPr/>
        </p:nvSpPr>
        <p:spPr>
          <a:xfrm>
            <a:off x="7498080" y="2377440"/>
            <a:ext cx="3931560" cy="201132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Motor pull for each wheel</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Grip and wheel slip</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Sideways slide in fast bends</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Noisy sensors</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500" b="0" u="none" strike="noStrike">
                <a:solidFill>
                  <a:schemeClr val="dk2"/>
                </a:solidFill>
                <a:effectLst/>
                <a:uFillTx/>
                <a:latin typeface="Calibri"/>
              </a:rPr>
              <a:t>Rolling resistance</a:t>
            </a:r>
            <a:endParaRPr lang="en-US" sz="1500" b="0" u="none" strike="noStrike">
              <a:solidFill>
                <a:srgbClr val="000000"/>
              </a:solidFill>
              <a:effectLst/>
              <a:uFillTx/>
              <a:latin typeface="Arial"/>
            </a:endParaRPr>
          </a:p>
        </p:txBody>
      </p:sp>
      <p:sp>
        <p:nvSpPr>
          <p:cNvPr id="178" name="sim todo heading"/>
          <p:cNvSpPr/>
          <p:nvPr/>
        </p:nvSpPr>
        <p:spPr>
          <a:xfrm>
            <a:off x="7498080" y="4434840"/>
            <a:ext cx="39315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Arial"/>
                <a:ea typeface="Arial"/>
              </a:rPr>
              <a:t>Still to check on hardware</a:t>
            </a:r>
            <a:endParaRPr lang="en-US" sz="1800" b="0" u="none" strike="noStrike">
              <a:solidFill>
                <a:srgbClr val="000000"/>
              </a:solidFill>
              <a:effectLst/>
              <a:uFillTx/>
              <a:latin typeface="Arial"/>
            </a:endParaRPr>
          </a:p>
        </p:txBody>
      </p:sp>
      <p:sp>
        <p:nvSpPr>
          <p:cNvPr id="179" name="sim todo text"/>
          <p:cNvSpPr/>
          <p:nvPr/>
        </p:nvSpPr>
        <p:spPr>
          <a:xfrm>
            <a:off x="7498080" y="4892040"/>
            <a:ext cx="39315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Friction, motor strength, the grip value and the part masses behind the inertia are estimates until we measure the real robot.</a:t>
            </a:r>
            <a:endParaRPr lang="en-US" sz="1500" b="0" u="none" strike="noStrike">
              <a:solidFill>
                <a:srgbClr val="000000"/>
              </a:solidFill>
              <a:effectLst/>
              <a:uFillTx/>
              <a:latin typeface="Arial"/>
            </a:endParaRPr>
          </a:p>
        </p:txBody>
      </p:sp>
      <p:sp>
        <p:nvSpPr>
          <p:cNvPr id="180" name="PlaceHolder 3"/>
          <p:cNvSpPr>
            <a:spLocks noGrp="1"/>
          </p:cNvSpPr>
          <p:nvPr>
            <p:ph type="sldNum" idx="23"/>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A0F6EE95-CC0C-4387-AF3F-5B77E24BFB69}"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Why this matters in the real world</a:t>
            </a:r>
            <a:endParaRPr lang="en-US" sz="3200" b="0" u="none" strike="noStrike">
              <a:solidFill>
                <a:schemeClr val="dk1"/>
              </a:solidFill>
              <a:effectLst/>
              <a:uFillTx/>
              <a:latin typeface="Calibri"/>
            </a:endParaRPr>
          </a:p>
        </p:txBody>
      </p:sp>
      <p:sp>
        <p:nvSpPr>
          <p:cNvPr id="182"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Line following is a small version of a very big industry</a:t>
            </a:r>
            <a:endParaRPr lang="en-US" sz="1600" b="0" u="none" strike="noStrike">
              <a:solidFill>
                <a:schemeClr val="dk1"/>
              </a:solidFill>
              <a:effectLst/>
              <a:uFillTx/>
              <a:latin typeface="Calibri"/>
            </a:endParaRPr>
          </a:p>
        </p:txBody>
      </p:sp>
      <p:sp>
        <p:nvSpPr>
          <p:cNvPr id="183" name="impact 1"/>
          <p:cNvSpPr/>
          <p:nvPr/>
        </p:nvSpPr>
        <p:spPr>
          <a:xfrm>
            <a:off x="548640" y="173736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impact heading 1"/>
          <p:cNvSpPr/>
          <p:nvPr/>
        </p:nvSpPr>
        <p:spPr>
          <a:xfrm>
            <a:off x="822960" y="201168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Warehouses and factories</a:t>
            </a:r>
            <a:endParaRPr lang="en-US" sz="2000" b="0" u="none" strike="noStrike">
              <a:solidFill>
                <a:srgbClr val="000000"/>
              </a:solidFill>
              <a:effectLst/>
              <a:uFillTx/>
              <a:latin typeface="Arial"/>
            </a:endParaRPr>
          </a:p>
        </p:txBody>
      </p:sp>
      <p:sp>
        <p:nvSpPr>
          <p:cNvPr id="185" name="impact text 1"/>
          <p:cNvSpPr/>
          <p:nvPr/>
        </p:nvSpPr>
        <p:spPr>
          <a:xfrm>
            <a:off x="822960" y="260604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Carts and trucks that follow a floor line, and need to slow for turns.</a:t>
            </a:r>
            <a:endParaRPr lang="en-US" sz="1600" b="0" u="none" strike="noStrike">
              <a:solidFill>
                <a:srgbClr val="000000"/>
              </a:solidFill>
              <a:effectLst/>
              <a:uFillTx/>
              <a:latin typeface="Arial"/>
            </a:endParaRPr>
          </a:p>
        </p:txBody>
      </p:sp>
      <p:sp>
        <p:nvSpPr>
          <p:cNvPr id="186" name="impact 2"/>
          <p:cNvSpPr/>
          <p:nvPr/>
        </p:nvSpPr>
        <p:spPr>
          <a:xfrm>
            <a:off x="6172200" y="173736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7" name="impact heading 2"/>
          <p:cNvSpPr/>
          <p:nvPr/>
        </p:nvSpPr>
        <p:spPr>
          <a:xfrm>
            <a:off x="6446520" y="201168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Hospitals and labs</a:t>
            </a:r>
            <a:endParaRPr lang="en-US" sz="2000" b="0" u="none" strike="noStrike">
              <a:solidFill>
                <a:srgbClr val="000000"/>
              </a:solidFill>
              <a:effectLst/>
              <a:uFillTx/>
              <a:latin typeface="Arial"/>
            </a:endParaRPr>
          </a:p>
        </p:txBody>
      </p:sp>
      <p:sp>
        <p:nvSpPr>
          <p:cNvPr id="188" name="impact text 2"/>
          <p:cNvSpPr/>
          <p:nvPr/>
        </p:nvSpPr>
        <p:spPr>
          <a:xfrm>
            <a:off x="6446520" y="260604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Delivery robots that carry samples or meals on fixed routes.</a:t>
            </a:r>
            <a:endParaRPr lang="en-US" sz="1600" b="0" u="none" strike="noStrike">
              <a:solidFill>
                <a:srgbClr val="000000"/>
              </a:solidFill>
              <a:effectLst/>
              <a:uFillTx/>
              <a:latin typeface="Arial"/>
            </a:endParaRPr>
          </a:p>
        </p:txBody>
      </p:sp>
      <p:sp>
        <p:nvSpPr>
          <p:cNvPr id="189" name="impact 3"/>
          <p:cNvSpPr/>
          <p:nvPr/>
        </p:nvSpPr>
        <p:spPr>
          <a:xfrm>
            <a:off x="548640" y="406908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impact heading 3"/>
          <p:cNvSpPr/>
          <p:nvPr/>
        </p:nvSpPr>
        <p:spPr>
          <a:xfrm>
            <a:off x="822960" y="434340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Safety</a:t>
            </a:r>
            <a:endParaRPr lang="en-US" sz="2000" b="0" u="none" strike="noStrike">
              <a:solidFill>
                <a:srgbClr val="000000"/>
              </a:solidFill>
              <a:effectLst/>
              <a:uFillTx/>
              <a:latin typeface="Arial"/>
            </a:endParaRPr>
          </a:p>
        </p:txBody>
      </p:sp>
      <p:sp>
        <p:nvSpPr>
          <p:cNvPr id="191" name="impact text 3"/>
          <p:cNvSpPr/>
          <p:nvPr/>
        </p:nvSpPr>
        <p:spPr>
          <a:xfrm>
            <a:off x="822960" y="493776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Robots that know when to stop, instead of carrying on blind.</a:t>
            </a:r>
            <a:endParaRPr lang="en-US" sz="1600" b="0" u="none" strike="noStrike">
              <a:solidFill>
                <a:srgbClr val="000000"/>
              </a:solidFill>
              <a:effectLst/>
              <a:uFillTx/>
              <a:latin typeface="Arial"/>
            </a:endParaRPr>
          </a:p>
        </p:txBody>
      </p:sp>
      <p:sp>
        <p:nvSpPr>
          <p:cNvPr id="192" name="impact 4"/>
          <p:cNvSpPr/>
          <p:nvPr/>
        </p:nvSpPr>
        <p:spPr>
          <a:xfrm>
            <a:off x="6172200" y="4069080"/>
            <a:ext cx="5440320" cy="210276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impact heading 4"/>
          <p:cNvSpPr/>
          <p:nvPr/>
        </p:nvSpPr>
        <p:spPr>
          <a:xfrm>
            <a:off x="6446520" y="4343400"/>
            <a:ext cx="484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Learning</a:t>
            </a:r>
            <a:endParaRPr lang="en-US" sz="2000" b="0" u="none" strike="noStrike">
              <a:solidFill>
                <a:srgbClr val="000000"/>
              </a:solidFill>
              <a:effectLst/>
              <a:uFillTx/>
              <a:latin typeface="Arial"/>
            </a:endParaRPr>
          </a:p>
        </p:txBody>
      </p:sp>
      <p:sp>
        <p:nvSpPr>
          <p:cNvPr id="194" name="impact text 4"/>
          <p:cNvSpPr/>
          <p:nvPr/>
        </p:nvSpPr>
        <p:spPr>
          <a:xfrm>
            <a:off x="6446520" y="4937760"/>
            <a:ext cx="489168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2"/>
                </a:solidFill>
                <a:effectLst/>
                <a:uFillTx/>
                <a:latin typeface="Calibri"/>
              </a:rPr>
              <a:t>Control, sensing, physics and testing, all in one project.</a:t>
            </a:r>
            <a:endParaRPr lang="en-US" sz="1600" b="0" u="none" strike="noStrike">
              <a:solidFill>
                <a:srgbClr val="000000"/>
              </a:solidFill>
              <a:effectLst/>
              <a:uFillTx/>
              <a:latin typeface="Arial"/>
            </a:endParaRPr>
          </a:p>
        </p:txBody>
      </p:sp>
      <p:sp>
        <p:nvSpPr>
          <p:cNvPr id="195" name="PlaceHolder 3"/>
          <p:cNvSpPr>
            <a:spLocks noGrp="1"/>
          </p:cNvSpPr>
          <p:nvPr>
            <p:ph type="sldNum" idx="24"/>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84B6077F-DFC1-4663-9A74-02568B32A49D}"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The serious engineering behind it</a:t>
            </a:r>
            <a:endParaRPr lang="en-US" sz="3200" b="0" u="none" strike="noStrike">
              <a:solidFill>
                <a:schemeClr val="dk1"/>
              </a:solidFill>
              <a:effectLst/>
              <a:uFillTx/>
              <a:latin typeface="Calibri"/>
            </a:endParaRPr>
          </a:p>
        </p:txBody>
      </p:sp>
      <p:sp>
        <p:nvSpPr>
          <p:cNvPr id="197"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What we did to make the work reliable, not just impressive</a:t>
            </a:r>
            <a:endParaRPr lang="en-US" sz="1600" b="0" u="none" strike="noStrike">
              <a:solidFill>
                <a:schemeClr val="dk1"/>
              </a:solidFill>
              <a:effectLst/>
              <a:uFillTx/>
              <a:latin typeface="Calibri"/>
            </a:endParaRPr>
          </a:p>
        </p:txBody>
      </p:sp>
      <p:sp>
        <p:nvSpPr>
          <p:cNvPr id="198" name="engineering list"/>
          <p:cNvSpPr/>
          <p:nvPr/>
        </p:nvSpPr>
        <p:spPr>
          <a:xfrm>
            <a:off x="548640" y="1737360"/>
            <a:ext cx="11063880" cy="43887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444444"/>
              </a:buClr>
              <a:buFont typeface="Symbol" charset="2"/>
              <a:buChar char=""/>
            </a:pPr>
            <a:r>
              <a:rPr lang="en-US" sz="1800" b="0" u="none" strike="noStrike">
                <a:solidFill>
                  <a:schemeClr val="dk2"/>
                </a:solidFill>
                <a:effectLst/>
                <a:uFillTx/>
                <a:latin typeface="Calibri"/>
              </a:rPr>
              <a:t>One source of truth: sizes and tuning live in one file, used by the robot and the simulator</a:t>
            </a:r>
            <a:endParaRPr lang="en-US" sz="18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800" b="0" u="none" strike="noStrike">
                <a:solidFill>
                  <a:schemeClr val="dk2"/>
                </a:solidFill>
                <a:effectLst/>
                <a:uFillTx/>
                <a:latin typeface="Calibri"/>
              </a:rPr>
              <a:t>Repeated runs: every map was run 40 times with different sensor noise, so results are not luck</a:t>
            </a:r>
            <a:endParaRPr lang="en-US" sz="18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800" b="0" u="none" strike="noStrike">
                <a:solidFill>
                  <a:schemeClr val="dk2"/>
                </a:solidFill>
                <a:effectLst/>
                <a:uFillTx/>
                <a:latin typeface="Calibri"/>
              </a:rPr>
              <a:t>Safety rules: a robot that loses the line for 0.6 seconds stops, instead of driving on blind</a:t>
            </a:r>
            <a:endParaRPr lang="en-US" sz="18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800" b="0" u="none" strike="noStrike">
                <a:solidFill>
                  <a:schemeClr val="dk2"/>
                </a:solidFill>
                <a:effectLst/>
                <a:uFillTx/>
                <a:latin typeface="Calibri"/>
              </a:rPr>
              <a:t>Honest records: estimates are listed, with the next measurement to make for each one</a:t>
            </a:r>
            <a:endParaRPr lang="en-US" sz="1800" b="0" u="none" strike="noStrike">
              <a:solidFill>
                <a:srgbClr val="000000"/>
              </a:solidFill>
              <a:effectLst/>
              <a:uFillTx/>
              <a:latin typeface="Arial"/>
            </a:endParaRPr>
          </a:p>
          <a:p>
            <a:pPr marL="343080" indent="-343080" defTabSz="914400">
              <a:lnSpc>
                <a:spcPct val="100000"/>
              </a:lnSpc>
              <a:spcAft>
                <a:spcPts val="799"/>
              </a:spcAft>
              <a:buClr>
                <a:srgbClr val="444444"/>
              </a:buClr>
              <a:buFont typeface="Symbol" charset="2"/>
              <a:buChar char=""/>
            </a:pPr>
            <a:r>
              <a:rPr lang="en-US" sz="1800" b="0" u="none" strike="noStrike">
                <a:solidFill>
                  <a:schemeClr val="dk2"/>
                </a:solidFill>
                <a:effectLst/>
                <a:uFillTx/>
                <a:latin typeface="Calibri"/>
              </a:rPr>
              <a:t>Documentation: drawings, a design write-up and a plain-English guide to the code</a:t>
            </a:r>
            <a:endParaRPr lang="en-US" sz="1800" b="0" u="none" strike="noStrike">
              <a:solidFill>
                <a:srgbClr val="000000"/>
              </a:solidFill>
              <a:effectLst/>
              <a:uFillTx/>
              <a:latin typeface="Arial"/>
            </a:endParaRPr>
          </a:p>
        </p:txBody>
      </p:sp>
      <p:sp>
        <p:nvSpPr>
          <p:cNvPr id="199" name="PlaceHolder 3"/>
          <p:cNvSpPr>
            <a:spLocks noGrp="1"/>
          </p:cNvSpPr>
          <p:nvPr>
            <p:ph type="sldNum" idx="25"/>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39B9639D-A672-4841-9191-D9787448E33B}"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What we need next</a:t>
            </a:r>
            <a:endParaRPr lang="en-US" sz="3200" b="0" u="none" strike="noStrike">
              <a:solidFill>
                <a:schemeClr val="dk1"/>
              </a:solidFill>
              <a:effectLst/>
              <a:uFillTx/>
              <a:latin typeface="Calibri"/>
            </a:endParaRPr>
          </a:p>
        </p:txBody>
      </p:sp>
      <p:sp>
        <p:nvSpPr>
          <p:cNvPr id="201"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A real robot, a small budget, and a teacher to check our work</a:t>
            </a:r>
            <a:endParaRPr lang="en-US" sz="1600" b="0" u="none" strike="noStrike">
              <a:solidFill>
                <a:schemeClr val="dk1"/>
              </a:solidFill>
              <a:effectLst/>
              <a:uFillTx/>
              <a:latin typeface="Calibri"/>
            </a:endParaRPr>
          </a:p>
        </p:txBody>
      </p:sp>
      <p:sp>
        <p:nvSpPr>
          <p:cNvPr id="202" name="next card 1"/>
          <p:cNvSpPr/>
          <p:nvPr/>
        </p:nvSpPr>
        <p:spPr>
          <a:xfrm>
            <a:off x="548640" y="1737360"/>
            <a:ext cx="2559960" cy="32914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next number 1"/>
          <p:cNvSpPr/>
          <p:nvPr/>
        </p:nvSpPr>
        <p:spPr>
          <a:xfrm>
            <a:off x="777240" y="196596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chemeClr val="dk1"/>
                </a:solidFill>
                <a:effectLst/>
                <a:uFillTx/>
                <a:latin typeface="Arial"/>
                <a:ea typeface="Arial"/>
              </a:rPr>
              <a:t>1</a:t>
            </a:r>
            <a:endParaRPr lang="en-US" sz="3400" b="0" u="none" strike="noStrike">
              <a:solidFill>
                <a:srgbClr val="000000"/>
              </a:solidFill>
              <a:effectLst/>
              <a:uFillTx/>
              <a:latin typeface="Arial"/>
            </a:endParaRPr>
          </a:p>
        </p:txBody>
      </p:sp>
      <p:sp>
        <p:nvSpPr>
          <p:cNvPr id="204" name="next heading 1"/>
          <p:cNvSpPr/>
          <p:nvPr/>
        </p:nvSpPr>
        <p:spPr>
          <a:xfrm>
            <a:off x="777240" y="2788920"/>
            <a:ext cx="2194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Build</a:t>
            </a:r>
            <a:endParaRPr lang="en-US" sz="2000" b="0" u="none" strike="noStrike">
              <a:solidFill>
                <a:srgbClr val="000000"/>
              </a:solidFill>
              <a:effectLst/>
              <a:uFillTx/>
              <a:latin typeface="Arial"/>
            </a:endParaRPr>
          </a:p>
        </p:txBody>
      </p:sp>
      <p:sp>
        <p:nvSpPr>
          <p:cNvPr id="205" name="next text 1"/>
          <p:cNvSpPr/>
          <p:nvPr/>
        </p:nvSpPr>
        <p:spPr>
          <a:xfrm>
            <a:off x="777240" y="3291840"/>
            <a:ext cx="2194200" cy="1645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Assemble the real robot from the drawings and the parts list</a:t>
            </a:r>
            <a:endParaRPr lang="en-US" sz="1500" b="0" u="none" strike="noStrike">
              <a:solidFill>
                <a:srgbClr val="000000"/>
              </a:solidFill>
              <a:effectLst/>
              <a:uFillTx/>
              <a:latin typeface="Arial"/>
            </a:endParaRPr>
          </a:p>
        </p:txBody>
      </p:sp>
      <p:sp>
        <p:nvSpPr>
          <p:cNvPr id="206" name="next card 2"/>
          <p:cNvSpPr/>
          <p:nvPr/>
        </p:nvSpPr>
        <p:spPr>
          <a:xfrm>
            <a:off x="3383280" y="1737360"/>
            <a:ext cx="2559960" cy="32914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7" name="next number 2"/>
          <p:cNvSpPr/>
          <p:nvPr/>
        </p:nvSpPr>
        <p:spPr>
          <a:xfrm>
            <a:off x="3611880" y="196596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chemeClr val="dk1"/>
                </a:solidFill>
                <a:effectLst/>
                <a:uFillTx/>
                <a:latin typeface="Arial"/>
                <a:ea typeface="Arial"/>
              </a:rPr>
              <a:t>2</a:t>
            </a:r>
            <a:endParaRPr lang="en-US" sz="3400" b="0" u="none" strike="noStrike">
              <a:solidFill>
                <a:srgbClr val="000000"/>
              </a:solidFill>
              <a:effectLst/>
              <a:uFillTx/>
              <a:latin typeface="Arial"/>
            </a:endParaRPr>
          </a:p>
        </p:txBody>
      </p:sp>
      <p:sp>
        <p:nvSpPr>
          <p:cNvPr id="208" name="next heading 2"/>
          <p:cNvSpPr/>
          <p:nvPr/>
        </p:nvSpPr>
        <p:spPr>
          <a:xfrm>
            <a:off x="3611880" y="2788920"/>
            <a:ext cx="2194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Measure</a:t>
            </a:r>
            <a:endParaRPr lang="en-US" sz="2000" b="0" u="none" strike="noStrike">
              <a:solidFill>
                <a:srgbClr val="000000"/>
              </a:solidFill>
              <a:effectLst/>
              <a:uFillTx/>
              <a:latin typeface="Arial"/>
            </a:endParaRPr>
          </a:p>
        </p:txBody>
      </p:sp>
      <p:sp>
        <p:nvSpPr>
          <p:cNvPr id="209" name="next text 2"/>
          <p:cNvSpPr/>
          <p:nvPr/>
        </p:nvSpPr>
        <p:spPr>
          <a:xfrm>
            <a:off x="3611880" y="3291840"/>
            <a:ext cx="2194200" cy="1645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Weigh the parts, time the motors, and check the grip on our floor</a:t>
            </a:r>
            <a:endParaRPr lang="en-US" sz="1500" b="0" u="none" strike="noStrike">
              <a:solidFill>
                <a:srgbClr val="000000"/>
              </a:solidFill>
              <a:effectLst/>
              <a:uFillTx/>
              <a:latin typeface="Arial"/>
            </a:endParaRPr>
          </a:p>
        </p:txBody>
      </p:sp>
      <p:sp>
        <p:nvSpPr>
          <p:cNvPr id="210" name="next card 3"/>
          <p:cNvSpPr/>
          <p:nvPr/>
        </p:nvSpPr>
        <p:spPr>
          <a:xfrm>
            <a:off x="6217920" y="1737360"/>
            <a:ext cx="2559960" cy="32914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1" name="next number 3"/>
          <p:cNvSpPr/>
          <p:nvPr/>
        </p:nvSpPr>
        <p:spPr>
          <a:xfrm>
            <a:off x="6446520" y="196596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chemeClr val="dk1"/>
                </a:solidFill>
                <a:effectLst/>
                <a:uFillTx/>
                <a:latin typeface="Arial"/>
                <a:ea typeface="Arial"/>
              </a:rPr>
              <a:t>3</a:t>
            </a:r>
            <a:endParaRPr lang="en-US" sz="3400" b="0" u="none" strike="noStrike">
              <a:solidFill>
                <a:srgbClr val="000000"/>
              </a:solidFill>
              <a:effectLst/>
              <a:uFillTx/>
              <a:latin typeface="Arial"/>
            </a:endParaRPr>
          </a:p>
        </p:txBody>
      </p:sp>
      <p:sp>
        <p:nvSpPr>
          <p:cNvPr id="212" name="next heading 3"/>
          <p:cNvSpPr/>
          <p:nvPr/>
        </p:nvSpPr>
        <p:spPr>
          <a:xfrm>
            <a:off x="6446520" y="2788920"/>
            <a:ext cx="2194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Compare</a:t>
            </a:r>
            <a:endParaRPr lang="en-US" sz="2000" b="0" u="none" strike="noStrike">
              <a:solidFill>
                <a:srgbClr val="000000"/>
              </a:solidFill>
              <a:effectLst/>
              <a:uFillTx/>
              <a:latin typeface="Arial"/>
            </a:endParaRPr>
          </a:p>
        </p:txBody>
      </p:sp>
      <p:sp>
        <p:nvSpPr>
          <p:cNvPr id="213" name="next text 3"/>
          <p:cNvSpPr/>
          <p:nvPr/>
        </p:nvSpPr>
        <p:spPr>
          <a:xfrm>
            <a:off x="6446520" y="3291840"/>
            <a:ext cx="2194200" cy="1645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Run the same six tracks on the real robot and against the simulator</a:t>
            </a:r>
            <a:endParaRPr lang="en-US" sz="1500" b="0" u="none" strike="noStrike">
              <a:solidFill>
                <a:srgbClr val="000000"/>
              </a:solidFill>
              <a:effectLst/>
              <a:uFillTx/>
              <a:latin typeface="Arial"/>
            </a:endParaRPr>
          </a:p>
        </p:txBody>
      </p:sp>
      <p:sp>
        <p:nvSpPr>
          <p:cNvPr id="214" name="next card 4"/>
          <p:cNvSpPr/>
          <p:nvPr/>
        </p:nvSpPr>
        <p:spPr>
          <a:xfrm>
            <a:off x="9052560" y="1737360"/>
            <a:ext cx="2559960" cy="3291480"/>
          </a:xfrm>
          <a:prstGeom prst="rect">
            <a:avLst/>
          </a:prstGeom>
          <a:solidFill>
            <a:schemeClr val="bg2"/>
          </a:solidFill>
          <a:ln w="9525">
            <a:solidFill>
              <a:srgbClr val="D9D9D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5" name="next number 4"/>
          <p:cNvSpPr/>
          <p:nvPr/>
        </p:nvSpPr>
        <p:spPr>
          <a:xfrm>
            <a:off x="9281160" y="1965960"/>
            <a:ext cx="73116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chemeClr val="dk1"/>
                </a:solidFill>
                <a:effectLst/>
                <a:uFillTx/>
                <a:latin typeface="Arial"/>
                <a:ea typeface="Arial"/>
              </a:rPr>
              <a:t>4</a:t>
            </a:r>
            <a:endParaRPr lang="en-US" sz="3400" b="0" u="none" strike="noStrike">
              <a:solidFill>
                <a:srgbClr val="000000"/>
              </a:solidFill>
              <a:effectLst/>
              <a:uFillTx/>
              <a:latin typeface="Arial"/>
            </a:endParaRPr>
          </a:p>
        </p:txBody>
      </p:sp>
      <p:sp>
        <p:nvSpPr>
          <p:cNvPr id="216" name="next heading 4"/>
          <p:cNvSpPr/>
          <p:nvPr/>
        </p:nvSpPr>
        <p:spPr>
          <a:xfrm>
            <a:off x="9281160" y="2788920"/>
            <a:ext cx="21942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Arial"/>
                <a:ea typeface="Arial"/>
              </a:rPr>
              <a:t>Improve</a:t>
            </a:r>
            <a:endParaRPr lang="en-US" sz="2000" b="0" u="none" strike="noStrike">
              <a:solidFill>
                <a:srgbClr val="000000"/>
              </a:solidFill>
              <a:effectLst/>
              <a:uFillTx/>
              <a:latin typeface="Arial"/>
            </a:endParaRPr>
          </a:p>
        </p:txBody>
      </p:sp>
      <p:sp>
        <p:nvSpPr>
          <p:cNvPr id="217" name="next text 4"/>
          <p:cNvSpPr/>
          <p:nvPr/>
        </p:nvSpPr>
        <p:spPr>
          <a:xfrm>
            <a:off x="9281160" y="3291840"/>
            <a:ext cx="2194200" cy="1645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2"/>
                </a:solidFill>
                <a:effectLst/>
                <a:uFillTx/>
                <a:latin typeface="Calibri"/>
              </a:rPr>
              <a:t>Update the simulator with the real numbers, then retune the controllers</a:t>
            </a:r>
            <a:endParaRPr lang="en-US" sz="1500" b="0" u="none" strike="noStrike">
              <a:solidFill>
                <a:srgbClr val="000000"/>
              </a:solidFill>
              <a:effectLst/>
              <a:uFillTx/>
              <a:latin typeface="Arial"/>
            </a:endParaRPr>
          </a:p>
        </p:txBody>
      </p:sp>
      <p:sp>
        <p:nvSpPr>
          <p:cNvPr id="218" name="next footer"/>
          <p:cNvSpPr/>
          <p:nvPr/>
        </p:nvSpPr>
        <p:spPr>
          <a:xfrm>
            <a:off x="548640" y="5394960"/>
            <a:ext cx="1106388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2"/>
                </a:solidFill>
                <a:effectLst/>
                <a:uFillTx/>
                <a:latin typeface="Calibri"/>
              </a:rPr>
              <a:t>We would welcome your guidance on the measurements, the safety rules, and the time we need in the workshop.</a:t>
            </a:r>
            <a:endParaRPr lang="en-US" sz="1700" b="0" u="none" strike="noStrike">
              <a:solidFill>
                <a:srgbClr val="000000"/>
              </a:solidFill>
              <a:effectLst/>
              <a:uFillTx/>
              <a:latin typeface="Arial"/>
            </a:endParaRPr>
          </a:p>
        </p:txBody>
      </p:sp>
      <p:sp>
        <p:nvSpPr>
          <p:cNvPr id="219" name="PlaceHolder 3"/>
          <p:cNvSpPr>
            <a:spLocks noGrp="1"/>
          </p:cNvSpPr>
          <p:nvPr>
            <p:ph type="sldNum" idx="26"/>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3B26594B-22AE-4D51-B03E-E34FA0A07C6E}"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hasCustomPrompt="1"/>
          </p:nvPr>
        </p:nvSpPr>
        <p:spPr>
          <a:xfrm>
            <a:off x="548640" y="365760"/>
            <a:ext cx="11063880" cy="685440"/>
          </a:xfrm>
          <a:prstGeom prst="rect">
            <a:avLst/>
          </a:prstGeom>
          <a:noFill/>
          <a:ln w="0">
            <a:noFill/>
          </a:ln>
        </p:spPr>
        <p:txBody>
          <a:bodyPr lIns="0" tIns="0" rIns="0" bIns="0" anchor="t">
            <a:noAutofit/>
          </a:bodyPr>
          <a:p>
            <a:pPr indent="0" algn="l" defTabSz="914400">
              <a:lnSpc>
                <a:spcPct val="100000"/>
              </a:lnSpc>
              <a:buNone/>
              <a:tabLst>
                <a:tab pos="0" algn="l"/>
              </a:tabLst>
            </a:pPr>
            <a:r>
              <a:rPr lang="en-US" sz="3200" b="1" u="none" strike="noStrike">
                <a:solidFill>
                  <a:schemeClr val="dk1"/>
                </a:solidFill>
                <a:effectLst/>
                <a:uFillTx/>
                <a:latin typeface="Arial"/>
                <a:ea typeface="Arial"/>
              </a:rPr>
              <a:t>Thank you</a:t>
            </a:r>
            <a:endParaRPr lang="en-US" sz="3200" b="0" u="none" strike="noStrike">
              <a:solidFill>
                <a:schemeClr val="dk1"/>
              </a:solidFill>
              <a:effectLst/>
              <a:uFillTx/>
              <a:latin typeface="Calibri"/>
            </a:endParaRPr>
          </a:p>
        </p:txBody>
      </p:sp>
      <p:sp>
        <p:nvSpPr>
          <p:cNvPr id="221" name="PlaceHolder 2"/>
          <p:cNvSpPr>
            <a:spLocks noGrp="1"/>
          </p:cNvSpPr>
          <p:nvPr>
            <p:ph hasCustomPrompt="1"/>
          </p:nvPr>
        </p:nvSpPr>
        <p:spPr>
          <a:xfrm>
            <a:off x="548640" y="1051560"/>
            <a:ext cx="11063880" cy="365400"/>
          </a:xfrm>
          <a:prstGeom prst="rect">
            <a:avLst/>
          </a:prstGeom>
          <a:noFill/>
          <a:ln w="0">
            <a:noFill/>
          </a:ln>
        </p:spPr>
        <p:txBody>
          <a:bodyPr lIns="0" tIns="0" rIns="0" bIns="0" anchor="t">
            <a:noAutofit/>
          </a:bodyPr>
          <a:p>
            <a:pPr indent="0" algn="l" defTabSz="914400">
              <a:lnSpc>
                <a:spcPct val="100000"/>
              </a:lnSpc>
              <a:spcBef>
                <a:spcPts val="320"/>
              </a:spcBef>
              <a:buNone/>
              <a:tabLst>
                <a:tab pos="0" algn="l"/>
              </a:tabLst>
            </a:pPr>
            <a:r>
              <a:rPr lang="en-US" sz="1600" b="0" u="none" strike="noStrike">
                <a:solidFill>
                  <a:schemeClr val="accent2"/>
                </a:solidFill>
                <a:effectLst/>
                <a:uFillTx/>
                <a:latin typeface="Calibri"/>
              </a:rPr>
              <a:t>Questions and discussion</a:t>
            </a:r>
            <a:endParaRPr lang="en-US" sz="1600" b="0" u="none" strike="noStrike">
              <a:solidFill>
                <a:schemeClr val="dk1"/>
              </a:solidFill>
              <a:effectLst/>
              <a:uFillTx/>
              <a:latin typeface="Calibri"/>
            </a:endParaRPr>
          </a:p>
        </p:txBody>
      </p:sp>
      <p:sp>
        <p:nvSpPr>
          <p:cNvPr id="222" name="closing line"/>
          <p:cNvSpPr/>
          <p:nvPr/>
        </p:nvSpPr>
        <p:spPr>
          <a:xfrm>
            <a:off x="548640" y="2194560"/>
            <a:ext cx="1106388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chemeClr val="dk2"/>
                </a:solidFill>
                <a:effectLst/>
                <a:uFillTx/>
                <a:latin typeface="Calibri"/>
              </a:rPr>
              <a:t>Line follower robot: one brain, four ways to drive, and a simulator that is honest about what it knows.</a:t>
            </a:r>
            <a:endParaRPr lang="en-US" sz="2200" b="0" u="none" strike="noStrike">
              <a:solidFill>
                <a:srgbClr val="000000"/>
              </a:solidFill>
              <a:effectLst/>
              <a:uFillTx/>
              <a:latin typeface="Arial"/>
            </a:endParaRPr>
          </a:p>
        </p:txBody>
      </p:sp>
      <p:sp>
        <p:nvSpPr>
          <p:cNvPr id="223" name="PlaceHolder 3"/>
          <p:cNvSpPr>
            <a:spLocks noGrp="1"/>
          </p:cNvSpPr>
          <p:nvPr>
            <p:ph type="sldNum" idx="27"/>
          </p:nvPr>
        </p:nvSpPr>
        <p:spPr>
          <a:xfrm>
            <a:off x="11247120" y="640080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2"/>
                </a:solidFill>
                <a:effectLst/>
                <a:uFillTx/>
                <a:latin typeface="Calibri"/>
              </a:defRPr>
            </a:lvl1pPr>
          </a:lstStyle>
          <a:p>
            <a:pPr indent="0" algn="r" defTabSz="914400">
              <a:lnSpc>
                <a:spcPct val="100000"/>
              </a:lnSpc>
              <a:buNone/>
            </a:pPr>
            <a:fld id="{30454A13-5465-4B10-BCCC-9A79AFA80458}" type="slidenum">
              <a:rPr lang="en-US" sz="1000" b="0" u="none" strike="noStrike">
                <a:solidFill>
                  <a:schemeClr val="accent2"/>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ono Pitch">
  <a:themeElements>
    <a:clrScheme name="Mono Pitch">
      <a:dk1>
        <a:srgbClr val="111111"/>
      </a:dk1>
      <a:lt1>
        <a:srgbClr val="FFFFFF"/>
      </a:lt1>
      <a:dk2>
        <a:srgbClr val="444444"/>
      </a:dk2>
      <a:lt2>
        <a:srgbClr val="F3F3F3"/>
      </a:lt2>
      <a:accent1>
        <a:srgbClr val="111111"/>
      </a:accent1>
      <a:accent2>
        <a:srgbClr val="6B6B6B"/>
      </a:accent2>
      <a:accent3>
        <a:srgbClr val="9A9A9A"/>
      </a:accent3>
      <a:accent4>
        <a:srgbClr val="BDBDBD"/>
      </a:accent4>
      <a:accent5>
        <a:srgbClr val="D9D9D9"/>
      </a:accent5>
      <a:accent6>
        <a:srgbClr val="444444"/>
      </a:accent6>
      <a:hlink>
        <a:srgbClr val="111111"/>
      </a:hlink>
      <a:folHlink>
        <a:srgbClr val="6B6B6B"/>
      </a:folHlink>
    </a:clrScheme>
    <a:fontScheme name="Mono Pitch">
      <a:majorFont>
        <a:latin typeface="Aria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2026-10-14T18:57:30Z</dcterms:created>
  <dc:creator>PptxGenJS</dc:creator>
  <dc:description/>
  <dc:language>en-US</dc:language>
  <cp:lastModifiedBy/>
  <dcterms:modified xsi:type="dcterms:W3CDTF">2026-10-14T23:04:20Z</dcterms:modified>
  <cp:revision>2</cp:revision>
  <dc:subject>PptxGenJS Presentation</dc:subject>
  <dc:title>Line follower robot: teacher pitch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24</vt:i4>
  </property>
  <property fmtid="{D5CDD505-2E9C-101B-9397-08002B2CF9AE}" pid="3" name="PresentationFormat">
    <vt:lpwstr>On-screen Show (16:9)</vt:lpwstr>
  </property>
  <property fmtid="{D5CDD505-2E9C-101B-9397-08002B2CF9AE}" pid="4" name="Slides">
    <vt:i4>24</vt:i4>
  </property>
</Properties>
</file>