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4256794-e9ae-774b-8c0e-87ea7118d70f}">
          <p14:sldIdLst>
            <p14:sldId id="256"/>
          </p14:sldIdLst>
        </p14:section>
        <p14:section name="Our idea" id="{d623312d-0b7f-e52d-88a7-b32da3370187}">
          <p14:sldIdLst>
            <p14:sldId id="257"/>
            <p14:sldId id="258"/>
            <p14:sldId id="259"/>
          </p14:sldIdLst>
        </p14:section>
        <p14:section name="The four ways to drive" id="{089c0e9f-94d6-2501-c944-4d074c1303e1}">
          <p14:sldIdLst>
            <p14:sldId id="260"/>
            <p14:sldId id="261"/>
            <p14:sldId id="262"/>
            <p14:sldId id="263"/>
            <p14:sldId id="264"/>
            <p14:sldId id="265"/>
          </p14:sldIdLst>
        </p14:section>
        <p14:section name="The engineering, in plain words" id="{298e653c-1045-64a8-f802-4377312b4a27}">
          <p14:sldIdLst>
            <p14:sldId id="266"/>
            <p14:sldId id="267"/>
            <p14:sldId id="268"/>
            <p14:sldId id="269"/>
            <p14:sldId id="270"/>
            <p14:sldId id="271"/>
            <p14:sldId id="272"/>
            <p14:sldId id="273"/>
            <p14:sldId id="274"/>
            <p14:sldId id="275"/>
          </p14:sldIdLst>
        </p14:section>
        <p14:section name="Why it matters" id="{3d21d4ed-5fbe-0df3-3c84-33f95300d9e6}">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Map boards</c:v>
                </c:pt>
              </c:strCache>
            </c:strRef>
          </c:tx>
          <c:spPr>
            <a:solidFill>
              <a:srgbClr val="111111"/>
            </a:solidFill>
            <a:ln w="38100" cap="flat">
              <a:solidFill>
                <a:srgbClr val="1111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111111"/>
              </a:solidFill>
              <a:ln w="9525" cap="flat">
                <a:solidFill>
                  <a:srgbClr val="111111"/>
                </a:solidFill>
                <a:prstDash val="solid"/>
                <a:round/>
              </a:ln>
              <a:effectLst/>
            </c:spPr>
          </c:marker>
          <c:cat>
            <c:multiLvlStrRef>
              <c:f>Sheet1!$A$2:$A$8</c:f>
              <c:multiLvlStrCache>
                <c:ptCount val="7"/>
                <c:lvl>
                  <c:pt idx="0">
                    <c:v>5 cm</c:v>
                  </c:pt>
                  <c:pt idx="1">
                    <c:v>10 cm</c:v>
                  </c:pt>
                  <c:pt idx="2">
                    <c:v>15 cm</c:v>
                  </c:pt>
                  <c:pt idx="3">
                    <c:v>25 cm</c:v>
                  </c:pt>
                  <c:pt idx="4">
                    <c:v>40 cm</c:v>
                  </c:pt>
                  <c:pt idx="5">
                    <c:v>60 cm</c:v>
                  </c:pt>
                  <c:pt idx="6">
                    <c:v>100 cm</c:v>
                  </c:pt>
                </c:lvl>
              </c:multiLvlStrCache>
            </c:multiLvlStrRef>
          </c:cat>
          <c:val>
            <c:numRef>
              <c:f>Sheet1!$B$2:$B$8</c:f>
              <c:numCache>
                <c:formatCode>General</c:formatCode>
                <c:ptCount val="7"/>
                <c:pt idx="0">
                  <c:v>0.27</c:v>
                </c:pt>
                <c:pt idx="1">
                  <c:v>0.39</c:v>
                </c:pt>
                <c:pt idx="2">
                  <c:v>0.47</c:v>
                </c:pt>
                <c:pt idx="3">
                  <c:v>0.61</c:v>
                </c:pt>
                <c:pt idx="4">
                  <c:v>0.77</c:v>
                </c:pt>
                <c:pt idx="5">
                  <c:v>0.95</c:v>
                </c:pt>
                <c:pt idx="6">
                  <c:v>1</c:v>
                </c:pt>
              </c:numCache>
            </c:numRef>
          </c:val>
          <c:smooth val="0"/>
        </c:ser>
        <c:ser>
          <c:idx val="1"/>
          <c:order val="1"/>
          <c:tx>
            <c:strRef>
              <c:f>Sheet1!$C$1</c:f>
              <c:strCache>
                <c:ptCount val="1"/>
                <c:pt idx="0">
                  <c:v>Double IR board</c:v>
                </c:pt>
              </c:strCache>
            </c:strRef>
          </c:tx>
          <c:spPr>
            <a:solidFill>
              <a:srgbClr val="9A9A9A"/>
            </a:solidFill>
            <a:ln w="38100" cap="flat">
              <a:solidFill>
                <a:srgbClr val="9A9A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9A9A"/>
              </a:solidFill>
              <a:ln w="9525" cap="flat">
                <a:solidFill>
                  <a:srgbClr val="9A9A9A"/>
                </a:solidFill>
                <a:prstDash val="solid"/>
                <a:round/>
              </a:ln>
              <a:effectLst/>
            </c:spPr>
          </c:marker>
          <c:cat>
            <c:multiLvlStrRef>
              <c:f>Sheet1!$A$2:$A$8</c:f>
              <c:multiLvlStrCache>
                <c:ptCount val="7"/>
                <c:lvl>
                  <c:pt idx="0">
                    <c:v>5 cm</c:v>
                  </c:pt>
                  <c:pt idx="1">
                    <c:v>10 cm</c:v>
                  </c:pt>
                  <c:pt idx="2">
                    <c:v>15 cm</c:v>
                  </c:pt>
                  <c:pt idx="3">
                    <c:v>25 cm</c:v>
                  </c:pt>
                  <c:pt idx="4">
                    <c:v>40 cm</c:v>
                  </c:pt>
                  <c:pt idx="5">
                    <c:v>60 cm</c:v>
                  </c:pt>
                  <c:pt idx="6">
                    <c:v>100 cm</c:v>
                  </c:pt>
                </c:lvl>
              </c:multiLvlStrCache>
            </c:multiLvlStrRef>
          </c:cat>
          <c:val>
            <c:numRef>
              <c:f>Sheet1!$C$2:$C$8</c:f>
              <c:numCache>
                <c:formatCode>General</c:formatCode>
                <c:ptCount val="7"/>
                <c:pt idx="0">
                  <c:v>0.28</c:v>
                </c:pt>
                <c:pt idx="1">
                  <c:v>0.4</c:v>
                </c:pt>
                <c:pt idx="2">
                  <c:v>0.4</c:v>
                </c:pt>
                <c:pt idx="3">
                  <c:v>0.4</c:v>
                </c:pt>
                <c:pt idx="4">
                  <c:v>0.4</c:v>
                </c:pt>
                <c:pt idx="5">
                  <c:v>0.4</c:v>
                </c:pt>
                <c:pt idx="6">
                  <c:v>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444444"/>
                    </a:solidFill>
                    <a:latin typeface="Arial"/>
                  </a:defRPr>
                </a:pPr>
                <a:r>
                  <a:rPr sz="1300" b="0" i="0" u="none" strike="noStrike">
                    <a:solidFill>
                      <a:srgbClr val="444444"/>
                    </a:solidFill>
                    <a:latin typeface="Arial"/>
                  </a:rPr>
                  <a:t>Radius of the bend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44444"/>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D9D9D9"/>
              </a:solidFill>
              <a:prstDash val="solid"/>
              <a:round/>
            </a:ln>
          </c:spPr>
        </c:majorGridlines>
        <c:title>
          <c:tx>
            <c:rich>
              <a:bodyPr/>
              <a:lstStyle/>
              <a:p>
                <a:pPr>
                  <a:defRPr sz="1300" b="0" i="0" u="none" strike="noStrike">
                    <a:solidFill>
                      <a:srgbClr val="444444"/>
                    </a:solidFill>
                    <a:latin typeface="Arial"/>
                  </a:defRPr>
                </a:pPr>
                <a:r>
                  <a:rPr sz="1300" b="0" i="0" u="none" strike="noStrike">
                    <a:solidFill>
                      <a:srgbClr val="444444"/>
                    </a:solidFill>
                    <a:latin typeface="Arial"/>
                  </a:rPr>
                  <a:t>Safe speed (m/s)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44444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44444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Our project is a line follower robot. It drives along a black line on the floor. We built the brain for it in C plus plus, a simulator that shows how it drives, and a set of engineering drawings. Today we will show you the idea, the four ways the robot can drive, the engineering behind it, and why we think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idea is simple. A robot follows a line. We wanted to find out how much a robot can do with a map, and how much it can do with only its sensors. So we built four ways to drive, and we compare them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 projects write code for the robot, then test it by driving the robot. We did two things differently. First, the simulator uses the same C plus plus as the robot, so there is no gap between what we see and what the robot does. Second, we measure the things a real robot would struggle with, like grip, slip and sensor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from left to right. The sensors see the black line. The brain turns that into a steering decision. The motors turn the wheels. The wheel counters tell the brain how fast each wheel is turning. A map, when we use one, tells the brain how fast to go at every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these as four boards that we can switch between. The first uses only sensors. The second uses only the map. The third uses the map and the sensors together. The fourth reads the shape of the curve as it drives. We will go through each one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baseline. Every other board must beat it to be worth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why sensors matter. A perfect plan is not enough, because the real robot never follows a perfect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best of both: the map gives the speed, and the sensors keep the robot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interesting board for the real world. A robot that can read a bend without a map can work in places nobody has 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in seconds, from the start to the end of each track. A dash in a box means the robot derailed. The first column is the time the racing plan expects for a perfect run. The best time in each row is the fastest finished lap on that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drawing shows the robot from above, from the front, and from the side. The two wheels are 90 millimetres apart. The sensor bar sits 40 millimetres ahead of the wheels, so the robot sees the line before it reaches it. The rear sensor bar is for the Double IR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sensor reports light or dark. The robot takes all five readings and works out the centre of the dark part. If the centre is to the left of the middle, the line is to the left, and the robot steers left. This is the same idea as finding the centre of a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loop is called PID. It has three parts, and each one answers a simple question. How far off are we right now? How long have we been off? How fast are we getting more off? We add the three answers together to get a turn command. The gains, the three strengths, are chosen by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simple rule behind the racing plan. Grip gives a sideways limit. Speed squared divided by the radius must stay below that limit. So the safe speed is the square root of the grip times the radius. Wide bends let the robot go faster, tight bends make it slow down. This chart shows the rule for both the map board and the Double IR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wheel can only push the ground so hard. The limit is friction times the weight on that wheel. If the wheel spins faster than the ground moves, it slips, and it can push a little harder for a moment. Past a certain slip, the grip is used up. This drawing shows the friction limit, and the circle of drive and sideways force that a wheel can use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Inertia tells us how much the robot resists turning. We add up each part's mass times how far it sits from the centre. Parts far from the middle count much more. The estimate from our assumed part weights is close to the value the simulator uses, and we will weigh the real parts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encoder counts small slots as a wheel turns. Each count is a known distance. Speed is distance per count times counts per second. If one wheel is faster than the other, the robot turns. Double IR uses this turn rate to know how sharp the bend is, even when the sensors cannot see far enough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tracks have gaps. In a gap the sensors see only the floor. The map boards keep going because they know the plan. The plain PID board holds its last correction. If the robot is blind for more than 0.6 seconds, it stops. The widest gap on our tracks is 0.1 metres, so the robot always gets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matters. The control loop runs every 2 milliseconds. The simulator uses the same step. Each rule has its own time limit, like giving up after 0.6 seconds without the line, or calling a derail after a quarter second more than 35 millimetres off the line. Getting these right stops the robot reacting too slowly or too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simulator models the robot's mass, motor strength, friction, wheel slip, sideways slide and sensor noise. Some numbers are measured, and some are estimates. We show the estimates openly, because they are the first things we will check when we have the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following is the same idea behind automated carts in warehouses, hospitals and factories. These machines carry goods and follow a fixed route. A robot that reads its own path, and knows when it is about to lose it, is the kind of machine those places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robot that works once is a demo. A robot that works every time is engineering. We used the same code everywhere, so a fix in one place fixes all three. We ran each map forty times with different noise, to see how often each board works. And we wrote down every estimate, so that the next step is measurement, not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step is to build the real robot and check the estimates. We need a set of parts, a place to test on a real track, and a teacher to check our measurements and our method. We will report every number we measure, including the ones that disagree with the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We are happy to answer questions, to show the simulator running, or to walk through any of the engineering drawings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1111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rtlCol="0"/>
          <a:lstStyle>
            <a:lvl1pPr algn="l" indent="0" marL="0">
              <a:buNone/>
              <a:defRPr lang="en-US" sz="3200" b="1" dirty="0">
                <a:solidFill>
                  <a:schemeClr val="tx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rtlCol="0"/>
          <a:lstStyle>
            <a:lvl1pPr algn="l" indent="0" marL="0">
              <a:buNone/>
              <a:defRPr lang="en-US" sz="1600" dirty="0">
                <a:solidFill>
                  <a:schemeClr val="accent2"/>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920240"/>
            <a:ext cx="6400800" cy="100584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Line follower robot</a:t>
            </a:r>
            <a:endParaRPr lang="en-US" sz="5200" dirty="0"/>
          </a:p>
        </p:txBody>
      </p:sp>
      <p:sp>
        <p:nvSpPr>
          <p:cNvPr id="3" name="Text 1"/>
          <p:cNvSpPr txBox="1"/>
          <p:nvPr/>
        </p:nvSpPr>
        <p:spPr>
          <a:xfrm>
            <a:off x="731520" y="3108960"/>
            <a:ext cx="6400800" cy="822960"/>
          </a:xfrm>
          <a:prstGeom prst="rect">
            <a:avLst/>
          </a:prstGeom>
          <a:noFill/>
          <a:ln/>
        </p:spPr>
        <p:txBody>
          <a:bodyPr wrap="square" lIns="0" tIns="0" rIns="0" bIns="0" rtlCol="0" anchor="t"/>
          <a:lstStyle/>
          <a:p>
            <a:pPr indent="0" marL="0">
              <a:buNone/>
            </a:pPr>
            <a:r>
              <a:rPr lang="en-US" sz="2200" dirty="0">
                <a:solidFill>
                  <a:srgbClr val="D9D9D9"/>
                </a:solidFill>
              </a:rPr>
              <a:t>A robot that reads a track, plans its speed, and learns from its sensors</a:t>
            </a:r>
            <a:endParaRPr lang="en-US" sz="2200" dirty="0"/>
          </a:p>
        </p:txBody>
      </p:sp>
      <p:sp>
        <p:nvSpPr>
          <p:cNvPr id="4" name="Text 2"/>
          <p:cNvSpPr txBox="1"/>
          <p:nvPr/>
        </p:nvSpPr>
        <p:spPr>
          <a:xfrm>
            <a:off x="731520" y="4114800"/>
            <a:ext cx="6400800" cy="731520"/>
          </a:xfrm>
          <a:prstGeom prst="rect">
            <a:avLst/>
          </a:prstGeom>
          <a:noFill/>
          <a:ln/>
        </p:spPr>
        <p:txBody>
          <a:bodyPr wrap="square" lIns="0" tIns="0" rIns="0" bIns="0" rtlCol="0" anchor="t"/>
          <a:lstStyle/>
          <a:p>
            <a:pPr indent="0" marL="0">
              <a:buNone/>
            </a:pPr>
            <a:r>
              <a:rPr lang="en-US" sz="1600" dirty="0">
                <a:solidFill>
                  <a:srgbClr val="9A9A9A"/>
                </a:solidFill>
              </a:rPr>
              <a:t>A proposal for teachers: what we built, how it works, and why it matters</a:t>
            </a:r>
            <a:endParaRPr lang="en-US" sz="1600" dirty="0"/>
          </a:p>
        </p:txBody>
      </p:sp>
      <p:pic>
        <p:nvPicPr>
          <p:cNvPr id="5" name="Image 0" descr="3D model of the robot">    </p:cNvPr>
          <p:cNvPicPr>
            <a:picLocks noChangeAspect="1"/>
          </p:cNvPicPr>
          <p:nvPr/>
        </p:nvPicPr>
        <p:blipFill>
          <a:blip r:embed="rId1"/>
          <a:stretch>
            <a:fillRect/>
          </a:stretch>
        </p:blipFill>
        <p:spPr>
          <a:xfrm>
            <a:off x="7680960" y="1828800"/>
            <a:ext cx="3931920" cy="258383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Our idea</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One robot, one program, and a simulator that shows what it will do before we build it</a:t>
            </a:r>
            <a:endParaRPr lang="en-US" sz="1600" dirty="0"/>
          </a:p>
        </p:txBody>
      </p:sp>
      <p:sp>
        <p:nvSpPr>
          <p:cNvPr id="5" name="idea one card"/>
          <p:cNvSpPr/>
          <p:nvPr/>
        </p:nvSpPr>
        <p:spPr>
          <a:xfrm>
            <a:off x="548640" y="1737360"/>
            <a:ext cx="3474720" cy="2651760"/>
          </a:xfrm>
          <a:prstGeom prst="rect">
            <a:avLst/>
          </a:prstGeom>
          <a:solidFill>
            <a:schemeClr val="bg2"/>
          </a:solidFill>
          <a:ln w="9525">
            <a:solidFill>
              <a:schemeClr val="accent5"/>
            </a:solidFill>
            <a:prstDash val="solid"/>
          </a:ln>
        </p:spPr>
      </p:sp>
      <p:sp>
        <p:nvSpPr>
          <p:cNvPr id="6" name="idea one number"/>
          <p:cNvSpPr txBox="1"/>
          <p:nvPr/>
        </p:nvSpPr>
        <p:spPr>
          <a:xfrm>
            <a:off x="822960" y="1965960"/>
            <a:ext cx="2926080" cy="914400"/>
          </a:xfrm>
          <a:prstGeom prst="rect">
            <a:avLst/>
          </a:prstGeom>
          <a:noFill/>
          <a:ln/>
        </p:spPr>
        <p:txBody>
          <a:bodyPr wrap="square" lIns="0" tIns="0" rIns="0" bIns="0" rtlCol="0" anchor="ctr"/>
          <a:lstStyle/>
          <a:p>
            <a:pPr indent="0" marL="0">
              <a:buNone/>
            </a:pPr>
            <a:r>
              <a:rPr lang="en-US" sz="4800" b="1" dirty="0">
                <a:solidFill>
                  <a:schemeClr val="tx1"/>
                </a:solidFill>
                <a:latin typeface="Arial" pitchFamily="34" charset="0"/>
                <a:ea typeface="Arial" pitchFamily="34" charset="-122"/>
                <a:cs typeface="Arial" pitchFamily="34" charset="-120"/>
              </a:rPr>
              <a:t>1</a:t>
            </a:r>
            <a:endParaRPr lang="en-US" sz="4800" dirty="0"/>
          </a:p>
        </p:txBody>
      </p:sp>
      <p:sp>
        <p:nvSpPr>
          <p:cNvPr id="7" name="idea one label"/>
          <p:cNvSpPr txBox="1"/>
          <p:nvPr/>
        </p:nvSpPr>
        <p:spPr>
          <a:xfrm>
            <a:off x="822960" y="2971800"/>
            <a:ext cx="2926080" cy="1280160"/>
          </a:xfrm>
          <a:prstGeom prst="rect">
            <a:avLst/>
          </a:prstGeom>
          <a:noFill/>
          <a:ln/>
        </p:spPr>
        <p:txBody>
          <a:bodyPr wrap="square" lIns="0" tIns="0" rIns="0" bIns="0" rtlCol="0" anchor="t"/>
          <a:lstStyle/>
          <a:p>
            <a:pPr indent="0" marL="0">
              <a:buNone/>
            </a:pPr>
            <a:r>
              <a:rPr lang="en-US" sz="1500" dirty="0">
                <a:solidFill>
                  <a:schemeClr val="tx2"/>
                </a:solidFill>
              </a:rPr>
              <a:t>brain program that runs on the robot, in the simulator and on the web page</a:t>
            </a:r>
            <a:endParaRPr lang="en-US" sz="1500" dirty="0"/>
          </a:p>
        </p:txBody>
      </p:sp>
      <p:sp>
        <p:nvSpPr>
          <p:cNvPr id="8" name="idea two card"/>
          <p:cNvSpPr/>
          <p:nvPr/>
        </p:nvSpPr>
        <p:spPr>
          <a:xfrm>
            <a:off x="4343400" y="1737360"/>
            <a:ext cx="3474720" cy="2651760"/>
          </a:xfrm>
          <a:prstGeom prst="rect">
            <a:avLst/>
          </a:prstGeom>
          <a:solidFill>
            <a:schemeClr val="bg2"/>
          </a:solidFill>
          <a:ln w="9525">
            <a:solidFill>
              <a:schemeClr val="accent5"/>
            </a:solidFill>
            <a:prstDash val="solid"/>
          </a:ln>
        </p:spPr>
      </p:sp>
      <p:sp>
        <p:nvSpPr>
          <p:cNvPr id="9" name="idea two number"/>
          <p:cNvSpPr txBox="1"/>
          <p:nvPr/>
        </p:nvSpPr>
        <p:spPr>
          <a:xfrm>
            <a:off x="4617720" y="1965960"/>
            <a:ext cx="2926080" cy="914400"/>
          </a:xfrm>
          <a:prstGeom prst="rect">
            <a:avLst/>
          </a:prstGeom>
          <a:noFill/>
          <a:ln/>
        </p:spPr>
        <p:txBody>
          <a:bodyPr wrap="square" lIns="0" tIns="0" rIns="0" bIns="0" rtlCol="0" anchor="ctr"/>
          <a:lstStyle/>
          <a:p>
            <a:pPr indent="0" marL="0">
              <a:buNone/>
            </a:pPr>
            <a:r>
              <a:rPr lang="en-US" sz="4800" b="1" dirty="0">
                <a:solidFill>
                  <a:schemeClr val="tx1"/>
                </a:solidFill>
                <a:latin typeface="Arial" pitchFamily="34" charset="0"/>
                <a:ea typeface="Arial" pitchFamily="34" charset="-122"/>
                <a:cs typeface="Arial" pitchFamily="34" charset="-120"/>
              </a:rPr>
              <a:t>4</a:t>
            </a:r>
            <a:endParaRPr lang="en-US" sz="4800" dirty="0"/>
          </a:p>
        </p:txBody>
      </p:sp>
      <p:sp>
        <p:nvSpPr>
          <p:cNvPr id="10" name="idea two label"/>
          <p:cNvSpPr txBox="1"/>
          <p:nvPr/>
        </p:nvSpPr>
        <p:spPr>
          <a:xfrm>
            <a:off x="4617720" y="2971800"/>
            <a:ext cx="2926080" cy="1280160"/>
          </a:xfrm>
          <a:prstGeom prst="rect">
            <a:avLst/>
          </a:prstGeom>
          <a:noFill/>
          <a:ln/>
        </p:spPr>
        <p:txBody>
          <a:bodyPr wrap="square" lIns="0" tIns="0" rIns="0" bIns="0" rtlCol="0" anchor="t"/>
          <a:lstStyle/>
          <a:p>
            <a:pPr indent="0" marL="0">
              <a:buNone/>
            </a:pPr>
            <a:r>
              <a:rPr lang="en-US" sz="1500" dirty="0">
                <a:solidFill>
                  <a:schemeClr val="tx2"/>
                </a:solidFill>
              </a:rPr>
              <a:t>ways to drive, from simple sensor steering to a smart curve reader</a:t>
            </a:r>
            <a:endParaRPr lang="en-US" sz="1500" dirty="0"/>
          </a:p>
        </p:txBody>
      </p:sp>
      <p:sp>
        <p:nvSpPr>
          <p:cNvPr id="11" name="idea three card"/>
          <p:cNvSpPr/>
          <p:nvPr/>
        </p:nvSpPr>
        <p:spPr>
          <a:xfrm>
            <a:off x="8138160" y="1737360"/>
            <a:ext cx="3474720" cy="2651760"/>
          </a:xfrm>
          <a:prstGeom prst="rect">
            <a:avLst/>
          </a:prstGeom>
          <a:solidFill>
            <a:schemeClr val="bg2"/>
          </a:solidFill>
          <a:ln w="9525">
            <a:solidFill>
              <a:schemeClr val="accent5"/>
            </a:solidFill>
            <a:prstDash val="solid"/>
          </a:ln>
        </p:spPr>
      </p:sp>
      <p:sp>
        <p:nvSpPr>
          <p:cNvPr id="12" name="idea three number"/>
          <p:cNvSpPr txBox="1"/>
          <p:nvPr/>
        </p:nvSpPr>
        <p:spPr>
          <a:xfrm>
            <a:off x="8412480" y="1965960"/>
            <a:ext cx="2926080" cy="914400"/>
          </a:xfrm>
          <a:prstGeom prst="rect">
            <a:avLst/>
          </a:prstGeom>
          <a:noFill/>
          <a:ln/>
        </p:spPr>
        <p:txBody>
          <a:bodyPr wrap="square" lIns="0" tIns="0" rIns="0" bIns="0" rtlCol="0" anchor="ctr"/>
          <a:lstStyle/>
          <a:p>
            <a:pPr indent="0" marL="0">
              <a:buNone/>
            </a:pPr>
            <a:r>
              <a:rPr lang="en-US" sz="4800" b="1" dirty="0">
                <a:solidFill>
                  <a:schemeClr val="tx1"/>
                </a:solidFill>
                <a:latin typeface="Arial" pitchFamily="34" charset="0"/>
                <a:ea typeface="Arial" pitchFamily="34" charset="-122"/>
                <a:cs typeface="Arial" pitchFamily="34" charset="-120"/>
              </a:rPr>
              <a:t>6</a:t>
            </a:r>
            <a:endParaRPr lang="en-US" sz="4800" dirty="0"/>
          </a:p>
        </p:txBody>
      </p:sp>
      <p:sp>
        <p:nvSpPr>
          <p:cNvPr id="13" name="idea three label"/>
          <p:cNvSpPr txBox="1"/>
          <p:nvPr/>
        </p:nvSpPr>
        <p:spPr>
          <a:xfrm>
            <a:off x="8412480" y="2971800"/>
            <a:ext cx="2926080" cy="1280160"/>
          </a:xfrm>
          <a:prstGeom prst="rect">
            <a:avLst/>
          </a:prstGeom>
          <a:noFill/>
          <a:ln/>
        </p:spPr>
        <p:txBody>
          <a:bodyPr wrap="square" lIns="0" tIns="0" rIns="0" bIns="0" rtlCol="0" anchor="t"/>
          <a:lstStyle/>
          <a:p>
            <a:pPr indent="0" marL="0">
              <a:buNone/>
            </a:pPr>
            <a:r>
              <a:rPr lang="en-US" sz="1500" dirty="0">
                <a:solidFill>
                  <a:schemeClr val="tx2"/>
                </a:solidFill>
              </a:rPr>
              <a:t>different tracks, from a gentle oval to tight hairpin bends</a:t>
            </a:r>
            <a:endParaRPr lang="en-US" sz="1500" dirty="0"/>
          </a:p>
        </p:txBody>
      </p:sp>
      <p:sp>
        <p:nvSpPr>
          <p:cNvPr id="14" name="idea question"/>
          <p:cNvSpPr txBox="1"/>
          <p:nvPr/>
        </p:nvSpPr>
        <p:spPr>
          <a:xfrm>
            <a:off x="548640" y="4846320"/>
            <a:ext cx="11064240" cy="822960"/>
          </a:xfrm>
          <a:prstGeom prst="rect">
            <a:avLst/>
          </a:prstGeom>
          <a:noFill/>
          <a:ln/>
        </p:spPr>
        <p:txBody>
          <a:bodyPr wrap="square" lIns="0" tIns="0" rIns="0" bIns="0" rtlCol="0" anchor="t"/>
          <a:lstStyle/>
          <a:p>
            <a:pPr indent="0" marL="0">
              <a:buNone/>
            </a:pPr>
            <a:r>
              <a:rPr lang="en-US" sz="2000" dirty="0">
                <a:solidFill>
                  <a:schemeClr val="tx2"/>
                </a:solidFill>
              </a:rPr>
              <a:t>The question we are answering: how fast can a small robot go round a track safely, and what does it need to know to do it?</a:t>
            </a:r>
            <a:endParaRPr lang="en-US" sz="2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What makes us different</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Four things most student robots do not have</a:t>
            </a:r>
            <a:endParaRPr lang="en-US" sz="1600" dirty="0"/>
          </a:p>
        </p:txBody>
      </p:sp>
      <p:sp>
        <p:nvSpPr>
          <p:cNvPr id="5" name="difference 1"/>
          <p:cNvSpPr/>
          <p:nvPr/>
        </p:nvSpPr>
        <p:spPr>
          <a:xfrm>
            <a:off x="548640" y="1737360"/>
            <a:ext cx="5440680" cy="2103120"/>
          </a:xfrm>
          <a:prstGeom prst="rect">
            <a:avLst/>
          </a:prstGeom>
          <a:solidFill>
            <a:schemeClr val="bg2"/>
          </a:solidFill>
          <a:ln w="9525">
            <a:solidFill>
              <a:schemeClr val="accent5"/>
            </a:solidFill>
            <a:prstDash val="solid"/>
          </a:ln>
        </p:spPr>
      </p:sp>
      <p:sp>
        <p:nvSpPr>
          <p:cNvPr id="6" name="difference heading 1"/>
          <p:cNvSpPr txBox="1"/>
          <p:nvPr/>
        </p:nvSpPr>
        <p:spPr>
          <a:xfrm>
            <a:off x="822960" y="201168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One brain everywhere</a:t>
            </a:r>
            <a:endParaRPr lang="en-US" sz="2000" dirty="0"/>
          </a:p>
        </p:txBody>
      </p:sp>
      <p:sp>
        <p:nvSpPr>
          <p:cNvPr id="7" name="difference text 1"/>
          <p:cNvSpPr txBox="1"/>
          <p:nvPr/>
        </p:nvSpPr>
        <p:spPr>
          <a:xfrm>
            <a:off x="822960" y="2606040"/>
            <a:ext cx="4892040" cy="1097280"/>
          </a:xfrm>
          <a:prstGeom prst="rect">
            <a:avLst/>
          </a:prstGeom>
          <a:noFill/>
          <a:ln/>
        </p:spPr>
        <p:txBody>
          <a:bodyPr wrap="square" lIns="0" tIns="0" rIns="0" bIns="0" rtlCol="0" anchor="t"/>
          <a:lstStyle/>
          <a:p>
            <a:pPr indent="0" marL="0">
              <a:buNone/>
            </a:pPr>
            <a:r>
              <a:rPr lang="en-US" sz="1600" dirty="0">
                <a:solidFill>
                  <a:schemeClr val="tx2"/>
                </a:solidFill>
              </a:rPr>
              <a:t>The same C plus plus code runs on the Arduino, on the computer and in the web browser. What you see is what the robot does.</a:t>
            </a:r>
            <a:endParaRPr lang="en-US" sz="1600" dirty="0"/>
          </a:p>
        </p:txBody>
      </p:sp>
      <p:sp>
        <p:nvSpPr>
          <p:cNvPr id="8" name="difference 2"/>
          <p:cNvSpPr/>
          <p:nvPr/>
        </p:nvSpPr>
        <p:spPr>
          <a:xfrm>
            <a:off x="6172200" y="1737360"/>
            <a:ext cx="5440680" cy="2103120"/>
          </a:xfrm>
          <a:prstGeom prst="rect">
            <a:avLst/>
          </a:prstGeom>
          <a:solidFill>
            <a:schemeClr val="bg2"/>
          </a:solidFill>
          <a:ln w="9525">
            <a:solidFill>
              <a:schemeClr val="accent5"/>
            </a:solidFill>
            <a:prstDash val="solid"/>
          </a:ln>
        </p:spPr>
      </p:sp>
      <p:sp>
        <p:nvSpPr>
          <p:cNvPr id="9" name="difference heading 2"/>
          <p:cNvSpPr txBox="1"/>
          <p:nvPr/>
        </p:nvSpPr>
        <p:spPr>
          <a:xfrm>
            <a:off x="6446520" y="201168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Real physics</a:t>
            </a:r>
            <a:endParaRPr lang="en-US" sz="2000" dirty="0"/>
          </a:p>
        </p:txBody>
      </p:sp>
      <p:sp>
        <p:nvSpPr>
          <p:cNvPr id="10" name="difference text 2"/>
          <p:cNvSpPr txBox="1"/>
          <p:nvPr/>
        </p:nvSpPr>
        <p:spPr>
          <a:xfrm>
            <a:off x="6446520" y="2606040"/>
            <a:ext cx="4892040" cy="1097280"/>
          </a:xfrm>
          <a:prstGeom prst="rect">
            <a:avLst/>
          </a:prstGeom>
          <a:noFill/>
          <a:ln/>
        </p:spPr>
        <p:txBody>
          <a:bodyPr wrap="square" lIns="0" tIns="0" rIns="0" bIns="0" rtlCol="0" anchor="t"/>
          <a:lstStyle/>
          <a:p>
            <a:pPr indent="0" marL="0">
              <a:buNone/>
            </a:pPr>
            <a:r>
              <a:rPr lang="en-US" sz="1600" dirty="0">
                <a:solidFill>
                  <a:schemeClr val="tx2"/>
                </a:solidFill>
              </a:rPr>
              <a:t>The simulator models weight, grip, wheel slip, sideways slide and noisy sensors, so problems show up before we build.</a:t>
            </a:r>
            <a:endParaRPr lang="en-US" sz="1600" dirty="0"/>
          </a:p>
        </p:txBody>
      </p:sp>
      <p:sp>
        <p:nvSpPr>
          <p:cNvPr id="11" name="difference 3"/>
          <p:cNvSpPr/>
          <p:nvPr/>
        </p:nvSpPr>
        <p:spPr>
          <a:xfrm>
            <a:off x="548640" y="4069080"/>
            <a:ext cx="5440680" cy="2103120"/>
          </a:xfrm>
          <a:prstGeom prst="rect">
            <a:avLst/>
          </a:prstGeom>
          <a:solidFill>
            <a:schemeClr val="bg2"/>
          </a:solidFill>
          <a:ln w="9525">
            <a:solidFill>
              <a:schemeClr val="accent5"/>
            </a:solidFill>
            <a:prstDash val="solid"/>
          </a:ln>
        </p:spPr>
      </p:sp>
      <p:sp>
        <p:nvSpPr>
          <p:cNvPr id="12" name="difference heading 3"/>
          <p:cNvSpPr txBox="1"/>
          <p:nvPr/>
        </p:nvSpPr>
        <p:spPr>
          <a:xfrm>
            <a:off x="822960" y="434340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A fair comparison</a:t>
            </a:r>
            <a:endParaRPr lang="en-US" sz="2000" dirty="0"/>
          </a:p>
        </p:txBody>
      </p:sp>
      <p:sp>
        <p:nvSpPr>
          <p:cNvPr id="13" name="difference text 3"/>
          <p:cNvSpPr txBox="1"/>
          <p:nvPr/>
        </p:nvSpPr>
        <p:spPr>
          <a:xfrm>
            <a:off x="822960" y="4937760"/>
            <a:ext cx="4892040" cy="1097280"/>
          </a:xfrm>
          <a:prstGeom prst="rect">
            <a:avLst/>
          </a:prstGeom>
          <a:noFill/>
          <a:ln/>
        </p:spPr>
        <p:txBody>
          <a:bodyPr wrap="square" lIns="0" tIns="0" rIns="0" bIns="0" rtlCol="0" anchor="t"/>
          <a:lstStyle/>
          <a:p>
            <a:pPr indent="0" marL="0">
              <a:buNone/>
            </a:pPr>
            <a:r>
              <a:rPr lang="en-US" sz="1600" dirty="0">
                <a:solidFill>
                  <a:schemeClr val="tx2"/>
                </a:solidFill>
              </a:rPr>
              <a:t>All four modes drive the same robot, with the same noise, on the same six tracks. Any difference comes from the method.</a:t>
            </a:r>
            <a:endParaRPr lang="en-US" sz="1600" dirty="0"/>
          </a:p>
        </p:txBody>
      </p:sp>
      <p:sp>
        <p:nvSpPr>
          <p:cNvPr id="14" name="difference 4"/>
          <p:cNvSpPr/>
          <p:nvPr/>
        </p:nvSpPr>
        <p:spPr>
          <a:xfrm>
            <a:off x="6172200" y="4069080"/>
            <a:ext cx="5440680" cy="2103120"/>
          </a:xfrm>
          <a:prstGeom prst="rect">
            <a:avLst/>
          </a:prstGeom>
          <a:solidFill>
            <a:schemeClr val="bg2"/>
          </a:solidFill>
          <a:ln w="9525">
            <a:solidFill>
              <a:schemeClr val="accent5"/>
            </a:solidFill>
            <a:prstDash val="solid"/>
          </a:ln>
        </p:spPr>
      </p:sp>
      <p:sp>
        <p:nvSpPr>
          <p:cNvPr id="15" name="difference heading 4"/>
          <p:cNvSpPr txBox="1"/>
          <p:nvPr/>
        </p:nvSpPr>
        <p:spPr>
          <a:xfrm>
            <a:off x="6446520" y="434340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Honest numbers</a:t>
            </a:r>
            <a:endParaRPr lang="en-US" sz="2000" dirty="0"/>
          </a:p>
        </p:txBody>
      </p:sp>
      <p:sp>
        <p:nvSpPr>
          <p:cNvPr id="16" name="difference text 4"/>
          <p:cNvSpPr txBox="1"/>
          <p:nvPr/>
        </p:nvSpPr>
        <p:spPr>
          <a:xfrm>
            <a:off x="6446520" y="4937760"/>
            <a:ext cx="4892040" cy="1097280"/>
          </a:xfrm>
          <a:prstGeom prst="rect">
            <a:avLst/>
          </a:prstGeom>
          <a:noFill/>
          <a:ln/>
        </p:spPr>
        <p:txBody>
          <a:bodyPr wrap="square" lIns="0" tIns="0" rIns="0" bIns="0" rtlCol="0" anchor="t"/>
          <a:lstStyle/>
          <a:p>
            <a:pPr indent="0" marL="0">
              <a:buNone/>
            </a:pPr>
            <a:r>
              <a:rPr lang="en-US" sz="1600" dirty="0">
                <a:solidFill>
                  <a:schemeClr val="tx2"/>
                </a:solidFill>
              </a:rPr>
              <a:t>Every estimate is written down. We say which numbers we measured and which we still have to check on a real robot.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How the robot works, at a glance</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Sensors see the line, the brain decides, the motors act</a:t>
            </a:r>
            <a:endParaRPr lang="en-US" sz="1600" dirty="0"/>
          </a:p>
        </p:txBody>
      </p:sp>
      <p:sp>
        <p:nvSpPr>
          <p:cNvPr id="5" name="flow box 1"/>
          <p:cNvSpPr/>
          <p:nvPr/>
        </p:nvSpPr>
        <p:spPr>
          <a:xfrm>
            <a:off x="548640" y="2103120"/>
            <a:ext cx="2514600" cy="2560320"/>
          </a:xfrm>
          <a:prstGeom prst="rect">
            <a:avLst/>
          </a:prstGeom>
          <a:solidFill>
            <a:schemeClr val="bg2"/>
          </a:solidFill>
          <a:ln w="9525">
            <a:solidFill>
              <a:schemeClr val="accent5"/>
            </a:solidFill>
            <a:prstDash val="solid"/>
          </a:ln>
        </p:spPr>
      </p:sp>
      <p:sp>
        <p:nvSpPr>
          <p:cNvPr id="6" name="flow heading 1"/>
          <p:cNvSpPr txBox="1"/>
          <p:nvPr/>
        </p:nvSpPr>
        <p:spPr>
          <a:xfrm>
            <a:off x="777240" y="237744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Sensors</a:t>
            </a:r>
            <a:endParaRPr lang="en-US" sz="2000" dirty="0"/>
          </a:p>
        </p:txBody>
      </p:sp>
      <p:sp>
        <p:nvSpPr>
          <p:cNvPr id="7" name="flow text 1"/>
          <p:cNvSpPr txBox="1"/>
          <p:nvPr/>
        </p:nvSpPr>
        <p:spPr>
          <a:xfrm>
            <a:off x="777240" y="2971800"/>
            <a:ext cx="2103120" cy="1554480"/>
          </a:xfrm>
          <a:prstGeom prst="rect">
            <a:avLst/>
          </a:prstGeom>
          <a:noFill/>
          <a:ln/>
        </p:spPr>
        <p:txBody>
          <a:bodyPr wrap="square" lIns="0" tIns="0" rIns="0" bIns="0" rtlCol="0" anchor="t"/>
          <a:lstStyle/>
          <a:p>
            <a:pPr indent="0" marL="0">
              <a:buNone/>
            </a:pPr>
            <a:r>
              <a:rPr lang="en-US" sz="1500" dirty="0">
                <a:solidFill>
                  <a:schemeClr val="tx2"/>
                </a:solidFill>
              </a:rPr>
              <a:t>Five sensors in a row, and a second row for one mode</a:t>
            </a:r>
            <a:endParaRPr lang="en-US" sz="1500" dirty="0"/>
          </a:p>
        </p:txBody>
      </p:sp>
      <p:sp>
        <p:nvSpPr>
          <p:cNvPr id="8" name="flow arrow 1"/>
          <p:cNvSpPr/>
          <p:nvPr/>
        </p:nvSpPr>
        <p:spPr>
          <a:xfrm>
            <a:off x="3108960" y="3383280"/>
            <a:ext cx="228600" cy="0"/>
          </a:xfrm>
          <a:prstGeom prst="line">
            <a:avLst/>
          </a:prstGeom>
          <a:noFill/>
          <a:ln w="19050">
            <a:solidFill>
              <a:srgbClr val="6B6B6B"/>
            </a:solidFill>
            <a:prstDash val="solid"/>
            <a:tailEnd type="triangle"/>
          </a:ln>
        </p:spPr>
      </p:sp>
      <p:sp>
        <p:nvSpPr>
          <p:cNvPr id="9" name="flow box 2"/>
          <p:cNvSpPr/>
          <p:nvPr/>
        </p:nvSpPr>
        <p:spPr>
          <a:xfrm>
            <a:off x="3383280" y="2103120"/>
            <a:ext cx="2514600" cy="2560320"/>
          </a:xfrm>
          <a:prstGeom prst="rect">
            <a:avLst/>
          </a:prstGeom>
          <a:solidFill>
            <a:schemeClr val="bg2"/>
          </a:solidFill>
          <a:ln w="9525">
            <a:solidFill>
              <a:schemeClr val="accent5"/>
            </a:solidFill>
            <a:prstDash val="solid"/>
          </a:ln>
        </p:spPr>
      </p:sp>
      <p:sp>
        <p:nvSpPr>
          <p:cNvPr id="10" name="flow heading 2"/>
          <p:cNvSpPr txBox="1"/>
          <p:nvPr/>
        </p:nvSpPr>
        <p:spPr>
          <a:xfrm>
            <a:off x="3611880" y="237744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Brain</a:t>
            </a:r>
            <a:endParaRPr lang="en-US" sz="2000" dirty="0"/>
          </a:p>
        </p:txBody>
      </p:sp>
      <p:sp>
        <p:nvSpPr>
          <p:cNvPr id="11" name="flow text 2"/>
          <p:cNvSpPr txBox="1"/>
          <p:nvPr/>
        </p:nvSpPr>
        <p:spPr>
          <a:xfrm>
            <a:off x="3611880" y="2971800"/>
            <a:ext cx="2103120" cy="1554480"/>
          </a:xfrm>
          <a:prstGeom prst="rect">
            <a:avLst/>
          </a:prstGeom>
          <a:noFill/>
          <a:ln/>
        </p:spPr>
        <p:txBody>
          <a:bodyPr wrap="square" lIns="0" tIns="0" rIns="0" bIns="0" rtlCol="0" anchor="t"/>
          <a:lstStyle/>
          <a:p>
            <a:pPr indent="0" marL="0">
              <a:buNone/>
            </a:pPr>
            <a:r>
              <a:rPr lang="en-US" sz="1500" dirty="0">
                <a:solidFill>
                  <a:schemeClr val="tx2"/>
                </a:solidFill>
              </a:rPr>
              <a:t>Reads the sensors, the map and the wheel counters, then decides</a:t>
            </a:r>
            <a:endParaRPr lang="en-US" sz="1500" dirty="0"/>
          </a:p>
        </p:txBody>
      </p:sp>
      <p:sp>
        <p:nvSpPr>
          <p:cNvPr id="12" name="flow arrow 2"/>
          <p:cNvSpPr/>
          <p:nvPr/>
        </p:nvSpPr>
        <p:spPr>
          <a:xfrm>
            <a:off x="5943600" y="3383280"/>
            <a:ext cx="228600" cy="0"/>
          </a:xfrm>
          <a:prstGeom prst="line">
            <a:avLst/>
          </a:prstGeom>
          <a:noFill/>
          <a:ln w="19050">
            <a:solidFill>
              <a:srgbClr val="6B6B6B"/>
            </a:solidFill>
            <a:prstDash val="solid"/>
            <a:tailEnd type="triangle"/>
          </a:ln>
        </p:spPr>
      </p:sp>
      <p:sp>
        <p:nvSpPr>
          <p:cNvPr id="13" name="flow box 3"/>
          <p:cNvSpPr/>
          <p:nvPr/>
        </p:nvSpPr>
        <p:spPr>
          <a:xfrm>
            <a:off x="6217920" y="2103120"/>
            <a:ext cx="2514600" cy="2560320"/>
          </a:xfrm>
          <a:prstGeom prst="rect">
            <a:avLst/>
          </a:prstGeom>
          <a:solidFill>
            <a:schemeClr val="bg2"/>
          </a:solidFill>
          <a:ln w="9525">
            <a:solidFill>
              <a:schemeClr val="accent5"/>
            </a:solidFill>
            <a:prstDash val="solid"/>
          </a:ln>
        </p:spPr>
      </p:sp>
      <p:sp>
        <p:nvSpPr>
          <p:cNvPr id="14" name="flow heading 3"/>
          <p:cNvSpPr txBox="1"/>
          <p:nvPr/>
        </p:nvSpPr>
        <p:spPr>
          <a:xfrm>
            <a:off x="6446520" y="237744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Motors</a:t>
            </a:r>
            <a:endParaRPr lang="en-US" sz="2000" dirty="0"/>
          </a:p>
        </p:txBody>
      </p:sp>
      <p:sp>
        <p:nvSpPr>
          <p:cNvPr id="15" name="flow text 3"/>
          <p:cNvSpPr txBox="1"/>
          <p:nvPr/>
        </p:nvSpPr>
        <p:spPr>
          <a:xfrm>
            <a:off x="6446520" y="2971800"/>
            <a:ext cx="2103120" cy="1554480"/>
          </a:xfrm>
          <a:prstGeom prst="rect">
            <a:avLst/>
          </a:prstGeom>
          <a:noFill/>
          <a:ln/>
        </p:spPr>
        <p:txBody>
          <a:bodyPr wrap="square" lIns="0" tIns="0" rIns="0" bIns="0" rtlCol="0" anchor="t"/>
          <a:lstStyle/>
          <a:p>
            <a:pPr indent="0" marL="0">
              <a:buNone/>
            </a:pPr>
            <a:r>
              <a:rPr lang="en-US" sz="1500" dirty="0">
                <a:solidFill>
                  <a:schemeClr val="tx2"/>
                </a:solidFill>
              </a:rPr>
              <a:t>Turn the two wheels at different speeds to steer</a:t>
            </a:r>
            <a:endParaRPr lang="en-US" sz="1500" dirty="0"/>
          </a:p>
        </p:txBody>
      </p:sp>
      <p:sp>
        <p:nvSpPr>
          <p:cNvPr id="16" name="flow arrow 3"/>
          <p:cNvSpPr/>
          <p:nvPr/>
        </p:nvSpPr>
        <p:spPr>
          <a:xfrm>
            <a:off x="8778240" y="3383280"/>
            <a:ext cx="228600" cy="0"/>
          </a:xfrm>
          <a:prstGeom prst="line">
            <a:avLst/>
          </a:prstGeom>
          <a:noFill/>
          <a:ln w="19050">
            <a:solidFill>
              <a:srgbClr val="6B6B6B"/>
            </a:solidFill>
            <a:prstDash val="solid"/>
            <a:tailEnd type="triangle"/>
          </a:ln>
        </p:spPr>
      </p:sp>
      <p:sp>
        <p:nvSpPr>
          <p:cNvPr id="17" name="flow box 4"/>
          <p:cNvSpPr/>
          <p:nvPr/>
        </p:nvSpPr>
        <p:spPr>
          <a:xfrm>
            <a:off x="9052560" y="2103120"/>
            <a:ext cx="2514600" cy="2560320"/>
          </a:xfrm>
          <a:prstGeom prst="rect">
            <a:avLst/>
          </a:prstGeom>
          <a:solidFill>
            <a:schemeClr val="bg2"/>
          </a:solidFill>
          <a:ln w="9525">
            <a:solidFill>
              <a:schemeClr val="accent5"/>
            </a:solidFill>
            <a:prstDash val="solid"/>
          </a:ln>
        </p:spPr>
      </p:sp>
      <p:sp>
        <p:nvSpPr>
          <p:cNvPr id="18" name="flow heading 4"/>
          <p:cNvSpPr txBox="1"/>
          <p:nvPr/>
        </p:nvSpPr>
        <p:spPr>
          <a:xfrm>
            <a:off x="9281160" y="2377440"/>
            <a:ext cx="21031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Track</a:t>
            </a:r>
            <a:endParaRPr lang="en-US" sz="2000" dirty="0"/>
          </a:p>
        </p:txBody>
      </p:sp>
      <p:sp>
        <p:nvSpPr>
          <p:cNvPr id="19" name="flow text 4"/>
          <p:cNvSpPr txBox="1"/>
          <p:nvPr/>
        </p:nvSpPr>
        <p:spPr>
          <a:xfrm>
            <a:off x="9281160" y="2971800"/>
            <a:ext cx="2103120" cy="1554480"/>
          </a:xfrm>
          <a:prstGeom prst="rect">
            <a:avLst/>
          </a:prstGeom>
          <a:noFill/>
          <a:ln/>
        </p:spPr>
        <p:txBody>
          <a:bodyPr wrap="square" lIns="0" tIns="0" rIns="0" bIns="0" rtlCol="0" anchor="t"/>
          <a:lstStyle/>
          <a:p>
            <a:pPr indent="0" marL="0">
              <a:buNone/>
            </a:pPr>
            <a:r>
              <a:rPr lang="en-US" sz="1500" dirty="0">
                <a:solidFill>
                  <a:schemeClr val="tx2"/>
                </a:solidFill>
              </a:rPr>
              <a:t>The robot drives, and the sensors see the line again</a:t>
            </a:r>
            <a:endParaRPr lang="en-US" sz="1500" dirty="0"/>
          </a:p>
        </p:txBody>
      </p:sp>
      <p:sp>
        <p:nvSpPr>
          <p:cNvPr id="20" name="flow footer"/>
          <p:cNvSpPr txBox="1"/>
          <p:nvPr/>
        </p:nvSpPr>
        <p:spPr>
          <a:xfrm>
            <a:off x="548640" y="5212080"/>
            <a:ext cx="11064240" cy="640080"/>
          </a:xfrm>
          <a:prstGeom prst="rect">
            <a:avLst/>
          </a:prstGeom>
          <a:noFill/>
          <a:ln/>
        </p:spPr>
        <p:txBody>
          <a:bodyPr wrap="square" lIns="0" tIns="0" rIns="0" bIns="0" rtlCol="0" anchor="t"/>
          <a:lstStyle/>
          <a:p>
            <a:pPr indent="0" marL="0">
              <a:buNone/>
            </a:pPr>
            <a:r>
              <a:rPr lang="en-US" sz="1800" dirty="0">
                <a:solidFill>
                  <a:schemeClr val="tx2"/>
                </a:solidFill>
              </a:rPr>
              <a:t>The brain does this about 500 times every second, so it can react quickly to what it sees.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The four ways to drive</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Four boards, from simplest to smartest</a:t>
            </a:r>
            <a:endParaRPr lang="en-US" sz="1600" dirty="0"/>
          </a:p>
        </p:txBody>
      </p:sp>
      <p:sp>
        <p:nvSpPr>
          <p:cNvPr id="5" name="board 1"/>
          <p:cNvSpPr/>
          <p:nvPr/>
        </p:nvSpPr>
        <p:spPr>
          <a:xfrm>
            <a:off x="548640" y="1737360"/>
            <a:ext cx="5440680" cy="2103120"/>
          </a:xfrm>
          <a:prstGeom prst="rect">
            <a:avLst/>
          </a:prstGeom>
          <a:solidFill>
            <a:schemeClr val="bg2"/>
          </a:solidFill>
          <a:ln w="9525">
            <a:solidFill>
              <a:schemeClr val="accent5"/>
            </a:solidFill>
            <a:prstDash val="solid"/>
          </a:ln>
        </p:spPr>
      </p:sp>
      <p:sp>
        <p:nvSpPr>
          <p:cNvPr id="6" name="board number 1"/>
          <p:cNvSpPr txBox="1"/>
          <p:nvPr/>
        </p:nvSpPr>
        <p:spPr>
          <a:xfrm>
            <a:off x="822960" y="2011680"/>
            <a:ext cx="731520" cy="731520"/>
          </a:xfrm>
          <a:prstGeom prst="rect">
            <a:avLst/>
          </a:prstGeom>
          <a:noFill/>
          <a:ln/>
        </p:spPr>
        <p:txBody>
          <a:bodyPr wrap="square" lIns="0" tIns="0" rIns="0" bIns="0" rtlCol="0" anchor="ctr"/>
          <a:lstStyle/>
          <a:p>
            <a:pPr indent="0" marL="0">
              <a:buNone/>
            </a:pPr>
            <a:r>
              <a:rPr lang="en-US" sz="3600" b="1" dirty="0">
                <a:solidFill>
                  <a:schemeClr val="tx1"/>
                </a:solidFill>
                <a:latin typeface="Arial" pitchFamily="34" charset="0"/>
                <a:ea typeface="Arial" pitchFamily="34" charset="-122"/>
                <a:cs typeface="Arial" pitchFamily="34" charset="-120"/>
              </a:rPr>
              <a:t>1</a:t>
            </a:r>
            <a:endParaRPr lang="en-US" sz="3600" dirty="0"/>
          </a:p>
        </p:txBody>
      </p:sp>
      <p:sp>
        <p:nvSpPr>
          <p:cNvPr id="7" name="board heading 1"/>
          <p:cNvSpPr txBox="1"/>
          <p:nvPr/>
        </p:nvSpPr>
        <p:spPr>
          <a:xfrm>
            <a:off x="1737360" y="2103120"/>
            <a:ext cx="4023360" cy="45720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Normal PID</a:t>
            </a:r>
            <a:endParaRPr lang="en-US" sz="2200" dirty="0"/>
          </a:p>
        </p:txBody>
      </p:sp>
      <p:sp>
        <p:nvSpPr>
          <p:cNvPr id="8" name="board text 1"/>
          <p:cNvSpPr txBox="1"/>
          <p:nvPr/>
        </p:nvSpPr>
        <p:spPr>
          <a:xfrm>
            <a:off x="1737360" y="2651760"/>
            <a:ext cx="4023360" cy="914400"/>
          </a:xfrm>
          <a:prstGeom prst="rect">
            <a:avLst/>
          </a:prstGeom>
          <a:noFill/>
          <a:ln/>
        </p:spPr>
        <p:txBody>
          <a:bodyPr wrap="square" lIns="0" tIns="0" rIns="0" bIns="0" rtlCol="0" anchor="t"/>
          <a:lstStyle/>
          <a:p>
            <a:pPr indent="0" marL="0">
              <a:buNone/>
            </a:pPr>
            <a:r>
              <a:rPr lang="en-US" sz="1600" dirty="0">
                <a:solidFill>
                  <a:schemeClr val="tx2"/>
                </a:solidFill>
              </a:rPr>
              <a:t>Sensors only</a:t>
            </a:r>
            <a:endParaRPr lang="en-US" sz="1600" dirty="0"/>
          </a:p>
        </p:txBody>
      </p:sp>
      <p:sp>
        <p:nvSpPr>
          <p:cNvPr id="9" name="board 2"/>
          <p:cNvSpPr/>
          <p:nvPr/>
        </p:nvSpPr>
        <p:spPr>
          <a:xfrm>
            <a:off x="6172200" y="1737360"/>
            <a:ext cx="5440680" cy="2103120"/>
          </a:xfrm>
          <a:prstGeom prst="rect">
            <a:avLst/>
          </a:prstGeom>
          <a:solidFill>
            <a:schemeClr val="bg2"/>
          </a:solidFill>
          <a:ln w="9525">
            <a:solidFill>
              <a:schemeClr val="accent5"/>
            </a:solidFill>
            <a:prstDash val="solid"/>
          </a:ln>
        </p:spPr>
      </p:sp>
      <p:sp>
        <p:nvSpPr>
          <p:cNvPr id="10" name="board number 2"/>
          <p:cNvSpPr txBox="1"/>
          <p:nvPr/>
        </p:nvSpPr>
        <p:spPr>
          <a:xfrm>
            <a:off x="6446520" y="2011680"/>
            <a:ext cx="731520" cy="731520"/>
          </a:xfrm>
          <a:prstGeom prst="rect">
            <a:avLst/>
          </a:prstGeom>
          <a:noFill/>
          <a:ln/>
        </p:spPr>
        <p:txBody>
          <a:bodyPr wrap="square" lIns="0" tIns="0" rIns="0" bIns="0" rtlCol="0" anchor="ctr"/>
          <a:lstStyle/>
          <a:p>
            <a:pPr indent="0" marL="0">
              <a:buNone/>
            </a:pPr>
            <a:r>
              <a:rPr lang="en-US" sz="3600" b="1" dirty="0">
                <a:solidFill>
                  <a:schemeClr val="tx1"/>
                </a:solidFill>
                <a:latin typeface="Arial" pitchFamily="34" charset="0"/>
                <a:ea typeface="Arial" pitchFamily="34" charset="-122"/>
                <a:cs typeface="Arial" pitchFamily="34" charset="-120"/>
              </a:rPr>
              <a:t>2</a:t>
            </a:r>
            <a:endParaRPr lang="en-US" sz="3600" dirty="0"/>
          </a:p>
        </p:txBody>
      </p:sp>
      <p:sp>
        <p:nvSpPr>
          <p:cNvPr id="11" name="board heading 2"/>
          <p:cNvSpPr txBox="1"/>
          <p:nvPr/>
        </p:nvSpPr>
        <p:spPr>
          <a:xfrm>
            <a:off x="7360920" y="2103120"/>
            <a:ext cx="4023360" cy="45720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Full map (blind)</a:t>
            </a:r>
            <a:endParaRPr lang="en-US" sz="2200" dirty="0"/>
          </a:p>
        </p:txBody>
      </p:sp>
      <p:sp>
        <p:nvSpPr>
          <p:cNvPr id="12" name="board text 2"/>
          <p:cNvSpPr txBox="1"/>
          <p:nvPr/>
        </p:nvSpPr>
        <p:spPr>
          <a:xfrm>
            <a:off x="7360920" y="2651760"/>
            <a:ext cx="4023360" cy="914400"/>
          </a:xfrm>
          <a:prstGeom prst="rect">
            <a:avLst/>
          </a:prstGeom>
          <a:noFill/>
          <a:ln/>
        </p:spPr>
        <p:txBody>
          <a:bodyPr wrap="square" lIns="0" tIns="0" rIns="0" bIns="0" rtlCol="0" anchor="t"/>
          <a:lstStyle/>
          <a:p>
            <a:pPr indent="0" marL="0">
              <a:buNone/>
            </a:pPr>
            <a:r>
              <a:rPr lang="en-US" sz="1600" dirty="0">
                <a:solidFill>
                  <a:schemeClr val="tx2"/>
                </a:solidFill>
              </a:rPr>
              <a:t>Map only</a:t>
            </a:r>
            <a:endParaRPr lang="en-US" sz="1600" dirty="0"/>
          </a:p>
        </p:txBody>
      </p:sp>
      <p:sp>
        <p:nvSpPr>
          <p:cNvPr id="13" name="board 3"/>
          <p:cNvSpPr/>
          <p:nvPr/>
        </p:nvSpPr>
        <p:spPr>
          <a:xfrm>
            <a:off x="548640" y="4069080"/>
            <a:ext cx="5440680" cy="2103120"/>
          </a:xfrm>
          <a:prstGeom prst="rect">
            <a:avLst/>
          </a:prstGeom>
          <a:solidFill>
            <a:schemeClr val="bg2"/>
          </a:solidFill>
          <a:ln w="9525">
            <a:solidFill>
              <a:schemeClr val="accent5"/>
            </a:solidFill>
            <a:prstDash val="solid"/>
          </a:ln>
        </p:spPr>
      </p:sp>
      <p:sp>
        <p:nvSpPr>
          <p:cNvPr id="14" name="board number 3"/>
          <p:cNvSpPr txBox="1"/>
          <p:nvPr/>
        </p:nvSpPr>
        <p:spPr>
          <a:xfrm>
            <a:off x="822960" y="4343400"/>
            <a:ext cx="731520" cy="731520"/>
          </a:xfrm>
          <a:prstGeom prst="rect">
            <a:avLst/>
          </a:prstGeom>
          <a:noFill/>
          <a:ln/>
        </p:spPr>
        <p:txBody>
          <a:bodyPr wrap="square" lIns="0" tIns="0" rIns="0" bIns="0" rtlCol="0" anchor="ctr"/>
          <a:lstStyle/>
          <a:p>
            <a:pPr indent="0" marL="0">
              <a:buNone/>
            </a:pPr>
            <a:r>
              <a:rPr lang="en-US" sz="3600" b="1" dirty="0">
                <a:solidFill>
                  <a:schemeClr val="tx1"/>
                </a:solidFill>
                <a:latin typeface="Arial" pitchFamily="34" charset="0"/>
                <a:ea typeface="Arial" pitchFamily="34" charset="-122"/>
                <a:cs typeface="Arial" pitchFamily="34" charset="-120"/>
              </a:rPr>
              <a:t>3</a:t>
            </a:r>
            <a:endParaRPr lang="en-US" sz="3600" dirty="0"/>
          </a:p>
        </p:txBody>
      </p:sp>
      <p:sp>
        <p:nvSpPr>
          <p:cNvPr id="15" name="board heading 3"/>
          <p:cNvSpPr txBox="1"/>
          <p:nvPr/>
        </p:nvSpPr>
        <p:spPr>
          <a:xfrm>
            <a:off x="1737360" y="4434840"/>
            <a:ext cx="4023360" cy="45720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Full map plus IR</a:t>
            </a:r>
            <a:endParaRPr lang="en-US" sz="2200" dirty="0"/>
          </a:p>
        </p:txBody>
      </p:sp>
      <p:sp>
        <p:nvSpPr>
          <p:cNvPr id="16" name="board text 3"/>
          <p:cNvSpPr txBox="1"/>
          <p:nvPr/>
        </p:nvSpPr>
        <p:spPr>
          <a:xfrm>
            <a:off x="1737360" y="4983480"/>
            <a:ext cx="4023360" cy="914400"/>
          </a:xfrm>
          <a:prstGeom prst="rect">
            <a:avLst/>
          </a:prstGeom>
          <a:noFill/>
          <a:ln/>
        </p:spPr>
        <p:txBody>
          <a:bodyPr wrap="square" lIns="0" tIns="0" rIns="0" bIns="0" rtlCol="0" anchor="t"/>
          <a:lstStyle/>
          <a:p>
            <a:pPr indent="0" marL="0">
              <a:buNone/>
            </a:pPr>
            <a:r>
              <a:rPr lang="en-US" sz="1600" dirty="0">
                <a:solidFill>
                  <a:schemeClr val="tx2"/>
                </a:solidFill>
              </a:rPr>
              <a:t>Map and sensors</a:t>
            </a:r>
            <a:endParaRPr lang="en-US" sz="1600" dirty="0"/>
          </a:p>
        </p:txBody>
      </p:sp>
      <p:sp>
        <p:nvSpPr>
          <p:cNvPr id="17" name="board 4"/>
          <p:cNvSpPr/>
          <p:nvPr/>
        </p:nvSpPr>
        <p:spPr>
          <a:xfrm>
            <a:off x="6172200" y="4069080"/>
            <a:ext cx="5440680" cy="2103120"/>
          </a:xfrm>
          <a:prstGeom prst="rect">
            <a:avLst/>
          </a:prstGeom>
          <a:solidFill>
            <a:schemeClr val="bg2"/>
          </a:solidFill>
          <a:ln w="9525">
            <a:solidFill>
              <a:schemeClr val="accent5"/>
            </a:solidFill>
            <a:prstDash val="solid"/>
          </a:ln>
        </p:spPr>
      </p:sp>
      <p:sp>
        <p:nvSpPr>
          <p:cNvPr id="18" name="board number 4"/>
          <p:cNvSpPr txBox="1"/>
          <p:nvPr/>
        </p:nvSpPr>
        <p:spPr>
          <a:xfrm>
            <a:off x="6446520" y="4343400"/>
            <a:ext cx="731520" cy="731520"/>
          </a:xfrm>
          <a:prstGeom prst="rect">
            <a:avLst/>
          </a:prstGeom>
          <a:noFill/>
          <a:ln/>
        </p:spPr>
        <p:txBody>
          <a:bodyPr wrap="square" lIns="0" tIns="0" rIns="0" bIns="0" rtlCol="0" anchor="ctr"/>
          <a:lstStyle/>
          <a:p>
            <a:pPr indent="0" marL="0">
              <a:buNone/>
            </a:pPr>
            <a:r>
              <a:rPr lang="en-US" sz="3600" b="1" dirty="0">
                <a:solidFill>
                  <a:schemeClr val="tx1"/>
                </a:solidFill>
                <a:latin typeface="Arial" pitchFamily="34" charset="0"/>
                <a:ea typeface="Arial" pitchFamily="34" charset="-122"/>
                <a:cs typeface="Arial" pitchFamily="34" charset="-120"/>
              </a:rPr>
              <a:t>4</a:t>
            </a:r>
            <a:endParaRPr lang="en-US" sz="3600" dirty="0"/>
          </a:p>
        </p:txBody>
      </p:sp>
      <p:sp>
        <p:nvSpPr>
          <p:cNvPr id="19" name="board heading 4"/>
          <p:cNvSpPr txBox="1"/>
          <p:nvPr/>
        </p:nvSpPr>
        <p:spPr>
          <a:xfrm>
            <a:off x="7360920" y="4434840"/>
            <a:ext cx="4023360" cy="45720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Double IR</a:t>
            </a:r>
            <a:endParaRPr lang="en-US" sz="2200" dirty="0"/>
          </a:p>
        </p:txBody>
      </p:sp>
      <p:sp>
        <p:nvSpPr>
          <p:cNvPr id="20" name="board text 4"/>
          <p:cNvSpPr txBox="1"/>
          <p:nvPr/>
        </p:nvSpPr>
        <p:spPr>
          <a:xfrm>
            <a:off x="7360920" y="4983480"/>
            <a:ext cx="4023360" cy="914400"/>
          </a:xfrm>
          <a:prstGeom prst="rect">
            <a:avLst/>
          </a:prstGeom>
          <a:noFill/>
          <a:ln/>
        </p:spPr>
        <p:txBody>
          <a:bodyPr wrap="square" lIns="0" tIns="0" rIns="0" bIns="0" rtlCol="0" anchor="t"/>
          <a:lstStyle/>
          <a:p>
            <a:pPr indent="0" marL="0">
              <a:buNone/>
            </a:pPr>
            <a:r>
              <a:rPr lang="en-US" sz="1600" dirty="0">
                <a:solidFill>
                  <a:schemeClr val="tx2"/>
                </a:solidFill>
              </a:rPr>
              <a:t>Two sensor rows and wheel counters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Board 1: Normal PID</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Steering from the sensors only</a:t>
            </a:r>
            <a:endParaRPr lang="en-US" sz="1600" dirty="0"/>
          </a:p>
        </p:txBody>
      </p:sp>
      <p:sp>
        <p:nvSpPr>
          <p:cNvPr id="5" name="board detail text 1"/>
          <p:cNvSpPr txBox="1"/>
          <p:nvPr/>
        </p:nvSpPr>
        <p:spPr>
          <a:xfrm>
            <a:off x="548640" y="1737360"/>
            <a:ext cx="5486400" cy="3108960"/>
          </a:xfrm>
          <a:prstGeom prst="rect">
            <a:avLst/>
          </a:prstGeom>
          <a:noFill/>
          <a:ln/>
        </p:spPr>
        <p:txBody>
          <a:bodyPr wrap="square" lIns="0" tIns="0" rIns="0" bIns="0" rtlCol="0" anchor="t"/>
          <a:lstStyle/>
          <a:p>
            <a:pPr indent="0" marL="0">
              <a:buNone/>
            </a:pPr>
            <a:r>
              <a:rPr lang="en-US" sz="1600" dirty="0">
                <a:solidFill>
                  <a:schemeClr val="tx2"/>
                </a:solidFill>
              </a:rPr>
              <a:t>Uses five light sensors. It looks at how far the line is from the middle of the sensor bar, and turns the robot back toward it. It has no map, so it cannot know a corner is coming. To stay safe, it slows down when it turns hard or when the line is far away.</a:t>
            </a:r>
            <a:endParaRPr lang="en-US" sz="1600" dirty="0"/>
          </a:p>
        </p:txBody>
      </p:sp>
      <p:sp>
        <p:nvSpPr>
          <p:cNvPr id="6" name="board facts 1"/>
          <p:cNvSpPr/>
          <p:nvPr/>
        </p:nvSpPr>
        <p:spPr>
          <a:xfrm>
            <a:off x="6492240" y="1737360"/>
            <a:ext cx="5120640" cy="4206240"/>
          </a:xfrm>
          <a:prstGeom prst="rect">
            <a:avLst/>
          </a:prstGeom>
          <a:solidFill>
            <a:schemeClr val="bg2"/>
          </a:solidFill>
          <a:ln w="9525">
            <a:solidFill>
              <a:schemeClr val="accent5"/>
            </a:solidFill>
            <a:prstDash val="solid"/>
          </a:ln>
        </p:spPr>
      </p:sp>
      <p:sp>
        <p:nvSpPr>
          <p:cNvPr id="7" name="facts heading 1"/>
          <p:cNvSpPr txBox="1"/>
          <p:nvPr/>
        </p:nvSpPr>
        <p:spPr>
          <a:xfrm>
            <a:off x="6766560" y="1965960"/>
            <a:ext cx="457200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it works</a:t>
            </a:r>
            <a:endParaRPr lang="en-US" sz="1800" dirty="0"/>
          </a:p>
        </p:txBody>
      </p:sp>
      <p:sp>
        <p:nvSpPr>
          <p:cNvPr id="8" name="facts list 1"/>
          <p:cNvSpPr txBox="1"/>
          <p:nvPr/>
        </p:nvSpPr>
        <p:spPr>
          <a:xfrm>
            <a:off x="6766560" y="2514600"/>
            <a:ext cx="45720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It only knows what it can see right now</a:t>
            </a:r>
            <a:endParaRPr lang="en-US" sz="1500" dirty="0"/>
          </a:p>
          <a:p>
            <a:pPr marL="342900" indent="-342900">
              <a:spcAft>
                <a:spcPts val="800"/>
              </a:spcAft>
              <a:buSzPct val="100000"/>
              <a:buChar char="•"/>
            </a:pPr>
            <a:r>
              <a:rPr lang="en-US" sz="1500" dirty="0">
                <a:solidFill>
                  <a:schemeClr val="tx2"/>
                </a:solidFill>
              </a:rPr>
              <a:t>Slows when steering effort grows</a:t>
            </a:r>
            <a:endParaRPr lang="en-US" sz="1500" dirty="0"/>
          </a:p>
          <a:p>
            <a:pPr marL="342900" indent="-342900">
              <a:spcAft>
                <a:spcPts val="800"/>
              </a:spcAft>
              <a:buSzPct val="100000"/>
              <a:buChar char="•"/>
            </a:pPr>
            <a:r>
              <a:rPr lang="en-US" sz="1500" dirty="0">
                <a:solidFill>
                  <a:schemeClr val="tx2"/>
                </a:solidFill>
              </a:rPr>
              <a:t>Gives up if it loses the line for 0.6 seconds</a:t>
            </a:r>
            <a:endParaRPr lang="en-US" sz="1500" dirty="0"/>
          </a:p>
        </p:txBody>
      </p:sp>
      <p:sp>
        <p:nvSpPr>
          <p:cNvPr id="9" name="facts result 1"/>
          <p:cNvSpPr txBox="1"/>
          <p:nvPr/>
        </p:nvSpPr>
        <p:spPr>
          <a:xfrm>
            <a:off x="6766560" y="4480560"/>
            <a:ext cx="4572000" cy="1371600"/>
          </a:xfrm>
          <a:prstGeom prst="rect">
            <a:avLst/>
          </a:prstGeom>
          <a:noFill/>
          <a:ln/>
        </p:spPr>
        <p:txBody>
          <a:bodyPr wrap="square" lIns="0" tIns="0" rIns="0" bIns="0" rtlCol="0" anchor="t"/>
          <a:lstStyle/>
          <a:p>
            <a:pPr indent="0" marL="0">
              <a:buNone/>
            </a:pPr>
            <a:r>
              <a:rPr lang="en-US" sz="1500" dirty="0">
                <a:solidFill>
                  <a:schemeClr val="tx2"/>
                </a:solidFill>
              </a:rPr>
              <a:t>Normal PID finishes every map, but it is the slowest, because it cannot prepare for the next corner.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Board 2: Full map (blind)</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Following a plan without looking</a:t>
            </a:r>
            <a:endParaRPr lang="en-US" sz="1600" dirty="0"/>
          </a:p>
        </p:txBody>
      </p:sp>
      <p:sp>
        <p:nvSpPr>
          <p:cNvPr id="5" name="board detail text 2"/>
          <p:cNvSpPr txBox="1"/>
          <p:nvPr/>
        </p:nvSpPr>
        <p:spPr>
          <a:xfrm>
            <a:off x="548640" y="1737360"/>
            <a:ext cx="5486400" cy="3108960"/>
          </a:xfrm>
          <a:prstGeom prst="rect">
            <a:avLst/>
          </a:prstGeom>
          <a:noFill/>
          <a:ln/>
        </p:spPr>
        <p:txBody>
          <a:bodyPr wrap="square" lIns="0" tIns="0" rIns="0" bIns="0" rtlCol="0" anchor="t"/>
          <a:lstStyle/>
          <a:p>
            <a:pPr indent="0" marL="0">
              <a:buNone/>
            </a:pPr>
            <a:r>
              <a:rPr lang="en-US" sz="1600" dirty="0">
                <a:solidFill>
                  <a:schemeClr val="tx2"/>
                </a:solidFill>
              </a:rPr>
              <a:t>Before the run, the brain works out the best speed for every point on the track. The fastest safe speed is slow in tight bends and fast on straights. During the run, the robot follows that plan and ignores its sensors.</a:t>
            </a:r>
            <a:endParaRPr lang="en-US" sz="1600" dirty="0"/>
          </a:p>
        </p:txBody>
      </p:sp>
      <p:sp>
        <p:nvSpPr>
          <p:cNvPr id="6" name="board facts 2"/>
          <p:cNvSpPr/>
          <p:nvPr/>
        </p:nvSpPr>
        <p:spPr>
          <a:xfrm>
            <a:off x="6492240" y="1737360"/>
            <a:ext cx="5120640" cy="4206240"/>
          </a:xfrm>
          <a:prstGeom prst="rect">
            <a:avLst/>
          </a:prstGeom>
          <a:solidFill>
            <a:schemeClr val="bg2"/>
          </a:solidFill>
          <a:ln w="9525">
            <a:solidFill>
              <a:schemeClr val="accent5"/>
            </a:solidFill>
            <a:prstDash val="solid"/>
          </a:ln>
        </p:spPr>
      </p:sp>
      <p:sp>
        <p:nvSpPr>
          <p:cNvPr id="7" name="facts heading 2"/>
          <p:cNvSpPr txBox="1"/>
          <p:nvPr/>
        </p:nvSpPr>
        <p:spPr>
          <a:xfrm>
            <a:off x="6766560" y="1965960"/>
            <a:ext cx="457200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it works</a:t>
            </a:r>
            <a:endParaRPr lang="en-US" sz="1800" dirty="0"/>
          </a:p>
        </p:txBody>
      </p:sp>
      <p:sp>
        <p:nvSpPr>
          <p:cNvPr id="8" name="facts list 2"/>
          <p:cNvSpPr txBox="1"/>
          <p:nvPr/>
        </p:nvSpPr>
        <p:spPr>
          <a:xfrm>
            <a:off x="6766560" y="2514600"/>
            <a:ext cx="45720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It knows where it is on the track by counting distance</a:t>
            </a:r>
            <a:endParaRPr lang="en-US" sz="1500" dirty="0"/>
          </a:p>
          <a:p>
            <a:pPr marL="342900" indent="-342900">
              <a:spcAft>
                <a:spcPts val="800"/>
              </a:spcAft>
              <a:buSzPct val="100000"/>
              <a:buChar char="•"/>
            </a:pPr>
            <a:r>
              <a:rPr lang="en-US" sz="1500" dirty="0">
                <a:solidFill>
                  <a:schemeClr val="tx2"/>
                </a:solidFill>
              </a:rPr>
              <a:t>It uses the plan for speed and turn</a:t>
            </a:r>
            <a:endParaRPr lang="en-US" sz="1500" dirty="0"/>
          </a:p>
          <a:p>
            <a:pPr marL="342900" indent="-342900">
              <a:spcAft>
                <a:spcPts val="800"/>
              </a:spcAft>
              <a:buSzPct val="100000"/>
              <a:buChar char="•"/>
            </a:pPr>
            <a:r>
              <a:rPr lang="en-US" sz="1500" dirty="0">
                <a:solidFill>
                  <a:schemeClr val="tx2"/>
                </a:solidFill>
              </a:rPr>
              <a:t>Small errors grow, and it leaves the line</a:t>
            </a:r>
            <a:endParaRPr lang="en-US" sz="1500" dirty="0"/>
          </a:p>
        </p:txBody>
      </p:sp>
      <p:sp>
        <p:nvSpPr>
          <p:cNvPr id="9" name="facts result 2"/>
          <p:cNvSpPr txBox="1"/>
          <p:nvPr/>
        </p:nvSpPr>
        <p:spPr>
          <a:xfrm>
            <a:off x="6766560" y="4480560"/>
            <a:ext cx="4572000" cy="1371600"/>
          </a:xfrm>
          <a:prstGeom prst="rect">
            <a:avLst/>
          </a:prstGeom>
          <a:noFill/>
          <a:ln/>
        </p:spPr>
        <p:txBody>
          <a:bodyPr wrap="square" lIns="0" tIns="0" rIns="0" bIns="0" rtlCol="0" anchor="t"/>
          <a:lstStyle/>
          <a:p>
            <a:pPr indent="0" marL="0">
              <a:buNone/>
            </a:pPr>
            <a:r>
              <a:rPr lang="en-US" sz="1500" dirty="0">
                <a:solidFill>
                  <a:schemeClr val="tx2"/>
                </a:solidFill>
              </a:rPr>
              <a:t>Blind mode derails on every map. A plan with no correction drifts off the line.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Board 3: Full map plus IR</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The plan, with the sensors correcting it</a:t>
            </a:r>
            <a:endParaRPr lang="en-US" sz="1600" dirty="0"/>
          </a:p>
        </p:txBody>
      </p:sp>
      <p:sp>
        <p:nvSpPr>
          <p:cNvPr id="5" name="board detail text 3"/>
          <p:cNvSpPr txBox="1"/>
          <p:nvPr/>
        </p:nvSpPr>
        <p:spPr>
          <a:xfrm>
            <a:off x="548640" y="1737360"/>
            <a:ext cx="5486400" cy="3108960"/>
          </a:xfrm>
          <a:prstGeom prst="rect">
            <a:avLst/>
          </a:prstGeom>
          <a:noFill/>
          <a:ln/>
        </p:spPr>
        <p:txBody>
          <a:bodyPr wrap="square" lIns="0" tIns="0" rIns="0" bIns="0" rtlCol="0" anchor="t"/>
          <a:lstStyle/>
          <a:p>
            <a:pPr indent="0" marL="0">
              <a:buNone/>
            </a:pPr>
            <a:r>
              <a:rPr lang="en-US" sz="1600" dirty="0">
                <a:solidFill>
                  <a:schemeClr val="tx2"/>
                </a:solidFill>
              </a:rPr>
              <a:t>This board uses the same plan as blind mode, and adds a correction. The sensors measure how far the robot has drifted, and a steering loop nudges the wheels back on the line. The sensors also bridge short gaps, and spot the finish when the tape ends.</a:t>
            </a:r>
            <a:endParaRPr lang="en-US" sz="1600" dirty="0"/>
          </a:p>
        </p:txBody>
      </p:sp>
      <p:sp>
        <p:nvSpPr>
          <p:cNvPr id="6" name="board facts 3"/>
          <p:cNvSpPr/>
          <p:nvPr/>
        </p:nvSpPr>
        <p:spPr>
          <a:xfrm>
            <a:off x="6492240" y="1737360"/>
            <a:ext cx="5120640" cy="4206240"/>
          </a:xfrm>
          <a:prstGeom prst="rect">
            <a:avLst/>
          </a:prstGeom>
          <a:solidFill>
            <a:schemeClr val="bg2"/>
          </a:solidFill>
          <a:ln w="9525">
            <a:solidFill>
              <a:schemeClr val="accent5"/>
            </a:solidFill>
            <a:prstDash val="solid"/>
          </a:ln>
        </p:spPr>
      </p:sp>
      <p:sp>
        <p:nvSpPr>
          <p:cNvPr id="7" name="facts heading 3"/>
          <p:cNvSpPr txBox="1"/>
          <p:nvPr/>
        </p:nvSpPr>
        <p:spPr>
          <a:xfrm>
            <a:off x="6766560" y="1965960"/>
            <a:ext cx="457200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it works</a:t>
            </a:r>
            <a:endParaRPr lang="en-US" sz="1800" dirty="0"/>
          </a:p>
        </p:txBody>
      </p:sp>
      <p:sp>
        <p:nvSpPr>
          <p:cNvPr id="8" name="facts list 3"/>
          <p:cNvSpPr txBox="1"/>
          <p:nvPr/>
        </p:nvSpPr>
        <p:spPr>
          <a:xfrm>
            <a:off x="6766560" y="2514600"/>
            <a:ext cx="45720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Same fast plan as blind mode</a:t>
            </a:r>
            <a:endParaRPr lang="en-US" sz="1500" dirty="0"/>
          </a:p>
          <a:p>
            <a:pPr marL="342900" indent="-342900">
              <a:spcAft>
                <a:spcPts val="800"/>
              </a:spcAft>
              <a:buSzPct val="100000"/>
              <a:buChar char="•"/>
            </a:pPr>
            <a:r>
              <a:rPr lang="en-US" sz="1500" dirty="0">
                <a:solidFill>
                  <a:schemeClr val="tx2"/>
                </a:solidFill>
              </a:rPr>
              <a:t>Sensors correct drift in real time</a:t>
            </a:r>
            <a:endParaRPr lang="en-US" sz="1500" dirty="0"/>
          </a:p>
          <a:p>
            <a:pPr marL="342900" indent="-342900">
              <a:spcAft>
                <a:spcPts val="800"/>
              </a:spcAft>
              <a:buSzPct val="100000"/>
              <a:buChar char="•"/>
            </a:pPr>
            <a:r>
              <a:rPr lang="en-US" sz="1500" dirty="0">
                <a:solidFill>
                  <a:schemeClr val="tx2"/>
                </a:solidFill>
              </a:rPr>
              <a:t>Bridges short gaps and finds the finish</a:t>
            </a:r>
            <a:endParaRPr lang="en-US" sz="1500" dirty="0"/>
          </a:p>
        </p:txBody>
      </p:sp>
      <p:sp>
        <p:nvSpPr>
          <p:cNvPr id="9" name="facts result 3"/>
          <p:cNvSpPr txBox="1"/>
          <p:nvPr/>
        </p:nvSpPr>
        <p:spPr>
          <a:xfrm>
            <a:off x="6766560" y="4480560"/>
            <a:ext cx="4572000" cy="1371600"/>
          </a:xfrm>
          <a:prstGeom prst="rect">
            <a:avLst/>
          </a:prstGeom>
          <a:noFill/>
          <a:ln/>
        </p:spPr>
        <p:txBody>
          <a:bodyPr wrap="square" lIns="0" tIns="0" rIns="0" bIns="0" rtlCol="0" anchor="t"/>
          <a:lstStyle/>
          <a:p>
            <a:pPr indent="0" marL="0">
              <a:buNone/>
            </a:pPr>
            <a:r>
              <a:rPr lang="en-US" sz="1500" dirty="0">
                <a:solidFill>
                  <a:schemeClr val="tx2"/>
                </a:solidFill>
              </a:rPr>
              <a:t>Full map plus IR is our fastest and most reliable board across the six tracks.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Board 4: Double IR</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Reading the curve as it drives</a:t>
            </a:r>
            <a:endParaRPr lang="en-US" sz="1600" dirty="0"/>
          </a:p>
        </p:txBody>
      </p:sp>
      <p:sp>
        <p:nvSpPr>
          <p:cNvPr id="5" name="board detail text 4"/>
          <p:cNvSpPr txBox="1"/>
          <p:nvPr/>
        </p:nvSpPr>
        <p:spPr>
          <a:xfrm>
            <a:off x="548640" y="1737360"/>
            <a:ext cx="5486400" cy="3108960"/>
          </a:xfrm>
          <a:prstGeom prst="rect">
            <a:avLst/>
          </a:prstGeom>
          <a:noFill/>
          <a:ln/>
        </p:spPr>
        <p:txBody>
          <a:bodyPr wrap="square" lIns="0" tIns="0" rIns="0" bIns="0" rtlCol="0" anchor="t"/>
          <a:lstStyle/>
          <a:p>
            <a:pPr indent="0" marL="0">
              <a:buNone/>
            </a:pPr>
            <a:r>
              <a:rPr lang="en-US" sz="1600" dirty="0">
                <a:solidFill>
                  <a:schemeClr val="tx2"/>
                </a:solidFill>
              </a:rPr>
              <a:t>This board needs no map. It has two rows of sensors, one in front of the wheels and one behind. The two rows tell the robot which way the line is turning. Wheel counters tell it how fast it is turning itself. Together, these give the sharpness of the bend, and the robot sets its speed to match.</a:t>
            </a:r>
            <a:endParaRPr lang="en-US" sz="1600" dirty="0"/>
          </a:p>
        </p:txBody>
      </p:sp>
      <p:sp>
        <p:nvSpPr>
          <p:cNvPr id="6" name="board facts 4"/>
          <p:cNvSpPr/>
          <p:nvPr/>
        </p:nvSpPr>
        <p:spPr>
          <a:xfrm>
            <a:off x="6492240" y="1737360"/>
            <a:ext cx="5120640" cy="4206240"/>
          </a:xfrm>
          <a:prstGeom prst="rect">
            <a:avLst/>
          </a:prstGeom>
          <a:solidFill>
            <a:schemeClr val="bg2"/>
          </a:solidFill>
          <a:ln w="9525">
            <a:solidFill>
              <a:schemeClr val="accent5"/>
            </a:solidFill>
            <a:prstDash val="solid"/>
          </a:ln>
        </p:spPr>
      </p:sp>
      <p:sp>
        <p:nvSpPr>
          <p:cNvPr id="7" name="facts heading 4"/>
          <p:cNvSpPr txBox="1"/>
          <p:nvPr/>
        </p:nvSpPr>
        <p:spPr>
          <a:xfrm>
            <a:off x="6766560" y="1965960"/>
            <a:ext cx="457200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it works</a:t>
            </a:r>
            <a:endParaRPr lang="en-US" sz="1800" dirty="0"/>
          </a:p>
        </p:txBody>
      </p:sp>
      <p:sp>
        <p:nvSpPr>
          <p:cNvPr id="8" name="facts list 4"/>
          <p:cNvSpPr txBox="1"/>
          <p:nvPr/>
        </p:nvSpPr>
        <p:spPr>
          <a:xfrm>
            <a:off x="6766560" y="2514600"/>
            <a:ext cx="45720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Two sensor rows give the direction of the line</a:t>
            </a:r>
            <a:endParaRPr lang="en-US" sz="1500" dirty="0"/>
          </a:p>
          <a:p>
            <a:pPr marL="342900" indent="-342900">
              <a:spcAft>
                <a:spcPts val="800"/>
              </a:spcAft>
              <a:buSzPct val="100000"/>
              <a:buChar char="•"/>
            </a:pPr>
            <a:r>
              <a:rPr lang="en-US" sz="1500" dirty="0">
                <a:solidFill>
                  <a:schemeClr val="tx2"/>
                </a:solidFill>
              </a:rPr>
              <a:t>Wheel counters give the robot turn rate</a:t>
            </a:r>
            <a:endParaRPr lang="en-US" sz="1500" dirty="0"/>
          </a:p>
          <a:p>
            <a:pPr marL="342900" indent="-342900">
              <a:spcAft>
                <a:spcPts val="800"/>
              </a:spcAft>
              <a:buSzPct val="100000"/>
              <a:buChar char="•"/>
            </a:pPr>
            <a:r>
              <a:rPr lang="en-US" sz="1500" dirty="0">
                <a:solidFill>
                  <a:schemeClr val="tx2"/>
                </a:solidFill>
              </a:rPr>
              <a:t>Speed is the highest safe speed for that bend, capped at 0.4 m/s</a:t>
            </a:r>
            <a:endParaRPr lang="en-US" sz="1500" dirty="0"/>
          </a:p>
        </p:txBody>
      </p:sp>
      <p:sp>
        <p:nvSpPr>
          <p:cNvPr id="9" name="facts result 4"/>
          <p:cNvSpPr txBox="1"/>
          <p:nvPr/>
        </p:nvSpPr>
        <p:spPr>
          <a:xfrm>
            <a:off x="6766560" y="4480560"/>
            <a:ext cx="4572000" cy="1371600"/>
          </a:xfrm>
          <a:prstGeom prst="rect">
            <a:avLst/>
          </a:prstGeom>
          <a:noFill/>
          <a:ln/>
        </p:spPr>
        <p:txBody>
          <a:bodyPr wrap="square" lIns="0" tIns="0" rIns="0" bIns="0" rtlCol="0" anchor="t"/>
          <a:lstStyle/>
          <a:p>
            <a:pPr indent="0" marL="0">
              <a:buNone/>
            </a:pPr>
            <a:r>
              <a:rPr lang="en-US" sz="1500" dirty="0">
                <a:solidFill>
                  <a:schemeClr val="tx2"/>
                </a:solidFill>
              </a:rPr>
              <a:t>Double IR finishes every map and every seeded run. It is slower than the map board, but it needs no map at all.</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How the four boards compare</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Lap times in seconds on each track, same robot, same start</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651760"/>
                <a:gridCol w="1371600"/>
                <a:gridCol w="1828800"/>
                <a:gridCol w="1645920"/>
                <a:gridCol w="1828800"/>
                <a:gridCol w="1737360"/>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Track</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Plan</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Normal PID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Blind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Map plus IR</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Double IR</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11111"/>
                    </a:solidFill>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Warm-Up Oval</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6.06</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23.31</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7.20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12.05</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Chicane</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3.74</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12.08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4.28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Hairpin Alley</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5.18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16.27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5.47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7.50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Dashed Line</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13.32</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4.29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6.90</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Zig-Zag</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3.99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10.93</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4.17</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5.03</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l" indent="0" marL="0">
                        <a:buNone/>
                      </a:pPr>
                      <a:r>
                        <a:rPr lang="en-US" sz="1400" dirty="0">
                          <a:solidFill>
                            <a:srgbClr val="111111"/>
                          </a:solidFill>
                          <a:latin typeface="Calibri" pitchFamily="34" charset="0"/>
                          <a:ea typeface="Calibri" pitchFamily="34" charset="-122"/>
                          <a:cs typeface="Calibri" pitchFamily="34" charset="-120"/>
                        </a:rPr>
                        <a:t>Sweepers</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5.58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24.09</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6B6B6B"/>
                          </a:solidFill>
                          <a:latin typeface="Calibri" pitchFamily="34" charset="0"/>
                          <a:ea typeface="Calibri" pitchFamily="34" charset="-122"/>
                          <a:cs typeface="Calibri" pitchFamily="34" charset="-120"/>
                        </a:rPr>
                        <a:t>derailed</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b="1" dirty="0">
                          <a:solidFill>
                            <a:srgbClr val="111111"/>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rgbClr val="111111"/>
                          </a:solidFill>
                          <a:latin typeface="Calibri" pitchFamily="34" charset="0"/>
                          <a:ea typeface="Calibri" pitchFamily="34" charset="-122"/>
                          <a:cs typeface="Calibri" pitchFamily="34" charset="-120"/>
                        </a:rPr>
                        <a:t>13.15</a:t>
                      </a:r>
                      <a:endParaRPr lang="en-US" sz="1400" dirty="0">
                        <a:latin typeface="Calibri" charset="0"/>
                        <a:ea typeface="Calibri" charset="0"/>
                        <a:cs typeface="Calibri" charset="0"/>
                      </a:endParaRPr>
                    </a:p>
                  </a:txBody>
                  <a:tcPr marL="109728" marR="109728" marT="0" marB="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results summary"/>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600" dirty="0">
                <a:solidFill>
                  <a:schemeClr val="tx2"/>
                </a:solidFill>
              </a:rPr>
              <a:t>Share of runs that finished, across all six tracks and 40 different noise settings: Normal PID 100 percent, Blind 0 percent, Map plus IR 100 percent, Double IR 100 percent.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1: The robot body</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Simple numbers, shown as an engineering drawing</a:t>
            </a:r>
            <a:endParaRPr lang="en-US" sz="1600" dirty="0"/>
          </a:p>
        </p:txBody>
      </p:sp>
      <p:pic>
        <p:nvPicPr>
          <p:cNvPr id="5" name="Image 0" descr="Engineering drawing of the robot body">    </p:cNvPr>
          <p:cNvPicPr>
            <a:picLocks noChangeAspect="1"/>
          </p:cNvPicPr>
          <p:nvPr/>
        </p:nvPicPr>
        <p:blipFill>
          <a:blip r:embed="rId1"/>
          <a:stretch>
            <a:fillRect/>
          </a:stretch>
        </p:blipFill>
        <p:spPr>
          <a:xfrm>
            <a:off x="548640" y="1600200"/>
            <a:ext cx="11064240" cy="4854648"/>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2: How the robot finds the line</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Five sensors, and a weighted average</a:t>
            </a:r>
            <a:endParaRPr lang="en-US" sz="1600" dirty="0"/>
          </a:p>
        </p:txBody>
      </p:sp>
      <p:sp>
        <p:nvSpPr>
          <p:cNvPr id="5" name="sensor panel"/>
          <p:cNvSpPr/>
          <p:nvPr/>
        </p:nvSpPr>
        <p:spPr>
          <a:xfrm>
            <a:off x="548640" y="1737360"/>
            <a:ext cx="5303520" cy="4297680"/>
          </a:xfrm>
          <a:prstGeom prst="rect">
            <a:avLst/>
          </a:prstGeom>
          <a:solidFill>
            <a:schemeClr val="bg2"/>
          </a:solidFill>
          <a:ln w="9525">
            <a:solidFill>
              <a:schemeClr val="accent5"/>
            </a:solidFill>
            <a:prstDash val="solid"/>
          </a:ln>
        </p:spPr>
      </p:sp>
      <p:sp>
        <p:nvSpPr>
          <p:cNvPr id="6" name="sensor list"/>
          <p:cNvSpPr txBox="1"/>
          <p:nvPr/>
        </p:nvSpPr>
        <p:spPr>
          <a:xfrm>
            <a:off x="822960" y="2103120"/>
            <a:ext cx="4754880" cy="36576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2"/>
                </a:solidFill>
              </a:rPr>
              <a:t>Five sensors, 12 millimetres apart</a:t>
            </a:r>
            <a:endParaRPr lang="en-US" sz="1700" dirty="0"/>
          </a:p>
          <a:p>
            <a:pPr marL="342900" indent="-342900">
              <a:spcAft>
                <a:spcPts val="800"/>
              </a:spcAft>
              <a:buSzPct val="100000"/>
              <a:buChar char="•"/>
            </a:pPr>
            <a:r>
              <a:rPr lang="en-US" sz="1700" dirty="0">
                <a:solidFill>
                  <a:schemeClr val="tx2"/>
                </a:solidFill>
              </a:rPr>
              <a:t>Each reads light or dark</a:t>
            </a:r>
            <a:endParaRPr lang="en-US" sz="1700" dirty="0"/>
          </a:p>
          <a:p>
            <a:pPr marL="342900" indent="-342900">
              <a:spcAft>
                <a:spcPts val="800"/>
              </a:spcAft>
              <a:buSzPct val="100000"/>
              <a:buChar char="•"/>
            </a:pPr>
            <a:r>
              <a:rPr lang="en-US" sz="1700" dirty="0">
                <a:solidFill>
                  <a:schemeClr val="tx2"/>
                </a:solidFill>
              </a:rPr>
              <a:t>The line position is the average of the dark readings</a:t>
            </a:r>
            <a:endParaRPr lang="en-US" sz="1700" dirty="0"/>
          </a:p>
          <a:p>
            <a:pPr marL="342900" indent="-342900">
              <a:spcAft>
                <a:spcPts val="800"/>
              </a:spcAft>
              <a:buSzPct val="100000"/>
              <a:buChar char="•"/>
            </a:pPr>
            <a:r>
              <a:rPr lang="en-US" sz="1700" dirty="0">
                <a:solidFill>
                  <a:schemeClr val="tx2"/>
                </a:solidFill>
              </a:rPr>
              <a:t>If the line is off centre, the robot steers back</a:t>
            </a:r>
            <a:endParaRPr lang="en-US" sz="1700" dirty="0"/>
          </a:p>
        </p:txBody>
      </p:sp>
      <p:sp>
        <p:nvSpPr>
          <p:cNvPr id="7" name="sensor example panel"/>
          <p:cNvSpPr/>
          <p:nvPr/>
        </p:nvSpPr>
        <p:spPr>
          <a:xfrm>
            <a:off x="6309360" y="1737360"/>
            <a:ext cx="5303520" cy="4297680"/>
          </a:xfrm>
          <a:prstGeom prst="rect">
            <a:avLst/>
          </a:prstGeom>
          <a:solidFill>
            <a:schemeClr val="bg2"/>
          </a:solidFill>
          <a:ln w="9525">
            <a:solidFill>
              <a:schemeClr val="accent5"/>
            </a:solidFill>
            <a:prstDash val="solid"/>
          </a:ln>
        </p:spPr>
      </p:sp>
      <p:sp>
        <p:nvSpPr>
          <p:cNvPr id="8" name="sensor example heading"/>
          <p:cNvSpPr txBox="1"/>
          <p:nvPr/>
        </p:nvSpPr>
        <p:spPr>
          <a:xfrm>
            <a:off x="6583680" y="2011680"/>
            <a:ext cx="475488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Example</a:t>
            </a:r>
            <a:endParaRPr lang="en-US" sz="2000" dirty="0"/>
          </a:p>
        </p:txBody>
      </p:sp>
      <p:sp>
        <p:nvSpPr>
          <p:cNvPr id="9" name="sensor example text"/>
          <p:cNvSpPr txBox="1"/>
          <p:nvPr/>
        </p:nvSpPr>
        <p:spPr>
          <a:xfrm>
            <a:off x="6583680" y="2606040"/>
            <a:ext cx="4754880" cy="2377440"/>
          </a:xfrm>
          <a:prstGeom prst="rect">
            <a:avLst/>
          </a:prstGeom>
          <a:noFill/>
          <a:ln/>
        </p:spPr>
        <p:txBody>
          <a:bodyPr wrap="square" lIns="0" tIns="0" rIns="0" bIns="0" rtlCol="0" anchor="t"/>
          <a:lstStyle/>
          <a:p>
            <a:pPr indent="0" marL="0">
              <a:buNone/>
            </a:pPr>
            <a:r>
              <a:rPr lang="en-US" sz="1700" dirty="0">
                <a:solidFill>
                  <a:schemeClr val="tx2"/>
                </a:solidFill>
              </a:rPr>
              <a:t>If only the second and third sensors see the line, the line is near the middle. If only the far left sensor sees it, the line is far to the left and the robot needs a hard turn.</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3: The steering loop</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simple rule, applied 500 times a second</a:t>
            </a:r>
            <a:endParaRPr lang="en-US" sz="1600" dirty="0"/>
          </a:p>
        </p:txBody>
      </p:sp>
      <p:sp>
        <p:nvSpPr>
          <p:cNvPr id="5" name="pid card 1"/>
          <p:cNvSpPr/>
          <p:nvPr/>
        </p:nvSpPr>
        <p:spPr>
          <a:xfrm>
            <a:off x="548640" y="1737360"/>
            <a:ext cx="3474720" cy="2834640"/>
          </a:xfrm>
          <a:prstGeom prst="rect">
            <a:avLst/>
          </a:prstGeom>
          <a:solidFill>
            <a:schemeClr val="bg2"/>
          </a:solidFill>
          <a:ln w="9525">
            <a:solidFill>
              <a:schemeClr val="accent5"/>
            </a:solidFill>
            <a:prstDash val="solid"/>
          </a:ln>
        </p:spPr>
      </p:sp>
      <p:sp>
        <p:nvSpPr>
          <p:cNvPr id="6" name="pid heading 1"/>
          <p:cNvSpPr txBox="1"/>
          <p:nvPr/>
        </p:nvSpPr>
        <p:spPr>
          <a:xfrm>
            <a:off x="822960" y="2011680"/>
            <a:ext cx="2926080" cy="45720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 how far off</a:t>
            </a:r>
            <a:endParaRPr lang="en-US" sz="1900" dirty="0"/>
          </a:p>
        </p:txBody>
      </p:sp>
      <p:sp>
        <p:nvSpPr>
          <p:cNvPr id="7" name="pid text 1"/>
          <p:cNvSpPr txBox="1"/>
          <p:nvPr/>
        </p:nvSpPr>
        <p:spPr>
          <a:xfrm>
            <a:off x="822960" y="2651760"/>
            <a:ext cx="2926080" cy="1737360"/>
          </a:xfrm>
          <a:prstGeom prst="rect">
            <a:avLst/>
          </a:prstGeom>
          <a:noFill/>
          <a:ln/>
        </p:spPr>
        <p:txBody>
          <a:bodyPr wrap="square" lIns="0" tIns="0" rIns="0" bIns="0" rtlCol="0" anchor="t"/>
          <a:lstStyle/>
          <a:p>
            <a:pPr indent="0" marL="0">
              <a:buNone/>
            </a:pPr>
            <a:r>
              <a:rPr lang="en-US" sz="1600" dirty="0">
                <a:solidFill>
                  <a:schemeClr val="tx2"/>
                </a:solidFill>
              </a:rPr>
              <a:t>Turn harder when the line is further away</a:t>
            </a:r>
            <a:endParaRPr lang="en-US" sz="1600" dirty="0"/>
          </a:p>
        </p:txBody>
      </p:sp>
      <p:sp>
        <p:nvSpPr>
          <p:cNvPr id="8" name="pid card 2"/>
          <p:cNvSpPr/>
          <p:nvPr/>
        </p:nvSpPr>
        <p:spPr>
          <a:xfrm>
            <a:off x="4297680" y="1737360"/>
            <a:ext cx="3474720" cy="2834640"/>
          </a:xfrm>
          <a:prstGeom prst="rect">
            <a:avLst/>
          </a:prstGeom>
          <a:solidFill>
            <a:schemeClr val="bg2"/>
          </a:solidFill>
          <a:ln w="9525">
            <a:solidFill>
              <a:schemeClr val="accent5"/>
            </a:solidFill>
            <a:prstDash val="solid"/>
          </a:ln>
        </p:spPr>
      </p:sp>
      <p:sp>
        <p:nvSpPr>
          <p:cNvPr id="9" name="pid heading 2"/>
          <p:cNvSpPr txBox="1"/>
          <p:nvPr/>
        </p:nvSpPr>
        <p:spPr>
          <a:xfrm>
            <a:off x="4572000" y="2011680"/>
            <a:ext cx="2926080" cy="45720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I: how long off</a:t>
            </a:r>
            <a:endParaRPr lang="en-US" sz="1900" dirty="0"/>
          </a:p>
        </p:txBody>
      </p:sp>
      <p:sp>
        <p:nvSpPr>
          <p:cNvPr id="10" name="pid text 2"/>
          <p:cNvSpPr txBox="1"/>
          <p:nvPr/>
        </p:nvSpPr>
        <p:spPr>
          <a:xfrm>
            <a:off x="4572000" y="2651760"/>
            <a:ext cx="2926080" cy="1737360"/>
          </a:xfrm>
          <a:prstGeom prst="rect">
            <a:avLst/>
          </a:prstGeom>
          <a:noFill/>
          <a:ln/>
        </p:spPr>
        <p:txBody>
          <a:bodyPr wrap="square" lIns="0" tIns="0" rIns="0" bIns="0" rtlCol="0" anchor="t"/>
          <a:lstStyle/>
          <a:p>
            <a:pPr indent="0" marL="0">
              <a:buNone/>
            </a:pPr>
            <a:r>
              <a:rPr lang="en-US" sz="1600" dirty="0">
                <a:solidFill>
                  <a:schemeClr val="tx2"/>
                </a:solidFill>
              </a:rPr>
              <a:t>Correct a steady error that the P part cannot clear alone</a:t>
            </a:r>
            <a:endParaRPr lang="en-US" sz="1600" dirty="0"/>
          </a:p>
        </p:txBody>
      </p:sp>
      <p:sp>
        <p:nvSpPr>
          <p:cNvPr id="11" name="pid card 3"/>
          <p:cNvSpPr/>
          <p:nvPr/>
        </p:nvSpPr>
        <p:spPr>
          <a:xfrm>
            <a:off x="8046720" y="1737360"/>
            <a:ext cx="3474720" cy="2834640"/>
          </a:xfrm>
          <a:prstGeom prst="rect">
            <a:avLst/>
          </a:prstGeom>
          <a:solidFill>
            <a:schemeClr val="bg2"/>
          </a:solidFill>
          <a:ln w="9525">
            <a:solidFill>
              <a:schemeClr val="accent5"/>
            </a:solidFill>
            <a:prstDash val="solid"/>
          </a:ln>
        </p:spPr>
      </p:sp>
      <p:sp>
        <p:nvSpPr>
          <p:cNvPr id="12" name="pid heading 3"/>
          <p:cNvSpPr txBox="1"/>
          <p:nvPr/>
        </p:nvSpPr>
        <p:spPr>
          <a:xfrm>
            <a:off x="8321040" y="2011680"/>
            <a:ext cx="2926080" cy="45720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D: how fast it changes</a:t>
            </a:r>
            <a:endParaRPr lang="en-US" sz="1900" dirty="0"/>
          </a:p>
        </p:txBody>
      </p:sp>
      <p:sp>
        <p:nvSpPr>
          <p:cNvPr id="13" name="pid text 3"/>
          <p:cNvSpPr txBox="1"/>
          <p:nvPr/>
        </p:nvSpPr>
        <p:spPr>
          <a:xfrm>
            <a:off x="8321040" y="2651760"/>
            <a:ext cx="2926080" cy="1737360"/>
          </a:xfrm>
          <a:prstGeom prst="rect">
            <a:avLst/>
          </a:prstGeom>
          <a:noFill/>
          <a:ln/>
        </p:spPr>
        <p:txBody>
          <a:bodyPr wrap="square" lIns="0" tIns="0" rIns="0" bIns="0" rtlCol="0" anchor="t"/>
          <a:lstStyle/>
          <a:p>
            <a:pPr indent="0" marL="0">
              <a:buNone/>
            </a:pPr>
            <a:r>
              <a:rPr lang="en-US" sz="1600" dirty="0">
                <a:solidFill>
                  <a:schemeClr val="tx2"/>
                </a:solidFill>
              </a:rPr>
              <a:t>Slow down the turn when the error is closing quickly</a:t>
            </a:r>
            <a:endParaRPr lang="en-US" sz="1600" dirty="0"/>
          </a:p>
        </p:txBody>
      </p:sp>
      <p:sp>
        <p:nvSpPr>
          <p:cNvPr id="14" name="pid footer"/>
          <p:cNvSpPr txBox="1"/>
          <p:nvPr/>
        </p:nvSpPr>
        <p:spPr>
          <a:xfrm>
            <a:off x="548640" y="4937760"/>
            <a:ext cx="11064240" cy="731520"/>
          </a:xfrm>
          <a:prstGeom prst="rect">
            <a:avLst/>
          </a:prstGeom>
          <a:noFill/>
          <a:ln/>
        </p:spPr>
        <p:txBody>
          <a:bodyPr wrap="square" lIns="0" tIns="0" rIns="0" bIns="0" rtlCol="0" anchor="t"/>
          <a:lstStyle/>
          <a:p>
            <a:pPr indent="0" marL="0">
              <a:buNone/>
            </a:pPr>
            <a:r>
              <a:rPr lang="en-US" sz="1700" dirty="0">
                <a:solidFill>
                  <a:schemeClr val="tx2"/>
                </a:solidFill>
              </a:rPr>
              <a:t>The loop runs every 2 milliseconds. That is fast enough to correct the robot long before it drifts far from the line.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4: How fast is safe in a corner</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The tighter the corner, the slower the robot must go</a:t>
            </a:r>
            <a:endParaRPr lang="en-US" sz="1600" dirty="0"/>
          </a:p>
        </p:txBody>
      </p:sp>
      <p:graphicFrame>
        <p:nvGraphicFramePr>
          <p:cNvPr id="5" name="Chart 0" descr=""/>
          <p:cNvGraphicFramePr/>
          <p:nvPr/>
        </p:nvGraphicFramePr>
        <p:xfrm>
          <a:off x="548640" y="160020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6" name="corner panel"/>
          <p:cNvSpPr/>
          <p:nvPr/>
        </p:nvSpPr>
        <p:spPr>
          <a:xfrm>
            <a:off x="8138160" y="1737360"/>
            <a:ext cx="3566160" cy="4206240"/>
          </a:xfrm>
          <a:prstGeom prst="rect">
            <a:avLst/>
          </a:prstGeom>
          <a:solidFill>
            <a:schemeClr val="bg2"/>
          </a:solidFill>
          <a:ln w="9525">
            <a:solidFill>
              <a:schemeClr val="accent5"/>
            </a:solidFill>
            <a:prstDash val="solid"/>
          </a:ln>
        </p:spPr>
      </p:sp>
      <p:sp>
        <p:nvSpPr>
          <p:cNvPr id="7" name="corner rule heading"/>
          <p:cNvSpPr txBox="1"/>
          <p:nvPr/>
        </p:nvSpPr>
        <p:spPr>
          <a:xfrm>
            <a:off x="8412480" y="2011680"/>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The rule</a:t>
            </a:r>
            <a:endParaRPr lang="en-US" sz="1900" dirty="0"/>
          </a:p>
        </p:txBody>
      </p:sp>
      <p:sp>
        <p:nvSpPr>
          <p:cNvPr id="8" name="corner rule"/>
          <p:cNvSpPr txBox="1"/>
          <p:nvPr/>
        </p:nvSpPr>
        <p:spPr>
          <a:xfrm>
            <a:off x="8412480" y="2560320"/>
            <a:ext cx="3108960" cy="914400"/>
          </a:xfrm>
          <a:prstGeom prst="rect">
            <a:avLst/>
          </a:prstGeom>
          <a:noFill/>
          <a:ln/>
        </p:spPr>
        <p:txBody>
          <a:bodyPr wrap="square" lIns="0" tIns="0" rIns="0" bIns="0" rtlCol="0" anchor="t"/>
          <a:lstStyle/>
          <a:p>
            <a:pPr indent="0" marL="0">
              <a:buNone/>
            </a:pPr>
            <a:r>
              <a:rPr lang="en-US" sz="1600" dirty="0">
                <a:solidFill>
                  <a:schemeClr val="tx2"/>
                </a:solidFill>
              </a:rPr>
              <a:t>Safe speed = square root of (grip times radius)</a:t>
            </a:r>
            <a:endParaRPr lang="en-US" sz="1600" dirty="0"/>
          </a:p>
        </p:txBody>
      </p:sp>
      <p:sp>
        <p:nvSpPr>
          <p:cNvPr id="9" name="corner note"/>
          <p:cNvSpPr txBox="1"/>
          <p:nvPr/>
        </p:nvSpPr>
        <p:spPr>
          <a:xfrm>
            <a:off x="8412480" y="3566160"/>
            <a:ext cx="3108960" cy="2194560"/>
          </a:xfrm>
          <a:prstGeom prst="rect">
            <a:avLst/>
          </a:prstGeom>
          <a:noFill/>
          <a:ln/>
        </p:spPr>
        <p:txBody>
          <a:bodyPr wrap="square" lIns="0" tIns="0" rIns="0" bIns="0" rtlCol="0" anchor="t"/>
          <a:lstStyle/>
          <a:p>
            <a:pPr indent="0" marL="0">
              <a:buNone/>
            </a:pPr>
            <a:r>
              <a:rPr lang="en-US" sz="1500" dirty="0">
                <a:solidFill>
                  <a:schemeClr val="tx2"/>
                </a:solidFill>
              </a:rPr>
              <a:t>The map boards use a grip of 1.5 metres per second squared, with a top speed of 1 metre per second. Double IR uses a more careful grip of 1.6 and never goes above 0.4 metres per second.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5: Grip and wheel slip</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tyre can only push so hard before it slips</a:t>
            </a:r>
            <a:endParaRPr lang="en-US" sz="1600" dirty="0"/>
          </a:p>
        </p:txBody>
      </p:sp>
      <p:pic>
        <p:nvPicPr>
          <p:cNvPr id="5" name="Image 0" descr="Grip and slip drawing">    </p:cNvPr>
          <p:cNvPicPr>
            <a:picLocks noChangeAspect="1"/>
          </p:cNvPicPr>
          <p:nvPr/>
        </p:nvPicPr>
        <p:blipFill>
          <a:blip r:embed="rId1"/>
          <a:stretch>
            <a:fillRect/>
          </a:stretch>
        </p:blipFill>
        <p:spPr>
          <a:xfrm>
            <a:off x="548640" y="1600200"/>
            <a:ext cx="11064240" cy="5276791"/>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6: How hard the robot is to turn</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Inertia: the heavier and wider the parts, the harder it is to spin</a:t>
            </a:r>
            <a:endParaRPr lang="en-US" sz="1600" dirty="0"/>
          </a:p>
        </p:txBody>
      </p:sp>
      <p:pic>
        <p:nvPicPr>
          <p:cNvPr id="5" name="Image 0" descr="Yaw inertia drawing">    </p:cNvPr>
          <p:cNvPicPr>
            <a:picLocks noChangeAspect="1"/>
          </p:cNvPicPr>
          <p:nvPr/>
        </p:nvPicPr>
        <p:blipFill>
          <a:blip r:embed="rId1"/>
          <a:stretch>
            <a:fillRect/>
          </a:stretch>
        </p:blipFill>
        <p:spPr>
          <a:xfrm>
            <a:off x="548640" y="1600200"/>
            <a:ext cx="11064240" cy="5276791"/>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7: Counting wheel turns</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Wheel counters tell us speed, and how sharply the robot turns</a:t>
            </a:r>
            <a:endParaRPr lang="en-US" sz="1600" dirty="0"/>
          </a:p>
        </p:txBody>
      </p:sp>
      <p:pic>
        <p:nvPicPr>
          <p:cNvPr id="5" name="Image 0" descr="Wheel encoder drawing">    </p:cNvPr>
          <p:cNvPicPr>
            <a:picLocks noChangeAspect="1"/>
          </p:cNvPicPr>
          <p:nvPr/>
        </p:nvPicPr>
        <p:blipFill>
          <a:blip r:embed="rId1"/>
          <a:stretch>
            <a:fillRect/>
          </a:stretch>
        </p:blipFill>
        <p:spPr>
          <a:xfrm>
            <a:off x="548640" y="1600200"/>
            <a:ext cx="11064240" cy="5276791"/>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8: Dashed lines and gaps</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When the line disappears, the robot keeps its nerve</a:t>
            </a:r>
            <a:endParaRPr lang="en-US" sz="1600" dirty="0"/>
          </a:p>
        </p:txBody>
      </p:sp>
      <p:pic>
        <p:nvPicPr>
          <p:cNvPr id="5" name="Image 0" descr="Gaps and dashed lines drawing">    </p:cNvPr>
          <p:cNvPicPr>
            <a:picLocks noChangeAspect="1"/>
          </p:cNvPicPr>
          <p:nvPr/>
        </p:nvPicPr>
        <p:blipFill>
          <a:blip r:embed="rId1"/>
          <a:stretch>
            <a:fillRect/>
          </a:stretch>
        </p:blipFill>
        <p:spPr>
          <a:xfrm>
            <a:off x="548640" y="1600200"/>
            <a:ext cx="11064240" cy="5276791"/>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9: Timing and timestamps</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Every number the robot runs on has a clock behind it</a:t>
            </a:r>
            <a:endParaRPr lang="en-US" sz="1600" dirty="0"/>
          </a:p>
        </p:txBody>
      </p:sp>
      <p:pic>
        <p:nvPicPr>
          <p:cNvPr id="5" name="Image 0" descr="Timing chart">    </p:cNvPr>
          <p:cNvPicPr>
            <a:picLocks noChangeAspect="1"/>
          </p:cNvPicPr>
          <p:nvPr/>
        </p:nvPicPr>
        <p:blipFill>
          <a:blip r:embed="rId1"/>
          <a:stretch>
            <a:fillRect/>
          </a:stretch>
        </p:blipFill>
        <p:spPr>
          <a:xfrm>
            <a:off x="548640" y="1600200"/>
            <a:ext cx="11064240" cy="5276791"/>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Technical 10: The simulator</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We copy the real physics, then mark what is still a guess</a:t>
            </a:r>
            <a:endParaRPr lang="en-US" sz="1600" dirty="0"/>
          </a:p>
        </p:txBody>
      </p:sp>
      <p:pic>
        <p:nvPicPr>
          <p:cNvPr id="5" name="Image 0" descr="3D simulator view">    </p:cNvPr>
          <p:cNvPicPr>
            <a:picLocks noChangeAspect="1"/>
          </p:cNvPicPr>
          <p:nvPr/>
        </p:nvPicPr>
        <p:blipFill>
          <a:blip r:embed="rId1"/>
          <a:stretch>
            <a:fillRect/>
          </a:stretch>
        </p:blipFill>
        <p:spPr>
          <a:xfrm>
            <a:off x="548640" y="1600200"/>
            <a:ext cx="6309360" cy="4904219"/>
          </a:xfrm>
          <a:prstGeom prst="rect">
            <a:avLst/>
          </a:prstGeom>
        </p:spPr>
      </p:pic>
      <p:sp>
        <p:nvSpPr>
          <p:cNvPr id="6" name="sim panel"/>
          <p:cNvSpPr/>
          <p:nvPr/>
        </p:nvSpPr>
        <p:spPr>
          <a:xfrm>
            <a:off x="7223760" y="1600200"/>
            <a:ext cx="4480560" cy="4480560"/>
          </a:xfrm>
          <a:prstGeom prst="rect">
            <a:avLst/>
          </a:prstGeom>
          <a:solidFill>
            <a:schemeClr val="bg2"/>
          </a:solidFill>
          <a:ln w="9525">
            <a:solidFill>
              <a:schemeClr val="accent5"/>
            </a:solidFill>
            <a:prstDash val="solid"/>
          </a:ln>
        </p:spPr>
      </p:sp>
      <p:sp>
        <p:nvSpPr>
          <p:cNvPr id="7" name="sim heading"/>
          <p:cNvSpPr txBox="1"/>
          <p:nvPr/>
        </p:nvSpPr>
        <p:spPr>
          <a:xfrm>
            <a:off x="7498080" y="1874520"/>
            <a:ext cx="393192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What the simulator models</a:t>
            </a:r>
            <a:endParaRPr lang="en-US" sz="1800" dirty="0"/>
          </a:p>
        </p:txBody>
      </p:sp>
      <p:sp>
        <p:nvSpPr>
          <p:cNvPr id="8" name="sim list"/>
          <p:cNvSpPr txBox="1"/>
          <p:nvPr/>
        </p:nvSpPr>
        <p:spPr>
          <a:xfrm>
            <a:off x="7498080" y="2377440"/>
            <a:ext cx="393192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Motor pull for each wheel</a:t>
            </a:r>
            <a:endParaRPr lang="en-US" sz="1500" dirty="0"/>
          </a:p>
          <a:p>
            <a:pPr marL="342900" indent="-342900">
              <a:spcAft>
                <a:spcPts val="800"/>
              </a:spcAft>
              <a:buSzPct val="100000"/>
              <a:buChar char="•"/>
            </a:pPr>
            <a:r>
              <a:rPr lang="en-US" sz="1500" dirty="0">
                <a:solidFill>
                  <a:schemeClr val="tx2"/>
                </a:solidFill>
              </a:rPr>
              <a:t>Grip and wheel slip</a:t>
            </a:r>
            <a:endParaRPr lang="en-US" sz="1500" dirty="0"/>
          </a:p>
          <a:p>
            <a:pPr marL="342900" indent="-342900">
              <a:spcAft>
                <a:spcPts val="800"/>
              </a:spcAft>
              <a:buSzPct val="100000"/>
              <a:buChar char="•"/>
            </a:pPr>
            <a:r>
              <a:rPr lang="en-US" sz="1500" dirty="0">
                <a:solidFill>
                  <a:schemeClr val="tx2"/>
                </a:solidFill>
              </a:rPr>
              <a:t>Sideways slide in fast bends</a:t>
            </a:r>
            <a:endParaRPr lang="en-US" sz="1500" dirty="0"/>
          </a:p>
          <a:p>
            <a:pPr marL="342900" indent="-342900">
              <a:spcAft>
                <a:spcPts val="800"/>
              </a:spcAft>
              <a:buSzPct val="100000"/>
              <a:buChar char="•"/>
            </a:pPr>
            <a:r>
              <a:rPr lang="en-US" sz="1500" dirty="0">
                <a:solidFill>
                  <a:schemeClr val="tx2"/>
                </a:solidFill>
              </a:rPr>
              <a:t>Noisy sensors</a:t>
            </a:r>
            <a:endParaRPr lang="en-US" sz="1500" dirty="0"/>
          </a:p>
          <a:p>
            <a:pPr marL="342900" indent="-342900">
              <a:spcAft>
                <a:spcPts val="800"/>
              </a:spcAft>
              <a:buSzPct val="100000"/>
              <a:buChar char="•"/>
            </a:pPr>
            <a:r>
              <a:rPr lang="en-US" sz="1500" dirty="0">
                <a:solidFill>
                  <a:schemeClr val="tx2"/>
                </a:solidFill>
              </a:rPr>
              <a:t>Rolling resistance</a:t>
            </a:r>
            <a:endParaRPr lang="en-US" sz="1500" dirty="0"/>
          </a:p>
        </p:txBody>
      </p:sp>
      <p:sp>
        <p:nvSpPr>
          <p:cNvPr id="9" name="sim todo heading"/>
          <p:cNvSpPr txBox="1"/>
          <p:nvPr/>
        </p:nvSpPr>
        <p:spPr>
          <a:xfrm>
            <a:off x="7498080" y="4434840"/>
            <a:ext cx="393192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Still to check on hardware</a:t>
            </a:r>
            <a:endParaRPr lang="en-US" sz="1800" dirty="0"/>
          </a:p>
        </p:txBody>
      </p:sp>
      <p:sp>
        <p:nvSpPr>
          <p:cNvPr id="10" name="sim todo text"/>
          <p:cNvSpPr txBox="1"/>
          <p:nvPr/>
        </p:nvSpPr>
        <p:spPr>
          <a:xfrm>
            <a:off x="7498080" y="4892040"/>
            <a:ext cx="3931920" cy="1097280"/>
          </a:xfrm>
          <a:prstGeom prst="rect">
            <a:avLst/>
          </a:prstGeom>
          <a:noFill/>
          <a:ln/>
        </p:spPr>
        <p:txBody>
          <a:bodyPr wrap="square" lIns="0" tIns="0" rIns="0" bIns="0" rtlCol="0" anchor="t"/>
          <a:lstStyle/>
          <a:p>
            <a:pPr indent="0" marL="0">
              <a:buNone/>
            </a:pPr>
            <a:r>
              <a:rPr lang="en-US" sz="1500" dirty="0">
                <a:solidFill>
                  <a:schemeClr val="tx2"/>
                </a:solidFill>
              </a:rPr>
              <a:t>Friction, motor strength and the grip value are estimates until we measure the real robot.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Why this matters in the real world</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Line following is a small version of a very big industry</a:t>
            </a:r>
            <a:endParaRPr lang="en-US" sz="1600" dirty="0"/>
          </a:p>
        </p:txBody>
      </p:sp>
      <p:sp>
        <p:nvSpPr>
          <p:cNvPr id="5" name="impact 1"/>
          <p:cNvSpPr/>
          <p:nvPr/>
        </p:nvSpPr>
        <p:spPr>
          <a:xfrm>
            <a:off x="548640" y="1737360"/>
            <a:ext cx="5440680" cy="2103120"/>
          </a:xfrm>
          <a:prstGeom prst="rect">
            <a:avLst/>
          </a:prstGeom>
          <a:solidFill>
            <a:schemeClr val="bg2"/>
          </a:solidFill>
          <a:ln w="9525">
            <a:solidFill>
              <a:schemeClr val="accent5"/>
            </a:solidFill>
            <a:prstDash val="solid"/>
          </a:ln>
        </p:spPr>
      </p:sp>
      <p:sp>
        <p:nvSpPr>
          <p:cNvPr id="6" name="impact heading 1"/>
          <p:cNvSpPr txBox="1"/>
          <p:nvPr/>
        </p:nvSpPr>
        <p:spPr>
          <a:xfrm>
            <a:off x="822960" y="201168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Warehouses and factories</a:t>
            </a:r>
            <a:endParaRPr lang="en-US" sz="2000" dirty="0"/>
          </a:p>
        </p:txBody>
      </p:sp>
      <p:sp>
        <p:nvSpPr>
          <p:cNvPr id="7" name="impact text 1"/>
          <p:cNvSpPr txBox="1"/>
          <p:nvPr/>
        </p:nvSpPr>
        <p:spPr>
          <a:xfrm>
            <a:off x="822960" y="2606040"/>
            <a:ext cx="4892040" cy="1097280"/>
          </a:xfrm>
          <a:prstGeom prst="rect">
            <a:avLst/>
          </a:prstGeom>
          <a:noFill/>
          <a:ln/>
        </p:spPr>
        <p:txBody>
          <a:bodyPr wrap="square" lIns="0" tIns="0" rIns="0" bIns="0" rtlCol="0" anchor="t"/>
          <a:lstStyle/>
          <a:p>
            <a:pPr indent="0" marL="0">
              <a:buNone/>
            </a:pPr>
            <a:r>
              <a:rPr lang="en-US" sz="1600" dirty="0">
                <a:solidFill>
                  <a:schemeClr val="tx2"/>
                </a:solidFill>
              </a:rPr>
              <a:t>Carts and trucks that follow a floor line, and need to slow for turns.</a:t>
            </a:r>
            <a:endParaRPr lang="en-US" sz="1600" dirty="0"/>
          </a:p>
        </p:txBody>
      </p:sp>
      <p:sp>
        <p:nvSpPr>
          <p:cNvPr id="8" name="impact 2"/>
          <p:cNvSpPr/>
          <p:nvPr/>
        </p:nvSpPr>
        <p:spPr>
          <a:xfrm>
            <a:off x="6172200" y="1737360"/>
            <a:ext cx="5440680" cy="2103120"/>
          </a:xfrm>
          <a:prstGeom prst="rect">
            <a:avLst/>
          </a:prstGeom>
          <a:solidFill>
            <a:schemeClr val="bg2"/>
          </a:solidFill>
          <a:ln w="9525">
            <a:solidFill>
              <a:schemeClr val="accent5"/>
            </a:solidFill>
            <a:prstDash val="solid"/>
          </a:ln>
        </p:spPr>
      </p:sp>
      <p:sp>
        <p:nvSpPr>
          <p:cNvPr id="9" name="impact heading 2"/>
          <p:cNvSpPr txBox="1"/>
          <p:nvPr/>
        </p:nvSpPr>
        <p:spPr>
          <a:xfrm>
            <a:off x="6446520" y="201168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Hospitals and labs</a:t>
            </a:r>
            <a:endParaRPr lang="en-US" sz="2000" dirty="0"/>
          </a:p>
        </p:txBody>
      </p:sp>
      <p:sp>
        <p:nvSpPr>
          <p:cNvPr id="10" name="impact text 2"/>
          <p:cNvSpPr txBox="1"/>
          <p:nvPr/>
        </p:nvSpPr>
        <p:spPr>
          <a:xfrm>
            <a:off x="6446520" y="2606040"/>
            <a:ext cx="4892040" cy="1097280"/>
          </a:xfrm>
          <a:prstGeom prst="rect">
            <a:avLst/>
          </a:prstGeom>
          <a:noFill/>
          <a:ln/>
        </p:spPr>
        <p:txBody>
          <a:bodyPr wrap="square" lIns="0" tIns="0" rIns="0" bIns="0" rtlCol="0" anchor="t"/>
          <a:lstStyle/>
          <a:p>
            <a:pPr indent="0" marL="0">
              <a:buNone/>
            </a:pPr>
            <a:r>
              <a:rPr lang="en-US" sz="1600" dirty="0">
                <a:solidFill>
                  <a:schemeClr val="tx2"/>
                </a:solidFill>
              </a:rPr>
              <a:t>Delivery robots that carry samples or meals on fixed routes.</a:t>
            </a:r>
            <a:endParaRPr lang="en-US" sz="1600" dirty="0"/>
          </a:p>
        </p:txBody>
      </p:sp>
      <p:sp>
        <p:nvSpPr>
          <p:cNvPr id="11" name="impact 3"/>
          <p:cNvSpPr/>
          <p:nvPr/>
        </p:nvSpPr>
        <p:spPr>
          <a:xfrm>
            <a:off x="548640" y="4069080"/>
            <a:ext cx="5440680" cy="2103120"/>
          </a:xfrm>
          <a:prstGeom prst="rect">
            <a:avLst/>
          </a:prstGeom>
          <a:solidFill>
            <a:schemeClr val="bg2"/>
          </a:solidFill>
          <a:ln w="9525">
            <a:solidFill>
              <a:schemeClr val="accent5"/>
            </a:solidFill>
            <a:prstDash val="solid"/>
          </a:ln>
        </p:spPr>
      </p:sp>
      <p:sp>
        <p:nvSpPr>
          <p:cNvPr id="12" name="impact heading 3"/>
          <p:cNvSpPr txBox="1"/>
          <p:nvPr/>
        </p:nvSpPr>
        <p:spPr>
          <a:xfrm>
            <a:off x="822960" y="434340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Safety</a:t>
            </a:r>
            <a:endParaRPr lang="en-US" sz="2000" dirty="0"/>
          </a:p>
        </p:txBody>
      </p:sp>
      <p:sp>
        <p:nvSpPr>
          <p:cNvPr id="13" name="impact text 3"/>
          <p:cNvSpPr txBox="1"/>
          <p:nvPr/>
        </p:nvSpPr>
        <p:spPr>
          <a:xfrm>
            <a:off x="822960" y="4937760"/>
            <a:ext cx="4892040" cy="1097280"/>
          </a:xfrm>
          <a:prstGeom prst="rect">
            <a:avLst/>
          </a:prstGeom>
          <a:noFill/>
          <a:ln/>
        </p:spPr>
        <p:txBody>
          <a:bodyPr wrap="square" lIns="0" tIns="0" rIns="0" bIns="0" rtlCol="0" anchor="t"/>
          <a:lstStyle/>
          <a:p>
            <a:pPr indent="0" marL="0">
              <a:buNone/>
            </a:pPr>
            <a:r>
              <a:rPr lang="en-US" sz="1600" dirty="0">
                <a:solidFill>
                  <a:schemeClr val="tx2"/>
                </a:solidFill>
              </a:rPr>
              <a:t>Robots that know when to stop, instead of carrying on blind.</a:t>
            </a:r>
            <a:endParaRPr lang="en-US" sz="1600" dirty="0"/>
          </a:p>
        </p:txBody>
      </p:sp>
      <p:sp>
        <p:nvSpPr>
          <p:cNvPr id="14" name="impact 4"/>
          <p:cNvSpPr/>
          <p:nvPr/>
        </p:nvSpPr>
        <p:spPr>
          <a:xfrm>
            <a:off x="6172200" y="4069080"/>
            <a:ext cx="5440680" cy="2103120"/>
          </a:xfrm>
          <a:prstGeom prst="rect">
            <a:avLst/>
          </a:prstGeom>
          <a:solidFill>
            <a:schemeClr val="bg2"/>
          </a:solidFill>
          <a:ln w="9525">
            <a:solidFill>
              <a:schemeClr val="accent5"/>
            </a:solidFill>
            <a:prstDash val="solid"/>
          </a:ln>
        </p:spPr>
      </p:sp>
      <p:sp>
        <p:nvSpPr>
          <p:cNvPr id="15" name="impact heading 4"/>
          <p:cNvSpPr txBox="1"/>
          <p:nvPr/>
        </p:nvSpPr>
        <p:spPr>
          <a:xfrm>
            <a:off x="6446520" y="4343400"/>
            <a:ext cx="484632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Learning</a:t>
            </a:r>
            <a:endParaRPr lang="en-US" sz="2000" dirty="0"/>
          </a:p>
        </p:txBody>
      </p:sp>
      <p:sp>
        <p:nvSpPr>
          <p:cNvPr id="16" name="impact text 4"/>
          <p:cNvSpPr txBox="1"/>
          <p:nvPr/>
        </p:nvSpPr>
        <p:spPr>
          <a:xfrm>
            <a:off x="6446520" y="4937760"/>
            <a:ext cx="4892040" cy="1097280"/>
          </a:xfrm>
          <a:prstGeom prst="rect">
            <a:avLst/>
          </a:prstGeom>
          <a:noFill/>
          <a:ln/>
        </p:spPr>
        <p:txBody>
          <a:bodyPr wrap="square" lIns="0" tIns="0" rIns="0" bIns="0" rtlCol="0" anchor="t"/>
          <a:lstStyle/>
          <a:p>
            <a:pPr indent="0" marL="0">
              <a:buNone/>
            </a:pPr>
            <a:r>
              <a:rPr lang="en-US" sz="1600" dirty="0">
                <a:solidFill>
                  <a:schemeClr val="tx2"/>
                </a:solidFill>
              </a:rPr>
              <a:t>Control, sensing, physics and testing, all in one project.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The serious engineering behind it</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What we did to make the work reliable, not just impressive</a:t>
            </a:r>
            <a:endParaRPr lang="en-US" sz="1600" dirty="0"/>
          </a:p>
        </p:txBody>
      </p:sp>
      <p:sp>
        <p:nvSpPr>
          <p:cNvPr id="5" name="engineering list"/>
          <p:cNvSpPr txBox="1"/>
          <p:nvPr/>
        </p:nvSpPr>
        <p:spPr>
          <a:xfrm>
            <a:off x="548640" y="1737360"/>
            <a:ext cx="11064240" cy="43891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2"/>
                </a:solidFill>
              </a:rPr>
              <a:t>One source of truth: sizes and tuning live in one file, used by the robot and the simulator</a:t>
            </a:r>
            <a:endParaRPr lang="en-US" sz="1800" dirty="0"/>
          </a:p>
          <a:p>
            <a:pPr marL="342900" indent="-342900">
              <a:spcAft>
                <a:spcPts val="800"/>
              </a:spcAft>
              <a:buSzPct val="100000"/>
              <a:buChar char="•"/>
            </a:pPr>
            <a:r>
              <a:rPr lang="en-US" sz="1800" dirty="0">
                <a:solidFill>
                  <a:schemeClr val="tx2"/>
                </a:solidFill>
              </a:rPr>
              <a:t>Repeated runs: every map was run 40 times with different sensor noise, so results are not luck</a:t>
            </a:r>
            <a:endParaRPr lang="en-US" sz="1800" dirty="0"/>
          </a:p>
          <a:p>
            <a:pPr marL="342900" indent="-342900">
              <a:spcAft>
                <a:spcPts val="800"/>
              </a:spcAft>
              <a:buSzPct val="100000"/>
              <a:buChar char="•"/>
            </a:pPr>
            <a:r>
              <a:rPr lang="en-US" sz="1800" dirty="0">
                <a:solidFill>
                  <a:schemeClr val="tx2"/>
                </a:solidFill>
              </a:rPr>
              <a:t>Safety rules: a robot that loses the line for 0.6 seconds stops, instead of driving on blind</a:t>
            </a:r>
            <a:endParaRPr lang="en-US" sz="1800" dirty="0"/>
          </a:p>
          <a:p>
            <a:pPr marL="342900" indent="-342900">
              <a:spcAft>
                <a:spcPts val="800"/>
              </a:spcAft>
              <a:buSzPct val="100000"/>
              <a:buChar char="•"/>
            </a:pPr>
            <a:r>
              <a:rPr lang="en-US" sz="1800" dirty="0">
                <a:solidFill>
                  <a:schemeClr val="tx2"/>
                </a:solidFill>
              </a:rPr>
              <a:t>Honest records: estimates are listed, with the next measurement to make for each one</a:t>
            </a:r>
            <a:endParaRPr lang="en-US" sz="1800" dirty="0"/>
          </a:p>
          <a:p>
            <a:pPr marL="342900" indent="-342900">
              <a:spcAft>
                <a:spcPts val="800"/>
              </a:spcAft>
              <a:buSzPct val="100000"/>
              <a:buChar char="•"/>
            </a:pPr>
            <a:r>
              <a:rPr lang="en-US" sz="1800" dirty="0">
                <a:solidFill>
                  <a:schemeClr val="tx2"/>
                </a:solidFill>
              </a:rPr>
              <a:t>Documentation: drawings, a design write-up and a plain-English guide to the code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What we need next</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A real robot, a small budget, and a teacher to check our work</a:t>
            </a:r>
            <a:endParaRPr lang="en-US" sz="1600" dirty="0"/>
          </a:p>
        </p:txBody>
      </p:sp>
      <p:sp>
        <p:nvSpPr>
          <p:cNvPr id="5" name="next card 1"/>
          <p:cNvSpPr/>
          <p:nvPr/>
        </p:nvSpPr>
        <p:spPr>
          <a:xfrm>
            <a:off x="548640" y="1737360"/>
            <a:ext cx="2560320" cy="3291840"/>
          </a:xfrm>
          <a:prstGeom prst="rect">
            <a:avLst/>
          </a:prstGeom>
          <a:solidFill>
            <a:schemeClr val="bg2"/>
          </a:solidFill>
          <a:ln w="9525">
            <a:solidFill>
              <a:schemeClr val="accent5"/>
            </a:solidFill>
            <a:prstDash val="solid"/>
          </a:ln>
        </p:spPr>
      </p:sp>
      <p:sp>
        <p:nvSpPr>
          <p:cNvPr id="6" name="next number 1"/>
          <p:cNvSpPr txBox="1"/>
          <p:nvPr/>
        </p:nvSpPr>
        <p:spPr>
          <a:xfrm>
            <a:off x="777240" y="1965960"/>
            <a:ext cx="731520" cy="731520"/>
          </a:xfrm>
          <a:prstGeom prst="rect">
            <a:avLst/>
          </a:prstGeom>
          <a:noFill/>
          <a:ln/>
        </p:spPr>
        <p:txBody>
          <a:bodyPr wrap="square" lIns="0" tIns="0" rIns="0" bIns="0" rtlCol="0" anchor="ctr"/>
          <a:lstStyle/>
          <a:p>
            <a:pPr indent="0" marL="0">
              <a:buNone/>
            </a:pPr>
            <a:r>
              <a:rPr lang="en-US" sz="3400" b="1" dirty="0">
                <a:solidFill>
                  <a:schemeClr val="tx1"/>
                </a:solidFill>
                <a:latin typeface="Arial" pitchFamily="34" charset="0"/>
                <a:ea typeface="Arial" pitchFamily="34" charset="-122"/>
                <a:cs typeface="Arial" pitchFamily="34" charset="-120"/>
              </a:rPr>
              <a:t>1</a:t>
            </a:r>
            <a:endParaRPr lang="en-US" sz="3400" dirty="0"/>
          </a:p>
        </p:txBody>
      </p:sp>
      <p:sp>
        <p:nvSpPr>
          <p:cNvPr id="7" name="next heading 1"/>
          <p:cNvSpPr txBox="1"/>
          <p:nvPr/>
        </p:nvSpPr>
        <p:spPr>
          <a:xfrm>
            <a:off x="777240" y="2788920"/>
            <a:ext cx="219456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Build</a:t>
            </a:r>
            <a:endParaRPr lang="en-US" sz="2000" dirty="0"/>
          </a:p>
        </p:txBody>
      </p:sp>
      <p:sp>
        <p:nvSpPr>
          <p:cNvPr id="8" name="next text 1"/>
          <p:cNvSpPr txBox="1"/>
          <p:nvPr/>
        </p:nvSpPr>
        <p:spPr>
          <a:xfrm>
            <a:off x="777240" y="3291840"/>
            <a:ext cx="2194560" cy="1645920"/>
          </a:xfrm>
          <a:prstGeom prst="rect">
            <a:avLst/>
          </a:prstGeom>
          <a:noFill/>
          <a:ln/>
        </p:spPr>
        <p:txBody>
          <a:bodyPr wrap="square" lIns="0" tIns="0" rIns="0" bIns="0" rtlCol="0" anchor="t"/>
          <a:lstStyle/>
          <a:p>
            <a:pPr indent="0" marL="0">
              <a:buNone/>
            </a:pPr>
            <a:r>
              <a:rPr lang="en-US" sz="1500" dirty="0">
                <a:solidFill>
                  <a:schemeClr val="tx2"/>
                </a:solidFill>
              </a:rPr>
              <a:t>Assemble the real robot from the drawings and the parts list</a:t>
            </a:r>
            <a:endParaRPr lang="en-US" sz="1500" dirty="0"/>
          </a:p>
        </p:txBody>
      </p:sp>
      <p:sp>
        <p:nvSpPr>
          <p:cNvPr id="9" name="next card 2"/>
          <p:cNvSpPr/>
          <p:nvPr/>
        </p:nvSpPr>
        <p:spPr>
          <a:xfrm>
            <a:off x="3383280" y="1737360"/>
            <a:ext cx="2560320" cy="3291840"/>
          </a:xfrm>
          <a:prstGeom prst="rect">
            <a:avLst/>
          </a:prstGeom>
          <a:solidFill>
            <a:schemeClr val="bg2"/>
          </a:solidFill>
          <a:ln w="9525">
            <a:solidFill>
              <a:schemeClr val="accent5"/>
            </a:solidFill>
            <a:prstDash val="solid"/>
          </a:ln>
        </p:spPr>
      </p:sp>
      <p:sp>
        <p:nvSpPr>
          <p:cNvPr id="10" name="next number 2"/>
          <p:cNvSpPr txBox="1"/>
          <p:nvPr/>
        </p:nvSpPr>
        <p:spPr>
          <a:xfrm>
            <a:off x="3611880" y="1965960"/>
            <a:ext cx="731520" cy="731520"/>
          </a:xfrm>
          <a:prstGeom prst="rect">
            <a:avLst/>
          </a:prstGeom>
          <a:noFill/>
          <a:ln/>
        </p:spPr>
        <p:txBody>
          <a:bodyPr wrap="square" lIns="0" tIns="0" rIns="0" bIns="0" rtlCol="0" anchor="ctr"/>
          <a:lstStyle/>
          <a:p>
            <a:pPr indent="0" marL="0">
              <a:buNone/>
            </a:pPr>
            <a:r>
              <a:rPr lang="en-US" sz="3400" b="1" dirty="0">
                <a:solidFill>
                  <a:schemeClr val="tx1"/>
                </a:solidFill>
                <a:latin typeface="Arial" pitchFamily="34" charset="0"/>
                <a:ea typeface="Arial" pitchFamily="34" charset="-122"/>
                <a:cs typeface="Arial" pitchFamily="34" charset="-120"/>
              </a:rPr>
              <a:t>2</a:t>
            </a:r>
            <a:endParaRPr lang="en-US" sz="3400" dirty="0"/>
          </a:p>
        </p:txBody>
      </p:sp>
      <p:sp>
        <p:nvSpPr>
          <p:cNvPr id="11" name="next heading 2"/>
          <p:cNvSpPr txBox="1"/>
          <p:nvPr/>
        </p:nvSpPr>
        <p:spPr>
          <a:xfrm>
            <a:off x="3611880" y="2788920"/>
            <a:ext cx="219456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Measure</a:t>
            </a:r>
            <a:endParaRPr lang="en-US" sz="2000" dirty="0"/>
          </a:p>
        </p:txBody>
      </p:sp>
      <p:sp>
        <p:nvSpPr>
          <p:cNvPr id="12" name="next text 2"/>
          <p:cNvSpPr txBox="1"/>
          <p:nvPr/>
        </p:nvSpPr>
        <p:spPr>
          <a:xfrm>
            <a:off x="3611880" y="3291840"/>
            <a:ext cx="2194560" cy="1645920"/>
          </a:xfrm>
          <a:prstGeom prst="rect">
            <a:avLst/>
          </a:prstGeom>
          <a:noFill/>
          <a:ln/>
        </p:spPr>
        <p:txBody>
          <a:bodyPr wrap="square" lIns="0" tIns="0" rIns="0" bIns="0" rtlCol="0" anchor="t"/>
          <a:lstStyle/>
          <a:p>
            <a:pPr indent="0" marL="0">
              <a:buNone/>
            </a:pPr>
            <a:r>
              <a:rPr lang="en-US" sz="1500" dirty="0">
                <a:solidFill>
                  <a:schemeClr val="tx2"/>
                </a:solidFill>
              </a:rPr>
              <a:t>Weigh the parts, time the motors, and check the grip on our floor</a:t>
            </a:r>
            <a:endParaRPr lang="en-US" sz="1500" dirty="0"/>
          </a:p>
        </p:txBody>
      </p:sp>
      <p:sp>
        <p:nvSpPr>
          <p:cNvPr id="13" name="next card 3"/>
          <p:cNvSpPr/>
          <p:nvPr/>
        </p:nvSpPr>
        <p:spPr>
          <a:xfrm>
            <a:off x="6217920" y="1737360"/>
            <a:ext cx="2560320" cy="3291840"/>
          </a:xfrm>
          <a:prstGeom prst="rect">
            <a:avLst/>
          </a:prstGeom>
          <a:solidFill>
            <a:schemeClr val="bg2"/>
          </a:solidFill>
          <a:ln w="9525">
            <a:solidFill>
              <a:schemeClr val="accent5"/>
            </a:solidFill>
            <a:prstDash val="solid"/>
          </a:ln>
        </p:spPr>
      </p:sp>
      <p:sp>
        <p:nvSpPr>
          <p:cNvPr id="14" name="next number 3"/>
          <p:cNvSpPr txBox="1"/>
          <p:nvPr/>
        </p:nvSpPr>
        <p:spPr>
          <a:xfrm>
            <a:off x="6446520" y="1965960"/>
            <a:ext cx="731520" cy="731520"/>
          </a:xfrm>
          <a:prstGeom prst="rect">
            <a:avLst/>
          </a:prstGeom>
          <a:noFill/>
          <a:ln/>
        </p:spPr>
        <p:txBody>
          <a:bodyPr wrap="square" lIns="0" tIns="0" rIns="0" bIns="0" rtlCol="0" anchor="ctr"/>
          <a:lstStyle/>
          <a:p>
            <a:pPr indent="0" marL="0">
              <a:buNone/>
            </a:pPr>
            <a:r>
              <a:rPr lang="en-US" sz="3400" b="1" dirty="0">
                <a:solidFill>
                  <a:schemeClr val="tx1"/>
                </a:solidFill>
                <a:latin typeface="Arial" pitchFamily="34" charset="0"/>
                <a:ea typeface="Arial" pitchFamily="34" charset="-122"/>
                <a:cs typeface="Arial" pitchFamily="34" charset="-120"/>
              </a:rPr>
              <a:t>3</a:t>
            </a:r>
            <a:endParaRPr lang="en-US" sz="3400" dirty="0"/>
          </a:p>
        </p:txBody>
      </p:sp>
      <p:sp>
        <p:nvSpPr>
          <p:cNvPr id="15" name="next heading 3"/>
          <p:cNvSpPr txBox="1"/>
          <p:nvPr/>
        </p:nvSpPr>
        <p:spPr>
          <a:xfrm>
            <a:off x="6446520" y="2788920"/>
            <a:ext cx="219456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Compare</a:t>
            </a:r>
            <a:endParaRPr lang="en-US" sz="2000" dirty="0"/>
          </a:p>
        </p:txBody>
      </p:sp>
      <p:sp>
        <p:nvSpPr>
          <p:cNvPr id="16" name="next text 3"/>
          <p:cNvSpPr txBox="1"/>
          <p:nvPr/>
        </p:nvSpPr>
        <p:spPr>
          <a:xfrm>
            <a:off x="6446520" y="3291840"/>
            <a:ext cx="2194560" cy="1645920"/>
          </a:xfrm>
          <a:prstGeom prst="rect">
            <a:avLst/>
          </a:prstGeom>
          <a:noFill/>
          <a:ln/>
        </p:spPr>
        <p:txBody>
          <a:bodyPr wrap="square" lIns="0" tIns="0" rIns="0" bIns="0" rtlCol="0" anchor="t"/>
          <a:lstStyle/>
          <a:p>
            <a:pPr indent="0" marL="0">
              <a:buNone/>
            </a:pPr>
            <a:r>
              <a:rPr lang="en-US" sz="1500" dirty="0">
                <a:solidFill>
                  <a:schemeClr val="tx2"/>
                </a:solidFill>
              </a:rPr>
              <a:t>Run the same six tracks on the real robot and against the simulator</a:t>
            </a:r>
            <a:endParaRPr lang="en-US" sz="1500" dirty="0"/>
          </a:p>
        </p:txBody>
      </p:sp>
      <p:sp>
        <p:nvSpPr>
          <p:cNvPr id="17" name="next card 4"/>
          <p:cNvSpPr/>
          <p:nvPr/>
        </p:nvSpPr>
        <p:spPr>
          <a:xfrm>
            <a:off x="9052560" y="1737360"/>
            <a:ext cx="2560320" cy="3291840"/>
          </a:xfrm>
          <a:prstGeom prst="rect">
            <a:avLst/>
          </a:prstGeom>
          <a:solidFill>
            <a:schemeClr val="bg2"/>
          </a:solidFill>
          <a:ln w="9525">
            <a:solidFill>
              <a:schemeClr val="accent5"/>
            </a:solidFill>
            <a:prstDash val="solid"/>
          </a:ln>
        </p:spPr>
      </p:sp>
      <p:sp>
        <p:nvSpPr>
          <p:cNvPr id="18" name="next number 4"/>
          <p:cNvSpPr txBox="1"/>
          <p:nvPr/>
        </p:nvSpPr>
        <p:spPr>
          <a:xfrm>
            <a:off x="9281160" y="1965960"/>
            <a:ext cx="731520" cy="731520"/>
          </a:xfrm>
          <a:prstGeom prst="rect">
            <a:avLst/>
          </a:prstGeom>
          <a:noFill/>
          <a:ln/>
        </p:spPr>
        <p:txBody>
          <a:bodyPr wrap="square" lIns="0" tIns="0" rIns="0" bIns="0" rtlCol="0" anchor="ctr"/>
          <a:lstStyle/>
          <a:p>
            <a:pPr indent="0" marL="0">
              <a:buNone/>
            </a:pPr>
            <a:r>
              <a:rPr lang="en-US" sz="3400" b="1" dirty="0">
                <a:solidFill>
                  <a:schemeClr val="tx1"/>
                </a:solidFill>
                <a:latin typeface="Arial" pitchFamily="34" charset="0"/>
                <a:ea typeface="Arial" pitchFamily="34" charset="-122"/>
                <a:cs typeface="Arial" pitchFamily="34" charset="-120"/>
              </a:rPr>
              <a:t>4</a:t>
            </a:r>
            <a:endParaRPr lang="en-US" sz="3400" dirty="0"/>
          </a:p>
        </p:txBody>
      </p:sp>
      <p:sp>
        <p:nvSpPr>
          <p:cNvPr id="19" name="next heading 4"/>
          <p:cNvSpPr txBox="1"/>
          <p:nvPr/>
        </p:nvSpPr>
        <p:spPr>
          <a:xfrm>
            <a:off x="9281160" y="2788920"/>
            <a:ext cx="2194560" cy="45720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Improve</a:t>
            </a:r>
            <a:endParaRPr lang="en-US" sz="2000" dirty="0"/>
          </a:p>
        </p:txBody>
      </p:sp>
      <p:sp>
        <p:nvSpPr>
          <p:cNvPr id="20" name="next text 4"/>
          <p:cNvSpPr txBox="1"/>
          <p:nvPr/>
        </p:nvSpPr>
        <p:spPr>
          <a:xfrm>
            <a:off x="9281160" y="3291840"/>
            <a:ext cx="2194560" cy="1645920"/>
          </a:xfrm>
          <a:prstGeom prst="rect">
            <a:avLst/>
          </a:prstGeom>
          <a:noFill/>
          <a:ln/>
        </p:spPr>
        <p:txBody>
          <a:bodyPr wrap="square" lIns="0" tIns="0" rIns="0" bIns="0" rtlCol="0" anchor="t"/>
          <a:lstStyle/>
          <a:p>
            <a:pPr indent="0" marL="0">
              <a:buNone/>
            </a:pPr>
            <a:r>
              <a:rPr lang="en-US" sz="1500" dirty="0">
                <a:solidFill>
                  <a:schemeClr val="tx2"/>
                </a:solidFill>
              </a:rPr>
              <a:t>Update the simulator with the real numbers, then retune the controllers</a:t>
            </a:r>
            <a:endParaRPr lang="en-US" sz="1500" dirty="0"/>
          </a:p>
        </p:txBody>
      </p:sp>
      <p:sp>
        <p:nvSpPr>
          <p:cNvPr id="21" name="next footer"/>
          <p:cNvSpPr txBox="1"/>
          <p:nvPr/>
        </p:nvSpPr>
        <p:spPr>
          <a:xfrm>
            <a:off x="548640" y="5394960"/>
            <a:ext cx="11064240" cy="731520"/>
          </a:xfrm>
          <a:prstGeom prst="rect">
            <a:avLst/>
          </a:prstGeom>
          <a:noFill/>
          <a:ln/>
        </p:spPr>
        <p:txBody>
          <a:bodyPr wrap="square" lIns="0" tIns="0" rIns="0" bIns="0" rtlCol="0" anchor="t"/>
          <a:lstStyle/>
          <a:p>
            <a:pPr indent="0" marL="0">
              <a:buNone/>
            </a:pPr>
            <a:r>
              <a:rPr lang="en-US" sz="1700" dirty="0">
                <a:solidFill>
                  <a:schemeClr val="tx2"/>
                </a:solidFill>
              </a:rPr>
              <a:t>We would welcome your guidance on the measurements, the safety rules, and the time we need in the workshop.</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85800"/>
          </a:xfrm>
          <a:prstGeom prst="rect">
            <a:avLst/>
          </a:prstGeom>
          <a:noFill/>
          <a:ln/>
        </p:spPr>
        <p:txBody>
          <a:bodyPr wrap="square" lIns="0" tIns="0" rIns="0" bIns="0"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Thank you</a:t>
            </a:r>
            <a:endParaRPr lang="en-US" sz="3200" dirty="0"/>
          </a:p>
        </p:txBody>
      </p:sp>
      <p:sp>
        <p:nvSpPr>
          <p:cNvPr id="3" name="Text 0"/>
          <p:cNvSpPr/>
          <p:nvPr>
            <p:ph idx="101" type="body" hasCustomPrompt="1"/>
          </p:nvPr>
        </p:nvSpPr>
        <p:spPr>
          <a:xfrm>
            <a:off x="548640" y="1051560"/>
            <a:ext cx="11064240" cy="365760"/>
          </a:xfrm>
          <a:prstGeom prst="rect">
            <a:avLst/>
          </a:prstGeom>
          <a:noFill/>
          <a:ln/>
        </p:spPr>
        <p:txBody>
          <a:bodyPr wrap="square" lIns="0" tIns="0" rIns="0" bIns="0" rtlCol="0" anchor="t"/>
          <a:lstStyle/>
          <a:p>
            <a:pPr algn="l" indent="0" marL="0">
              <a:buNone/>
            </a:pPr>
            <a:r>
              <a:rPr lang="en-US" sz="1600" dirty="0">
                <a:solidFill>
                  <a:schemeClr val="accent2"/>
                </a:solidFill>
              </a:rPr>
              <a:t>Questions and discussion</a:t>
            </a:r>
            <a:endParaRPr lang="en-US" sz="1600" dirty="0"/>
          </a:p>
        </p:txBody>
      </p:sp>
      <p:sp>
        <p:nvSpPr>
          <p:cNvPr id="5" name="closing line"/>
          <p:cNvSpPr txBox="1"/>
          <p:nvPr/>
        </p:nvSpPr>
        <p:spPr>
          <a:xfrm>
            <a:off x="548640" y="2194560"/>
            <a:ext cx="11064240" cy="914400"/>
          </a:xfrm>
          <a:prstGeom prst="rect">
            <a:avLst/>
          </a:prstGeom>
          <a:noFill/>
          <a:ln/>
        </p:spPr>
        <p:txBody>
          <a:bodyPr wrap="square" lIns="0" tIns="0" rIns="0" bIns="0" rtlCol="0" anchor="t"/>
          <a:lstStyle/>
          <a:p>
            <a:pPr indent="0" marL="0">
              <a:buNone/>
            </a:pPr>
            <a:r>
              <a:rPr lang="en-US" sz="2200" dirty="0">
                <a:solidFill>
                  <a:schemeClr val="tx2"/>
                </a:solidFill>
              </a:rPr>
              <a:t>Line follower robot: one brain, four ways to drive, and a simulator that is honest about what it knows.</a:t>
            </a:r>
            <a:endParaRPr lang="en-US" sz="2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Mono Pitch">
  <a:themeElements>
    <a:clrScheme name="Mono Pitch">
      <a:dk1>
        <a:srgbClr val="111111"/>
      </a:dk1>
      <a:lt1>
        <a:srgbClr val="FFFFFF"/>
      </a:lt1>
      <a:dk2>
        <a:srgbClr val="444444"/>
      </a:dk2>
      <a:lt2>
        <a:srgbClr val="F3F3F3"/>
      </a:lt2>
      <a:accent1>
        <a:srgbClr val="111111"/>
      </a:accent1>
      <a:accent2>
        <a:srgbClr val="6B6B6B"/>
      </a:accent2>
      <a:accent3>
        <a:srgbClr val="9A9A9A"/>
      </a:accent3>
      <a:accent4>
        <a:srgbClr val="BDBDBD"/>
      </a:accent4>
      <a:accent5>
        <a:srgbClr val="D9D9D9"/>
      </a:accent5>
      <a:accent6>
        <a:srgbClr val="444444"/>
      </a:accent6>
      <a:hlink>
        <a:srgbClr val="111111"/>
      </a:hlink>
      <a:folHlink>
        <a:srgbClr val="6B6B6B"/>
      </a:folHlink>
    </a:clrScheme>
    <a:fontScheme name="Mono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 follower robot: teacher pitch</dc:title>
  <dc:subject>PptxGenJS Presentation</dc:subject>
  <dc:creator>PptxGenJS</dc:creator>
  <cp:lastModifiedBy>PptxGenJS</cp:lastModifiedBy>
  <cp:revision>1</cp:revision>
  <dcterms:created xsi:type="dcterms:W3CDTF">2026-10-14T18:48:51Z</dcterms:created>
  <dcterms:modified xsi:type="dcterms:W3CDTF">2026-10-14T18:48:51Z</dcterms:modified>
</cp:coreProperties>
</file>